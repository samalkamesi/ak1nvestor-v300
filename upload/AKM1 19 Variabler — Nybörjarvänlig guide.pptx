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Välkomna nybörjare till AKM1-guiden
- Vi går igenom 19 variabler totalt
- Allt förklaras med pizzeria-analogier
- Särskilt fokus på variabel 19 (kapitalförbränning)
- Mål: undvika nyemissioner som utspäddar din andel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Totalt 19 variabler uppdelat på 6 kategorier
- Variabel 19 får 3 egna slides — den är överlevnadsfiltret
- Allt skrivet nybörjarvänligt med enkla exempel
- Två bonusvariabler: utdelning och kapital
- Nyemissioner utspäddar din andel — det vill vi undvika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AKM1 är en checklista med 19 frågor om bolaget
- Tänk pizzeria — samma typ av frågor fast för börsbolag
- 6 kategorier + 2 bonusvariabler (utdelning, kapital)
- Betyg 1–5 per fråga, snittet avgör köpbeslut
- 19 frågor gör det omöjligt att manipulera resultatet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Varje variabel får poäng 1 till 5
- Räkna snittet av alla 19 variabler
- 4+ = köp, 3–4 = vänta, under 3 = undvik
- Variabel 19 är ett specialfall — köps ej separat
- Om variabel 19 är under 3 → UNDVIK automatiskt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1 handlar om värdering
- Tre variabler: P/S, P/B, EV/EBITDA
- Frågan: är aktien billig eller dyr?
- Jämför alltid med branschsnitt
- Olika mått passar olika bolagstyper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P/S = bolagets värde delat med omsättning
- Jämför alltid med branschsnitt
- Safestate har P/S 5,1x (12% billigare än bransch)
- Bra mått för SaaS och tech-bolag utan vinst
- Aldrig jämför tech med industri — olika normalvärden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P/B = bolagets värde delat med eget kapital
- P/B under 1 = du betalar mindre än bolaget äger
- Bäst för banker, fastigheter, industri
- Mindre relevant för tech-bolag
- Safestate P/B 4,1x — typiskt högt för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EV = bolagets värde plus skulder
- EV/EBITDA = vad betalar du per års vinst
- Bäst för mogna bolag med positiv vinst
- Safestate har negativ EBITDA — går ej att räkna
- För SaaS används EV/ARR istället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Tre värderingsvariabler sammanfattade
- Jämför alltid med branschsnitt
- Safestate snitt: ~2 poäng (svagt)
- Men OK för SaaS i tillväxtfas
- Nästa: Tillväxt kompenserar för svag värdering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2 handlar om tillväxt
- Tre variabler: intäktstillväxt, ARR-tillväxt, bruttomarginal
- Viktigast för tech och SaaS-bolag
- Safestate är stark här — alla 5:or
- Kompenserar för svag värdering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Intäktstillväxt = hur mycket mer sålde bolaget i år
- Över 25% är exceptionellt
- Organisk tillväxt (egna kunder) är bäst
- Safestate +25,4% = 5 poäng
- Kolla också lönsamhet — tillväxt kan komma med förlust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ARR = stamkunder som betalar varje år
- ARR-tillväxt över 25% är magiskt för SaaS
- Bättre mått än total omsättning
- Safestate +25,4% = 5 poäng (best-in-class)
- Stabilt — stamkunder stannar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Bruttomarginal = vinst efter råvaror delat med omsättning
- Hög för SaaS (mjukvara är billig att reproducera)
- Safestate 71% = 5 poäng (över branschsnitt)
- Avgör hur snabbt bolag når break-even
- Direkt koppling till variabel 19 (kapitalförbränning)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Tre tillväxtvariabler sammanfattade
- Safestate får 5/5/5 — strukturell styrka
- Organisk tillväxt är bättre än förvärvstillväxt
- Kompenserar för svag värdering
- Bruttomarginal kopplar till variabel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3 = Lönsamhet, 3 variabler (Var 7–9)
- EBITDA-marginal, FCF/Intäkt och ROE mäter lönsamhet
- För SaaS i expansion ofta negativt resultat
- Trenden mot break-even är avgörande
- Kopplar direkt till Variabel 19 (kapital förbränning)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EBITDA-marginal mäter driftslönsamhet
- Negativt för SaaS-bolag i expansion
- Safestate: −8 % (2025), trend mot +3,6 % (2027E)
- Direkt koppling till Variabel 19 — negativ EBITDA = bolag bränner kassa
- Positiv EBITDA = emission-risk blir låg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FCF = CFO − CapEx — det ärligaste kassa-måttet
- Kan ej manipuleras — "sanningen" om bolaget
- Direct input till Variabel 19 (kapital förbränning)
- Negativt FCF = HÖG emission-risk
- |FCF| / 12 = månatlig bränning (Net burn)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ROE = nettoresultat / eget kapital
- Kan manipuleras genom skuldsättning (hävstång)
- Mindre relevant för SaaS med negativt resultat
- Använd FCF/Intäkt istället för SaaS
- Kolla alltid skuldsättningsgrad (Var 10) tillsammans med ROE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lönsamhetsvariabler: EBITDA-marginal, FCF/Intäkt, ROE
- Safestate svagt i lönsamhet (typiskt SaaS i expansion)
- Direkt koppling till Variabel 19
- Trenden positivt: EBITDA −8 % → +3,6 % (2027E)
- Nästa kategori: Stabilitet (kompletterar var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4 = Stabilitet, 3 variabler (Var 10–12)
- Mäter om bolag överlever kriser
- Skuldsättningsgrad, likviditet, intäktsdiversifiering
- Tillsammans med Variabel 19 = komplett riskbedömning
- Stabilitet = strukturell risk, Var 19 = dynamisk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 = räntebärande skulder / eget kapital
- Safestate 0,5x — låg för SaaS (typiskt)
- Låg D/E betyder INTE automatisk låg emission-risk
- Bolag bränner kassa pga löner/R&amp;D, inte ränta
- Variabel 19 mäter dynamisk kassa-bränning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Likviditet = kortfristiga tillgångar / kortfristiga skulder
- Över 1 = bra — kan betala skulderna
- Safestate 1,8x — kan betala kortfristiga skulder
- Kassa-löptid = kassa / månatlig bränning (för Var 19)
- Likviditet + kassa-löptid = komplett överlevnadsmått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Diversifiering = kundspridning — ingen kund får dominera
- Ingen kund &gt; 5 % = poäng 5 (mycket bra)
- Safestate: 12 000+ SME-kunder, ingen kund &gt; 0,1 %
- Koppling till Var 19: stor kund lämnar → kassaflöde kraschar
- Många små kunder = stabilare kassaflöde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stabilitetsvariabler: D/E, Likviditet, Intäktsdiversifiering
- Safestate: STYRKA — snitt 4/5 (bra)
- Låg skuld ≠ låg emission-risk
- Stabilitet kompletterar Variabel 19 (strukturell vs dynamisk)
- Safestate sammanlagd risk: MEDEL-HÖG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5 = Moat, 3 variabler (Var 13–15)
- Mäter varaktiga konkurrensfördelar
- Patent/IP, Switching costs, Nätverkseffekter
- Stark moat = stabilare kassaflöde = lägre emission-risk
- Bestämmer bolagets långsiktiga överlevnad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Patent = lagligt skydd i 20 år
- Safestate har 8 beviljade patent
- Patentvärde 326 MSEK enligt PDF
- Mest exakta moat-indikatorn (precision 10/10)
- Patent skyddar Safestate i Norden och 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Switching costs = kostnad att byta leverantör
- Höga för SaaS — djup integration, dyrt att byta
- Safestate: HÖGA switching costs, poäng 4
- Safestate NDR 118 % bekräftar starka switching costs
- Kopplar till Var 19: stabila kunder = lägre emission-risk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Nätverkseffekt = värdet ökar med fler användare
- Meta och Visa har extremt starka nätverkseffekter
- SaaS-bolag har oftast svagare nätverkseffekter
- Safestate: MEDEL-SVAG (poäng 3)
- SaaS bygger moat genom switching costs + patent istället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moat-variabler: Patent (5), Switching costs (4), Nätverkseffekter (3)
- Safestate moat = STYRKA, snitt 4
- Moat kompenserar delvis variabel 19 (stabilare kassa = lägre emission-risk)
- Nästa kategori: Katalysator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6: Katalysator — sista kategorin
- 3 variabler: Regulatorisk, Branschtrend, Event-driven
- HÖGSTA totala vikten i AKM1 (21%) — framtida drivkrafter väger tungt
- Svarar på: kommer bra nyheter?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16: Regulatorisk = lag skapar efterfrågan
- NIS2-direktivet för Safestate → poäng 5 (stark tailwind)
- Minskar emission-risk: garanterade intäkter → snabbare break-even
- Pizzeria-analogi: lag om certifierad livsmedelskontroll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17: Branschtrend = marknadstillväxt
- Cybersäkerhet växer 12–15%/år globalt → Safestate poäng 4
- Kopplar till var 19: växande marknad = snabbare break-even = lägre emission-risk
- Pizzeria-analogi: svenskarna äter 10% mer pizza/år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17: Event-driven = specifika händelser (avtal, uppköp, godkännanden)
- Safestate: möjligt MS-partnerskap diskuteras → poäng 3 (möjliga events)
- Försiktig med att köpa enbart för rykten — många blir aldrig av
- Starka events kan driva kursen 50–100% över en natt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katalysatorer: Regulatorisk (5), Branschtrend (4), Event-driven (3)
- Safestate snitt 4 — STYRKA
- Positiva katalysatorer → snabbare break-even = minskar var 19
- 18 indikatorer klara, var 18 &amp; 19 är bonus enligt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Bonus-variabler 18 &amp; 19 — NYA enligt PDF
- PDF-citat: "dessa är de gamla variabler förutom variable 18 och 19"
- Variabel 18 = utdelning, Variabel 19 = kapital förbränning
- Variabel 19 = den enskilt viktigaste för small-cap-investerare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18 = Utdelning — NY enligt PDF
- Direktavkastning = Utdelning / Aktiekurs
- Safestate: ingen utdelning 2025–2028E → poäng 1 (ren tillväxt)
- Relation till var 19: bolag med hög kapital förbränning kan INTE dela ut hållbart
- Varning: utdelning finansierad med kassa (inte vinst) = röd flagga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19 = kapital förbränning — DEN VIKTIGASTE variabeln
- Löptid = Kassa / Net burn (månader bolaget överlever)
- Break-even ARR = Fast kostnad / Bruttomarginal
- Under 6 mån = AKUT → emission 100% säker → UNDVIK
- Tre emissioner om 20% = hälften av din andel borta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Break-even ARR = Fast kostnad / Bruttomarginal
- Safestate: 58/0,71 = 82 MSEK break-even, ARR-brist 9 MSEK, tid till BE = 4 mån → Q3 2027
- Vid break-even: emission-risk försvinner
- Garanti kräver marginal: löptid &gt; tid till BE + 6 mån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kriterier för Zero Emission-Risk: löptid &gt;24m, break-even &lt;12m, trend stabil, ARR-tillväxt &gt; burn, backup-finansiering
- Safestate: 1 grön, 3 gula, 1 röd = MEDEL emission-risk
- Base-case: emission Q4 2027, 10% utspädning @ 16 SEK
- Variabel 19 = KO-decision: kan bara SÄNKA, aldrig HÖJA
- Som nybörjare: ALLTID beräkna var 19 först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- 19 variabler i checklista (6 kategorier × 3 + var 18 + var 19)
- Variabel 19 = första filtret — om &lt; 3 → UNDVIK direkt
- Garanti utan nyemission = din viktigaste uppgift
- Sam Alkamesis direktiv: beräkna var 19 ALLTID först
- Citat: "20% per år utan större problem" vid seriös tillämpning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0" y="0"/>
            <a:ext cx="9144000" cy="5143500"/>
          </a:xfrm>
          <a:prstGeom prst="rect">
            <a:avLst/>
          </a:prstGeom>
        </p:spPr>
      </p:pic>
      <p:pic>
        <p:nvPicPr>
          <p:cNvPr id="5" name="Image 3" descr="/tmp/h2p-fit-1783901985438-o1kirk.png">    </p:cNvPr>
          <p:cNvPicPr>
            <a:picLocks noChangeAspect="1"/>
          </p:cNvPicPr>
          <p:nvPr/>
        </p:nvPicPr>
        <p:blipFill>
          <a:blip r:embed="rId4"/>
          <a:stretch>
            <a:fillRect/>
          </a:stretch>
        </p:blipFill>
        <p:spPr>
          <a:xfrm>
            <a:off x="0" y="0"/>
            <a:ext cx="9144000" cy="5143500"/>
          </a:xfrm>
          <a:prstGeom prst="rect">
            <a:avLst/>
          </a:prstGeom>
        </p:spPr>
      </p:pic>
      <p:sp>
        <p:nvSpPr>
          <p:cNvPr id="6" name="Shape 0"/>
          <p:cNvSpPr/>
          <p:nvPr/>
        </p:nvSpPr>
        <p:spPr>
          <a:xfrm>
            <a:off x="514350" y="4512729"/>
            <a:ext cx="8115300" cy="0"/>
          </a:xfrm>
          <a:prstGeom prst="line">
            <a:avLst/>
          </a:prstGeom>
          <a:noFill/>
          <a:ln w="7144">
            <a:solidFill>
              <a:srgbClr val="C9A84C"/>
            </a:solidFill>
            <a:prstDash val="solid"/>
          </a:ln>
        </p:spPr>
      </p:sp>
      <p:sp>
        <p:nvSpPr>
          <p:cNvPr id="7" name="Text 1"/>
          <p:cNvSpPr/>
          <p:nvPr/>
        </p:nvSpPr>
        <p:spPr>
          <a:xfrm>
            <a:off x="514350" y="385763"/>
            <a:ext cx="8629650" cy="171142"/>
          </a:xfrm>
          <a:prstGeom prst="rect">
            <a:avLst/>
          </a:prstGeom>
          <a:noFill/>
          <a:ln/>
        </p:spPr>
        <p:txBody>
          <a:bodyPr wrap="square" lIns="0" tIns="0" rIns="0" bIns="0" rtlCol="0" anchor="t">
            <a:normAutofit/>
          </a:bodyPr>
          <a:lstStyle/>
          <a:p>
            <a:pPr algn="l" indent="0" marL="0">
              <a:lnSpc>
                <a:spcPts val="1114"/>
              </a:lnSpc>
              <a:buNone/>
            </a:pPr>
            <a:r>
              <a:rPr lang="en-US" sz="800" spc="281" kern="0" dirty="0">
                <a:solidFill>
                  <a:srgbClr val="7A8498"/>
                </a:solidFill>
                <a:latin typeface="Liberation Sans Narrow" pitchFamily="34" charset="0"/>
                <a:ea typeface="Liberation Sans Narrow" pitchFamily="34" charset="-122"/>
                <a:cs typeface="Liberation Sans Narrow" pitchFamily="34" charset="-120"/>
              </a:rPr>
              <a:t>AK1NVESTOR · NYBÖRJARGUIDE 2026</a:t>
            </a:r>
            <a:endParaRPr lang="en-US" sz="800" dirty="0"/>
          </a:p>
        </p:txBody>
      </p:sp>
      <p:sp>
        <p:nvSpPr>
          <p:cNvPr id="8" name="Text 2"/>
          <p:cNvSpPr/>
          <p:nvPr/>
        </p:nvSpPr>
        <p:spPr>
          <a:xfrm>
            <a:off x="514350" y="584336"/>
            <a:ext cx="8629650" cy="305476"/>
          </a:xfrm>
          <a:prstGeom prst="rect">
            <a:avLst/>
          </a:prstGeom>
          <a:noFill/>
          <a:ln/>
        </p:spPr>
        <p:txBody>
          <a:bodyPr wrap="none" lIns="0" tIns="0" rIns="0" bIns="0" rtlCol="0" anchor="t"/>
          <a:lstStyle/>
          <a:p>
            <a:pPr algn="l" indent="0" marL="0">
              <a:lnSpc>
                <a:spcPts val="2228"/>
              </a:lnSpc>
              <a:buNone/>
            </a:pPr>
            <a:r>
              <a:rPr lang="en-US" sz="1350" b="1" spc="281" kern="0" dirty="0">
                <a:solidFill>
                  <a:srgbClr val="D4A832"/>
                </a:solidFill>
                <a:latin typeface="Liberation Sans Narrow" pitchFamily="34" charset="0"/>
                <a:ea typeface="Liberation Sans Narrow" pitchFamily="34" charset="-122"/>
                <a:cs typeface="Liberation Sans Narrow" pitchFamily="34" charset="-120"/>
              </a:rPr>
              <a:t>AK1A</a:t>
            </a:r>
            <a:endParaRPr lang="en-US" sz="1350" dirty="0"/>
          </a:p>
        </p:txBody>
      </p:sp>
      <p:sp>
        <p:nvSpPr>
          <p:cNvPr id="9" name="Text 3"/>
          <p:cNvSpPr/>
          <p:nvPr/>
        </p:nvSpPr>
        <p:spPr>
          <a:xfrm>
            <a:off x="514350" y="1081497"/>
            <a:ext cx="6600825" cy="481359"/>
          </a:xfrm>
          <a:prstGeom prst="rect">
            <a:avLst/>
          </a:prstGeom>
          <a:noFill/>
          <a:ln/>
        </p:spPr>
        <p:txBody>
          <a:bodyPr wrap="none" lIns="0" tIns="0" rIns="0" bIns="0" rtlCol="0" anchor="t"/>
          <a:lstStyle/>
          <a:p>
            <a:pPr algn="l" indent="0" marL="0">
              <a:lnSpc>
                <a:spcPts val="3510"/>
              </a:lnSpc>
              <a:buNone/>
            </a:pPr>
            <a:r>
              <a:rPr lang="en-US" sz="3375" b="1" spc="-79" kern="0" dirty="0">
                <a:solidFill>
                  <a:srgbClr val="FFFFFF"/>
                </a:solidFill>
                <a:latin typeface="Liberation Sans Narrow" pitchFamily="34" charset="0"/>
                <a:ea typeface="Liberation Sans Narrow" pitchFamily="34" charset="-122"/>
                <a:cs typeface="Liberation Sans Narrow" pitchFamily="34" charset="-120"/>
              </a:rPr>
              <a:t>AKM1 — 19 Variabler</a:t>
            </a:r>
            <a:endParaRPr lang="en-US" sz="3375" dirty="0"/>
          </a:p>
        </p:txBody>
      </p:sp>
      <p:sp>
        <p:nvSpPr>
          <p:cNvPr id="10" name="Text 4"/>
          <p:cNvSpPr/>
          <p:nvPr/>
        </p:nvSpPr>
        <p:spPr>
          <a:xfrm>
            <a:off x="514350" y="1655787"/>
            <a:ext cx="342900" cy="21431"/>
          </a:xfrm>
          <a:prstGeom prst="roundRect">
            <a:avLst>
              <a:gd name="adj" fmla="val 88890"/>
            </a:avLst>
          </a:prstGeom>
          <a:solidFill>
            <a:srgbClr val="B8942E"/>
          </a:solidFill>
          <a:ln/>
        </p:spPr>
        <p:txBody>
          <a:bodyPr wrap="square" rtlCol="0" anchor="ctr"/>
          <a:lstStyle/>
          <a:p>
            <a:pPr indent="0" marL="0">
              <a:buNone/>
            </a:pPr>
            <a:endParaRPr lang="en-US" dirty="0"/>
          </a:p>
        </p:txBody>
      </p:sp>
      <p:sp>
        <p:nvSpPr>
          <p:cNvPr id="11" name="Text 5"/>
          <p:cNvSpPr/>
          <p:nvPr/>
        </p:nvSpPr>
        <p:spPr>
          <a:xfrm>
            <a:off x="514350" y="1820094"/>
            <a:ext cx="5572125" cy="264730"/>
          </a:xfrm>
          <a:prstGeom prst="rect">
            <a:avLst/>
          </a:prstGeom>
          <a:noFill/>
          <a:ln/>
        </p:spPr>
        <p:txBody>
          <a:bodyPr wrap="square" lIns="0" tIns="0" rIns="0" bIns="0" rtlCol="0" anchor="t"/>
          <a:lstStyle/>
          <a:p>
            <a:pPr algn="l" indent="0" marL="0">
              <a:lnSpc>
                <a:spcPts val="1931"/>
              </a:lnSpc>
              <a:buNone/>
            </a:pPr>
            <a:r>
              <a:rPr lang="en-US" sz="1463" dirty="0">
                <a:solidFill>
                  <a:srgbClr val="FFFFFF"/>
                </a:solidFill>
                <a:latin typeface="Carlito" pitchFamily="34" charset="0"/>
                <a:ea typeface="Carlito" pitchFamily="34" charset="-122"/>
                <a:cs typeface="Carlito" pitchFamily="34" charset="-120"/>
              </a:rPr>
              <a:t>En enkel guide för nybörjare — från P/S till kapital förbränning</a:t>
            </a:r>
            <a:endParaRPr lang="en-US" sz="1463" dirty="0"/>
          </a:p>
        </p:txBody>
      </p:sp>
      <p:sp>
        <p:nvSpPr>
          <p:cNvPr id="12" name="Text 6"/>
          <p:cNvSpPr/>
          <p:nvPr/>
        </p:nvSpPr>
        <p:spPr>
          <a:xfrm>
            <a:off x="514350" y="2165226"/>
            <a:ext cx="4857750" cy="358759"/>
          </a:xfrm>
          <a:prstGeom prst="rect">
            <a:avLst/>
          </a:prstGeom>
          <a:noFill/>
          <a:ln/>
        </p:spPr>
        <p:txBody>
          <a:bodyPr wrap="square" lIns="0" tIns="0" rIns="0" bIns="0" rtlCol="0" anchor="t"/>
          <a:lstStyle/>
          <a:p>
            <a:pPr algn="l" indent="0" marL="0">
              <a:lnSpc>
                <a:spcPts val="1308"/>
              </a:lnSpc>
              <a:buNone/>
            </a:pPr>
            <a:r>
              <a:rPr lang="en-US" sz="844" dirty="0">
                <a:solidFill>
                  <a:srgbClr val="AAB4C4"/>
                </a:solidFill>
                <a:latin typeface="Carlito" pitchFamily="34" charset="0"/>
                <a:ea typeface="Carlito" pitchFamily="34" charset="-122"/>
                <a:cs typeface="Carlito" pitchFamily="34" charset="-120"/>
              </a:rPr>
              <a:t>Sam Alkamesis 19 variabler förklarade med pizzeria-analogier. Lär dig hur du garanterar att ett bolag inte behöver nyemission — den vanligaste fällan för småbolagsinvesterare.</a:t>
            </a:r>
            <a:endParaRPr lang="en-US" sz="844" dirty="0"/>
          </a:p>
        </p:txBody>
      </p:sp>
      <p:sp>
        <p:nvSpPr>
          <p:cNvPr id="13" name="Text 7"/>
          <p:cNvSpPr/>
          <p:nvPr/>
        </p:nvSpPr>
        <p:spPr>
          <a:xfrm>
            <a:off x="517922" y="2715295"/>
            <a:ext cx="1500188" cy="537121"/>
          </a:xfrm>
          <a:prstGeom prst="roundRect">
            <a:avLst>
              <a:gd name="adj" fmla="val 10640"/>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4" name="Text 8"/>
          <p:cNvSpPr/>
          <p:nvPr/>
        </p:nvSpPr>
        <p:spPr>
          <a:xfrm>
            <a:off x="607219" y="2804592"/>
            <a:ext cx="1321594" cy="119015"/>
          </a:xfrm>
          <a:prstGeom prst="rect">
            <a:avLst/>
          </a:prstGeom>
          <a:noFill/>
          <a:ln/>
        </p:spPr>
        <p:txBody>
          <a:bodyPr wrap="none" lIns="0" tIns="0" rIns="0" bIns="0" rtlCol="0" anchor="t">
            <a:normAutofit/>
          </a:bodyPr>
          <a:lstStyle/>
          <a:p>
            <a:pPr algn="l" indent="0" marL="0">
              <a:lnSpc>
                <a:spcPts val="928"/>
              </a:lnSpc>
              <a:buNone/>
            </a:pPr>
            <a:r>
              <a:rPr lang="en-US" sz="800" spc="56" kern="0" dirty="0">
                <a:solidFill>
                  <a:srgbClr val="7A8498"/>
                </a:solidFill>
                <a:latin typeface="Carlito" pitchFamily="34" charset="0"/>
                <a:ea typeface="Carlito" pitchFamily="34" charset="-122"/>
                <a:cs typeface="Carlito" pitchFamily="34" charset="-120"/>
              </a:rPr>
              <a:t>VARIABLER</a:t>
            </a:r>
            <a:endParaRPr lang="en-US" sz="800" dirty="0"/>
          </a:p>
        </p:txBody>
      </p:sp>
      <p:sp>
        <p:nvSpPr>
          <p:cNvPr id="15" name="Text 9"/>
          <p:cNvSpPr/>
          <p:nvPr/>
        </p:nvSpPr>
        <p:spPr>
          <a:xfrm>
            <a:off x="607219" y="2951038"/>
            <a:ext cx="1321594" cy="212080"/>
          </a:xfrm>
          <a:prstGeom prst="rect">
            <a:avLst/>
          </a:prstGeom>
          <a:noFill/>
          <a:ln/>
        </p:spPr>
        <p:txBody>
          <a:bodyPr wrap="none" lIns="0" tIns="0" rIns="0" bIns="0" rtlCol="0" anchor="t"/>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19 st</a:t>
            </a:r>
            <a:endParaRPr lang="en-US" sz="1013" dirty="0"/>
          </a:p>
        </p:txBody>
      </p:sp>
      <p:sp>
        <p:nvSpPr>
          <p:cNvPr id="16" name="Text 10"/>
          <p:cNvSpPr/>
          <p:nvPr/>
        </p:nvSpPr>
        <p:spPr>
          <a:xfrm>
            <a:off x="2110978" y="2715295"/>
            <a:ext cx="1500188" cy="537121"/>
          </a:xfrm>
          <a:prstGeom prst="roundRect">
            <a:avLst>
              <a:gd name="adj" fmla="val 10640"/>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7" name="Text 11"/>
          <p:cNvSpPr/>
          <p:nvPr/>
        </p:nvSpPr>
        <p:spPr>
          <a:xfrm>
            <a:off x="2200275" y="2804592"/>
            <a:ext cx="1321594" cy="119015"/>
          </a:xfrm>
          <a:prstGeom prst="rect">
            <a:avLst/>
          </a:prstGeom>
          <a:noFill/>
          <a:ln/>
        </p:spPr>
        <p:txBody>
          <a:bodyPr wrap="none" lIns="0" tIns="0" rIns="0" bIns="0" rtlCol="0" anchor="t">
            <a:normAutofit/>
          </a:bodyPr>
          <a:lstStyle/>
          <a:p>
            <a:pPr algn="l" indent="0" marL="0">
              <a:lnSpc>
                <a:spcPts val="928"/>
              </a:lnSpc>
              <a:buNone/>
            </a:pPr>
            <a:r>
              <a:rPr lang="en-US" sz="800" spc="56" kern="0" dirty="0">
                <a:solidFill>
                  <a:srgbClr val="7A8498"/>
                </a:solidFill>
                <a:latin typeface="Carlito" pitchFamily="34" charset="0"/>
                <a:ea typeface="Carlito" pitchFamily="34" charset="-122"/>
                <a:cs typeface="Carlito" pitchFamily="34" charset="-120"/>
              </a:rPr>
              <a:t>NIVÅ</a:t>
            </a:r>
            <a:endParaRPr lang="en-US" sz="800" dirty="0"/>
          </a:p>
        </p:txBody>
      </p:sp>
      <p:sp>
        <p:nvSpPr>
          <p:cNvPr id="18" name="Text 12"/>
          <p:cNvSpPr/>
          <p:nvPr/>
        </p:nvSpPr>
        <p:spPr>
          <a:xfrm>
            <a:off x="2200275" y="2951038"/>
            <a:ext cx="1321594" cy="212080"/>
          </a:xfrm>
          <a:prstGeom prst="rect">
            <a:avLst/>
          </a:prstGeom>
          <a:noFill/>
          <a:ln/>
        </p:spPr>
        <p:txBody>
          <a:bodyPr wrap="none" lIns="0" tIns="0" rIns="0" bIns="0" rtlCol="0" anchor="t"/>
          <a:lstStyle/>
          <a:p>
            <a:pPr algn="l" indent="0" marL="0">
              <a:lnSpc>
                <a:spcPts val="1671"/>
              </a:lnSpc>
              <a:buNone/>
            </a:pPr>
            <a:r>
              <a:rPr lang="en-US" sz="1013" b="1" dirty="0">
                <a:solidFill>
                  <a:srgbClr val="D4A832"/>
                </a:solidFill>
                <a:latin typeface="Courier New" pitchFamily="34" charset="0"/>
                <a:ea typeface="Courier New" pitchFamily="34" charset="-122"/>
                <a:cs typeface="Courier New" pitchFamily="34" charset="-120"/>
              </a:rPr>
              <a:t>Nybörjare</a:t>
            </a:r>
            <a:endParaRPr lang="en-US" sz="1013" dirty="0"/>
          </a:p>
        </p:txBody>
      </p:sp>
      <p:sp>
        <p:nvSpPr>
          <p:cNvPr id="19" name="Text 13"/>
          <p:cNvSpPr/>
          <p:nvPr/>
        </p:nvSpPr>
        <p:spPr>
          <a:xfrm>
            <a:off x="3704034" y="2715295"/>
            <a:ext cx="1500188" cy="537121"/>
          </a:xfrm>
          <a:prstGeom prst="roundRect">
            <a:avLst>
              <a:gd name="adj" fmla="val 10640"/>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20" name="Text 14"/>
          <p:cNvSpPr/>
          <p:nvPr/>
        </p:nvSpPr>
        <p:spPr>
          <a:xfrm>
            <a:off x="3793331" y="2804592"/>
            <a:ext cx="1321594" cy="119015"/>
          </a:xfrm>
          <a:prstGeom prst="rect">
            <a:avLst/>
          </a:prstGeom>
          <a:noFill/>
          <a:ln/>
        </p:spPr>
        <p:txBody>
          <a:bodyPr wrap="none" lIns="0" tIns="0" rIns="0" bIns="0" rtlCol="0" anchor="t">
            <a:normAutofit/>
          </a:bodyPr>
          <a:lstStyle/>
          <a:p>
            <a:pPr algn="l" indent="0" marL="0">
              <a:lnSpc>
                <a:spcPts val="928"/>
              </a:lnSpc>
              <a:buNone/>
            </a:pPr>
            <a:r>
              <a:rPr lang="en-US" sz="800" spc="56" kern="0" dirty="0">
                <a:solidFill>
                  <a:srgbClr val="7A8498"/>
                </a:solidFill>
                <a:latin typeface="Carlito" pitchFamily="34" charset="0"/>
                <a:ea typeface="Carlito" pitchFamily="34" charset="-122"/>
                <a:cs typeface="Carlito" pitchFamily="34" charset="-120"/>
              </a:rPr>
              <a:t>FOKUS</a:t>
            </a:r>
            <a:endParaRPr lang="en-US" sz="800" dirty="0"/>
          </a:p>
        </p:txBody>
      </p:sp>
      <p:sp>
        <p:nvSpPr>
          <p:cNvPr id="21" name="Text 15"/>
          <p:cNvSpPr/>
          <p:nvPr/>
        </p:nvSpPr>
        <p:spPr>
          <a:xfrm>
            <a:off x="3793331" y="2951038"/>
            <a:ext cx="1321594" cy="212080"/>
          </a:xfrm>
          <a:prstGeom prst="rect">
            <a:avLst/>
          </a:prstGeom>
          <a:noFill/>
          <a:ln/>
        </p:spPr>
        <p:txBody>
          <a:bodyPr wrap="none" lIns="0" tIns="0" rIns="0" bIns="0" rtlCol="0" anchor="t"/>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Variabel 19</a:t>
            </a:r>
            <a:endParaRPr lang="en-US" sz="1013" dirty="0"/>
          </a:p>
        </p:txBody>
      </p:sp>
      <p:sp>
        <p:nvSpPr>
          <p:cNvPr id="22" name="Text 16"/>
          <p:cNvSpPr/>
          <p:nvPr/>
        </p:nvSpPr>
        <p:spPr>
          <a:xfrm>
            <a:off x="5297091" y="2715295"/>
            <a:ext cx="1500188" cy="537121"/>
          </a:xfrm>
          <a:prstGeom prst="roundRect">
            <a:avLst>
              <a:gd name="adj" fmla="val 10640"/>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23" name="Text 17"/>
          <p:cNvSpPr/>
          <p:nvPr/>
        </p:nvSpPr>
        <p:spPr>
          <a:xfrm>
            <a:off x="5386388" y="2804592"/>
            <a:ext cx="1321594" cy="119015"/>
          </a:xfrm>
          <a:prstGeom prst="rect">
            <a:avLst/>
          </a:prstGeom>
          <a:noFill/>
          <a:ln/>
        </p:spPr>
        <p:txBody>
          <a:bodyPr wrap="none" lIns="0" tIns="0" rIns="0" bIns="0" rtlCol="0" anchor="t">
            <a:normAutofit/>
          </a:bodyPr>
          <a:lstStyle/>
          <a:p>
            <a:pPr algn="l" indent="0" marL="0">
              <a:lnSpc>
                <a:spcPts val="928"/>
              </a:lnSpc>
              <a:buNone/>
            </a:pPr>
            <a:r>
              <a:rPr lang="en-US" sz="800" spc="56" kern="0" dirty="0">
                <a:solidFill>
                  <a:srgbClr val="7A8498"/>
                </a:solidFill>
                <a:latin typeface="Carlito" pitchFamily="34" charset="0"/>
                <a:ea typeface="Carlito" pitchFamily="34" charset="-122"/>
                <a:cs typeface="Carlito" pitchFamily="34" charset="-120"/>
              </a:rPr>
              <a:t>PLATTFORM</a:t>
            </a:r>
            <a:endParaRPr lang="en-US" sz="800" dirty="0"/>
          </a:p>
        </p:txBody>
      </p:sp>
      <p:sp>
        <p:nvSpPr>
          <p:cNvPr id="24" name="Text 18"/>
          <p:cNvSpPr/>
          <p:nvPr/>
        </p:nvSpPr>
        <p:spPr>
          <a:xfrm>
            <a:off x="5386388" y="2951038"/>
            <a:ext cx="1321594" cy="212080"/>
          </a:xfrm>
          <a:prstGeom prst="rect">
            <a:avLst/>
          </a:prstGeom>
          <a:noFill/>
          <a:ln/>
        </p:spPr>
        <p:txBody>
          <a:bodyPr wrap="none" lIns="0" tIns="0" rIns="0" bIns="0" rtlCol="0" anchor="t"/>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AK1nvestor.com</a:t>
            </a:r>
            <a:endParaRPr lang="en-US" sz="1013" dirty="0"/>
          </a:p>
        </p:txBody>
      </p:sp>
      <p:sp>
        <p:nvSpPr>
          <p:cNvPr id="25" name="Text 19"/>
          <p:cNvSpPr/>
          <p:nvPr/>
        </p:nvSpPr>
        <p:spPr>
          <a:xfrm>
            <a:off x="514350" y="4616314"/>
            <a:ext cx="6809556" cy="141424"/>
          </a:xfrm>
          <a:prstGeom prst="rect">
            <a:avLst/>
          </a:prstGeom>
          <a:noFill/>
          <a:ln/>
        </p:spPr>
        <p:txBody>
          <a:bodyPr wrap="none" lIns="0" tIns="0" rIns="0" bIns="0" rtlCol="0" anchor="t"/>
          <a:lstStyle/>
          <a:p>
            <a:pPr algn="l" indent="0" marL="0">
              <a:lnSpc>
                <a:spcPts val="1114"/>
              </a:lnSpc>
              <a:buNone/>
            </a:pPr>
            <a:r>
              <a:rPr lang="en-US" sz="800" spc="56" kern="0" dirty="0">
                <a:solidFill>
                  <a:srgbClr val="D4A832"/>
                </a:solidFill>
                <a:latin typeface="Carlito" pitchFamily="34" charset="0"/>
                <a:ea typeface="Carlito" pitchFamily="34" charset="-122"/>
                <a:cs typeface="Carlito" pitchFamily="34" charset="-120"/>
              </a:rPr>
              <a:t>Sam Alkamesi · Grundare av AK1nvestor</a:t>
            </a:r>
            <a:endParaRPr lang="en-US" sz="800" dirty="0"/>
          </a:p>
        </p:txBody>
      </p:sp>
      <p:sp>
        <p:nvSpPr>
          <p:cNvPr id="26" name="Text 20"/>
          <p:cNvSpPr/>
          <p:nvPr/>
        </p:nvSpPr>
        <p:spPr>
          <a:xfrm>
            <a:off x="7338194" y="4616314"/>
            <a:ext cx="1394773" cy="141424"/>
          </a:xfrm>
          <a:prstGeom prst="rect">
            <a:avLst/>
          </a:prstGeom>
          <a:noFill/>
          <a:ln/>
        </p:spPr>
        <p:txBody>
          <a:bodyPr wrap="square" lIns="0" tIns="0" rIns="0" bIns="0" rtlCol="0" anchor="t"/>
          <a:lstStyle/>
          <a:p>
            <a:pPr algn="l" indent="0" marL="0">
              <a:lnSpc>
                <a:spcPts val="1114"/>
              </a:lnSpc>
              <a:buNone/>
            </a:pPr>
            <a:r>
              <a:rPr lang="en-US" sz="675" dirty="0">
                <a:solidFill>
                  <a:srgbClr val="7A8498"/>
                </a:solidFill>
                <a:latin typeface="Liberation Sans Narrow" pitchFamily="34" charset="0"/>
                <a:ea typeface="Liberation Sans Narrow" pitchFamily="34" charset="-122"/>
                <a:cs typeface="Liberation Sans Narrow" pitchFamily="34" charset="-120"/>
              </a:rPr>
              <a:t>11 juli 2026 · Nybörjarvänlig guide</a:t>
            </a:r>
            <a:endParaRPr lang="en-US" sz="6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467674"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NYBÖRJARE</a:t>
            </a:r>
            <a:endParaRPr lang="en-US" sz="800" dirty="0"/>
          </a:p>
        </p:txBody>
      </p:sp>
      <p:sp>
        <p:nvSpPr>
          <p:cNvPr id="4" name="Text 2"/>
          <p:cNvSpPr/>
          <p:nvPr/>
        </p:nvSpPr>
        <p:spPr>
          <a:xfrm>
            <a:off x="7910587" y="285750"/>
            <a:ext cx="804788"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AGENDA · 02 / 40</a:t>
            </a:r>
            <a:endParaRPr lang="en-US" sz="619" dirty="0"/>
          </a:p>
        </p:txBody>
      </p:sp>
      <p:sp>
        <p:nvSpPr>
          <p:cNvPr id="5" name="Text 3"/>
          <p:cNvSpPr/>
          <p:nvPr/>
        </p:nvSpPr>
        <p:spPr>
          <a:xfrm>
            <a:off x="428625" y="608223"/>
            <a:ext cx="8636000" cy="278298"/>
          </a:xfrm>
          <a:prstGeom prst="rect">
            <a:avLst/>
          </a:prstGeom>
          <a:noFill/>
          <a:ln/>
        </p:spPr>
        <p:txBody>
          <a:bodyPr wrap="none" lIns="0" tIns="0" rIns="0" bIns="0" rtlCol="0" anchor="t">
            <a:normAutofit/>
          </a:bodyPr>
          <a:lstStyle/>
          <a:p>
            <a:pPr algn="l" indent="0" marL="0">
              <a:lnSpc>
                <a:spcPts val="2070"/>
              </a:lnSpc>
              <a:buNone/>
            </a:pPr>
            <a:r>
              <a:rPr lang="en-US" sz="1800" b="1" spc="-28" kern="0" dirty="0">
                <a:solidFill>
                  <a:srgbClr val="1A1F2E"/>
                </a:solidFill>
                <a:latin typeface="Carlito" pitchFamily="34" charset="0"/>
                <a:ea typeface="Carlito" pitchFamily="34" charset="-122"/>
                <a:cs typeface="Carlito" pitchFamily="34" charset="-120"/>
              </a:rPr>
              <a:t>Vad vi ska lära oss</a:t>
            </a:r>
            <a:endParaRPr lang="en-US" sz="1800" dirty="0"/>
          </a:p>
        </p:txBody>
      </p:sp>
      <p:sp>
        <p:nvSpPr>
          <p:cNvPr id="6" name="Text 4"/>
          <p:cNvSpPr/>
          <p:nvPr/>
        </p:nvSpPr>
        <p:spPr>
          <a:xfrm>
            <a:off x="428625" y="913954"/>
            <a:ext cx="8636000" cy="203610"/>
          </a:xfrm>
          <a:prstGeom prst="rect">
            <a:avLst/>
          </a:prstGeom>
          <a:noFill/>
          <a:ln/>
        </p:spPr>
        <p:txBody>
          <a:bodyPr wrap="square" lIns="0" tIns="0" rIns="0" bIns="0" rtlCol="0" anchor="t"/>
          <a:lstStyle/>
          <a:p>
            <a:pPr algn="l" indent="0" marL="0">
              <a:lnSpc>
                <a:spcPts val="1485"/>
              </a:lnSpc>
              <a:buNone/>
            </a:pPr>
            <a:r>
              <a:rPr lang="en-US" sz="900" spc="68" kern="0" dirty="0">
                <a:solidFill>
                  <a:srgbClr val="B8942E"/>
                </a:solidFill>
                <a:latin typeface="Carlito" pitchFamily="34" charset="0"/>
                <a:ea typeface="Carlito" pitchFamily="34" charset="-122"/>
                <a:cs typeface="Carlito" pitchFamily="34" charset="-120"/>
              </a:rPr>
              <a:t>19 VARIABLER I 6 KATEGORIER — ENKLA FÖRKLARINGAR</a:t>
            </a:r>
            <a:endParaRPr lang="en-US" sz="900" dirty="0"/>
          </a:p>
        </p:txBody>
      </p:sp>
      <p:sp>
        <p:nvSpPr>
          <p:cNvPr id="7" name="Shape 5"/>
          <p:cNvSpPr/>
          <p:nvPr/>
        </p:nvSpPr>
        <p:spPr>
          <a:xfrm>
            <a:off x="428625" y="1465138"/>
            <a:ext cx="4029075" cy="0"/>
          </a:xfrm>
          <a:prstGeom prst="line">
            <a:avLst/>
          </a:prstGeom>
          <a:noFill/>
          <a:ln w="7144">
            <a:solidFill>
              <a:srgbClr val="E2E5EA"/>
            </a:solidFill>
            <a:prstDash val="dot"/>
          </a:ln>
        </p:spPr>
      </p:sp>
      <p:sp>
        <p:nvSpPr>
          <p:cNvPr id="8" name="Text 6"/>
          <p:cNvSpPr/>
          <p:nvPr/>
        </p:nvSpPr>
        <p:spPr>
          <a:xfrm>
            <a:off x="528638" y="1259644"/>
            <a:ext cx="3609156"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01</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Introduktion — vad är AKM1?</a:t>
            </a:r>
            <a:endParaRPr lang="en-US" sz="800" dirty="0"/>
          </a:p>
        </p:txBody>
      </p:sp>
      <p:sp>
        <p:nvSpPr>
          <p:cNvPr id="9" name="Text 7"/>
          <p:cNvSpPr/>
          <p:nvPr/>
        </p:nvSpPr>
        <p:spPr>
          <a:xfrm>
            <a:off x="4087157" y="1259644"/>
            <a:ext cx="435468"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3-4</a:t>
            </a:r>
            <a:endParaRPr lang="en-US" sz="759" dirty="0"/>
          </a:p>
        </p:txBody>
      </p:sp>
      <p:sp>
        <p:nvSpPr>
          <p:cNvPr id="10" name="Shape 8"/>
          <p:cNvSpPr/>
          <p:nvPr/>
        </p:nvSpPr>
        <p:spPr>
          <a:xfrm>
            <a:off x="428625" y="1745642"/>
            <a:ext cx="4029075" cy="0"/>
          </a:xfrm>
          <a:prstGeom prst="line">
            <a:avLst/>
          </a:prstGeom>
          <a:noFill/>
          <a:ln w="7144">
            <a:solidFill>
              <a:srgbClr val="E2E5EA"/>
            </a:solidFill>
            <a:prstDash val="dot"/>
          </a:ln>
        </p:spPr>
      </p:sp>
      <p:sp>
        <p:nvSpPr>
          <p:cNvPr id="11" name="Text 9"/>
          <p:cNvSpPr/>
          <p:nvPr/>
        </p:nvSpPr>
        <p:spPr>
          <a:xfrm>
            <a:off x="528638" y="1540148"/>
            <a:ext cx="3609156"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02</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Värdering (3 variabler)</a:t>
            </a:r>
            <a:endParaRPr lang="en-US" sz="800" dirty="0"/>
          </a:p>
        </p:txBody>
      </p:sp>
      <p:sp>
        <p:nvSpPr>
          <p:cNvPr id="12" name="Text 10"/>
          <p:cNvSpPr/>
          <p:nvPr/>
        </p:nvSpPr>
        <p:spPr>
          <a:xfrm>
            <a:off x="4087157" y="1540148"/>
            <a:ext cx="435468"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6-9</a:t>
            </a:r>
            <a:endParaRPr lang="en-US" sz="759" dirty="0"/>
          </a:p>
        </p:txBody>
      </p:sp>
      <p:sp>
        <p:nvSpPr>
          <p:cNvPr id="13" name="Shape 11"/>
          <p:cNvSpPr/>
          <p:nvPr/>
        </p:nvSpPr>
        <p:spPr>
          <a:xfrm>
            <a:off x="428625" y="2026146"/>
            <a:ext cx="4029075" cy="0"/>
          </a:xfrm>
          <a:prstGeom prst="line">
            <a:avLst/>
          </a:prstGeom>
          <a:noFill/>
          <a:ln w="7144">
            <a:solidFill>
              <a:srgbClr val="E2E5EA"/>
            </a:solidFill>
            <a:prstDash val="dot"/>
          </a:ln>
        </p:spPr>
      </p:sp>
      <p:sp>
        <p:nvSpPr>
          <p:cNvPr id="14" name="Text 12"/>
          <p:cNvSpPr/>
          <p:nvPr/>
        </p:nvSpPr>
        <p:spPr>
          <a:xfrm>
            <a:off x="528638" y="1820652"/>
            <a:ext cx="3501889" cy="159060"/>
          </a:xfrm>
          <a:prstGeom prst="rect">
            <a:avLst/>
          </a:prstGeom>
          <a:noFill/>
          <a:ln/>
        </p:spPr>
        <p:txBody>
          <a:bodyPr wrap="non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03</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Tillväxt (3 variabler)</a:t>
            </a:r>
            <a:endParaRPr lang="en-US" sz="800" dirty="0"/>
          </a:p>
        </p:txBody>
      </p:sp>
      <p:sp>
        <p:nvSpPr>
          <p:cNvPr id="15" name="Text 13"/>
          <p:cNvSpPr/>
          <p:nvPr/>
        </p:nvSpPr>
        <p:spPr>
          <a:xfrm>
            <a:off x="3962967" y="1820652"/>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11-14</a:t>
            </a:r>
            <a:endParaRPr lang="en-US" sz="759" dirty="0"/>
          </a:p>
        </p:txBody>
      </p:sp>
      <p:sp>
        <p:nvSpPr>
          <p:cNvPr id="16" name="Shape 14"/>
          <p:cNvSpPr/>
          <p:nvPr/>
        </p:nvSpPr>
        <p:spPr>
          <a:xfrm>
            <a:off x="428625" y="2306650"/>
            <a:ext cx="4029075" cy="0"/>
          </a:xfrm>
          <a:prstGeom prst="line">
            <a:avLst/>
          </a:prstGeom>
          <a:noFill/>
          <a:ln w="7144">
            <a:solidFill>
              <a:srgbClr val="E2E5EA"/>
            </a:solidFill>
            <a:prstDash val="dot"/>
          </a:ln>
        </p:spPr>
      </p:sp>
      <p:sp>
        <p:nvSpPr>
          <p:cNvPr id="17" name="Text 15"/>
          <p:cNvSpPr/>
          <p:nvPr/>
        </p:nvSpPr>
        <p:spPr>
          <a:xfrm>
            <a:off x="528638" y="2101155"/>
            <a:ext cx="3501889"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04</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Lönsamhet (3 variabler)</a:t>
            </a:r>
            <a:endParaRPr lang="en-US" sz="800" dirty="0"/>
          </a:p>
        </p:txBody>
      </p:sp>
      <p:sp>
        <p:nvSpPr>
          <p:cNvPr id="18" name="Text 16"/>
          <p:cNvSpPr/>
          <p:nvPr/>
        </p:nvSpPr>
        <p:spPr>
          <a:xfrm>
            <a:off x="3962967" y="2101155"/>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16-19</a:t>
            </a:r>
            <a:endParaRPr lang="en-US" sz="759" dirty="0"/>
          </a:p>
        </p:txBody>
      </p:sp>
      <p:sp>
        <p:nvSpPr>
          <p:cNvPr id="19" name="Shape 17"/>
          <p:cNvSpPr/>
          <p:nvPr/>
        </p:nvSpPr>
        <p:spPr>
          <a:xfrm>
            <a:off x="4686300" y="1465138"/>
            <a:ext cx="4029075" cy="0"/>
          </a:xfrm>
          <a:prstGeom prst="line">
            <a:avLst/>
          </a:prstGeom>
          <a:noFill/>
          <a:ln w="7144">
            <a:solidFill>
              <a:srgbClr val="E2E5EA"/>
            </a:solidFill>
            <a:prstDash val="dot"/>
          </a:ln>
        </p:spPr>
      </p:sp>
      <p:sp>
        <p:nvSpPr>
          <p:cNvPr id="20" name="Text 18"/>
          <p:cNvSpPr/>
          <p:nvPr/>
        </p:nvSpPr>
        <p:spPr>
          <a:xfrm>
            <a:off x="4786313" y="1259644"/>
            <a:ext cx="3501889"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05</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Stabilitet (3 variabler)</a:t>
            </a:r>
            <a:endParaRPr lang="en-US" sz="800" dirty="0"/>
          </a:p>
        </p:txBody>
      </p:sp>
      <p:sp>
        <p:nvSpPr>
          <p:cNvPr id="21" name="Text 19"/>
          <p:cNvSpPr/>
          <p:nvPr/>
        </p:nvSpPr>
        <p:spPr>
          <a:xfrm>
            <a:off x="8220642" y="1259644"/>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21-24</a:t>
            </a:r>
            <a:endParaRPr lang="en-US" sz="759" dirty="0"/>
          </a:p>
        </p:txBody>
      </p:sp>
      <p:sp>
        <p:nvSpPr>
          <p:cNvPr id="22" name="Shape 20"/>
          <p:cNvSpPr/>
          <p:nvPr/>
        </p:nvSpPr>
        <p:spPr>
          <a:xfrm>
            <a:off x="4686300" y="1745642"/>
            <a:ext cx="4029075" cy="0"/>
          </a:xfrm>
          <a:prstGeom prst="line">
            <a:avLst/>
          </a:prstGeom>
          <a:noFill/>
          <a:ln w="7144">
            <a:solidFill>
              <a:srgbClr val="E2E5EA"/>
            </a:solidFill>
            <a:prstDash val="dot"/>
          </a:ln>
        </p:spPr>
      </p:sp>
      <p:sp>
        <p:nvSpPr>
          <p:cNvPr id="23" name="Text 21"/>
          <p:cNvSpPr/>
          <p:nvPr/>
        </p:nvSpPr>
        <p:spPr>
          <a:xfrm>
            <a:off x="4786313" y="1540148"/>
            <a:ext cx="3501889" cy="159060"/>
          </a:xfrm>
          <a:prstGeom prst="rect">
            <a:avLst/>
          </a:prstGeom>
          <a:noFill/>
          <a:ln/>
        </p:spPr>
        <p:txBody>
          <a:bodyPr wrap="non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06</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Moat (3 variabler)</a:t>
            </a:r>
            <a:endParaRPr lang="en-US" sz="800" dirty="0"/>
          </a:p>
        </p:txBody>
      </p:sp>
      <p:sp>
        <p:nvSpPr>
          <p:cNvPr id="24" name="Text 22"/>
          <p:cNvSpPr/>
          <p:nvPr/>
        </p:nvSpPr>
        <p:spPr>
          <a:xfrm>
            <a:off x="8220642" y="1540148"/>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26-29</a:t>
            </a:r>
            <a:endParaRPr lang="en-US" sz="759" dirty="0"/>
          </a:p>
        </p:txBody>
      </p:sp>
      <p:sp>
        <p:nvSpPr>
          <p:cNvPr id="25" name="Shape 23"/>
          <p:cNvSpPr/>
          <p:nvPr/>
        </p:nvSpPr>
        <p:spPr>
          <a:xfrm>
            <a:off x="4686300" y="2026146"/>
            <a:ext cx="4029075" cy="0"/>
          </a:xfrm>
          <a:prstGeom prst="line">
            <a:avLst/>
          </a:prstGeom>
          <a:noFill/>
          <a:ln w="7144">
            <a:solidFill>
              <a:srgbClr val="E2E5EA"/>
            </a:solidFill>
            <a:prstDash val="dot"/>
          </a:ln>
        </p:spPr>
      </p:sp>
      <p:sp>
        <p:nvSpPr>
          <p:cNvPr id="26" name="Text 24"/>
          <p:cNvSpPr/>
          <p:nvPr/>
        </p:nvSpPr>
        <p:spPr>
          <a:xfrm>
            <a:off x="4786313" y="1820652"/>
            <a:ext cx="3501889"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07</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Katalysator (3 variabler)</a:t>
            </a:r>
            <a:endParaRPr lang="en-US" sz="800" dirty="0"/>
          </a:p>
        </p:txBody>
      </p:sp>
      <p:sp>
        <p:nvSpPr>
          <p:cNvPr id="27" name="Text 25"/>
          <p:cNvSpPr/>
          <p:nvPr/>
        </p:nvSpPr>
        <p:spPr>
          <a:xfrm>
            <a:off x="8220642" y="1820652"/>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31-34</a:t>
            </a:r>
            <a:endParaRPr lang="en-US" sz="759" dirty="0"/>
          </a:p>
        </p:txBody>
      </p:sp>
      <p:sp>
        <p:nvSpPr>
          <p:cNvPr id="28" name="Shape 26"/>
          <p:cNvSpPr/>
          <p:nvPr/>
        </p:nvSpPr>
        <p:spPr>
          <a:xfrm>
            <a:off x="4686300" y="2306650"/>
            <a:ext cx="4029075" cy="0"/>
          </a:xfrm>
          <a:prstGeom prst="line">
            <a:avLst/>
          </a:prstGeom>
          <a:noFill/>
          <a:ln w="7144">
            <a:solidFill>
              <a:srgbClr val="E2E5EA"/>
            </a:solidFill>
            <a:prstDash val="dot"/>
          </a:ln>
        </p:spPr>
      </p:sp>
      <p:sp>
        <p:nvSpPr>
          <p:cNvPr id="29" name="Text 27"/>
          <p:cNvSpPr/>
          <p:nvPr/>
        </p:nvSpPr>
        <p:spPr>
          <a:xfrm>
            <a:off x="4786313" y="2101155"/>
            <a:ext cx="3641303"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08</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BONUS: Variabel 18 Utdelning</a:t>
            </a:r>
            <a:endParaRPr lang="en-US" sz="800" dirty="0"/>
          </a:p>
        </p:txBody>
      </p:sp>
      <p:sp>
        <p:nvSpPr>
          <p:cNvPr id="30" name="Text 28"/>
          <p:cNvSpPr/>
          <p:nvPr/>
        </p:nvSpPr>
        <p:spPr>
          <a:xfrm>
            <a:off x="8386510" y="2101155"/>
            <a:ext cx="384258"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36</a:t>
            </a:r>
            <a:endParaRPr lang="en-US" sz="759" dirty="0"/>
          </a:p>
        </p:txBody>
      </p:sp>
      <p:sp>
        <p:nvSpPr>
          <p:cNvPr id="31" name="Shape 29"/>
          <p:cNvSpPr/>
          <p:nvPr/>
        </p:nvSpPr>
        <p:spPr>
          <a:xfrm>
            <a:off x="4686300" y="2587154"/>
            <a:ext cx="4029075" cy="0"/>
          </a:xfrm>
          <a:prstGeom prst="line">
            <a:avLst/>
          </a:prstGeom>
          <a:noFill/>
          <a:ln w="7144">
            <a:solidFill>
              <a:srgbClr val="E2E5EA"/>
            </a:solidFill>
            <a:prstDash val="dot"/>
          </a:ln>
        </p:spPr>
      </p:sp>
      <p:sp>
        <p:nvSpPr>
          <p:cNvPr id="32" name="Text 30"/>
          <p:cNvSpPr/>
          <p:nvPr/>
        </p:nvSpPr>
        <p:spPr>
          <a:xfrm>
            <a:off x="4786313" y="2381659"/>
            <a:ext cx="3501889"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09</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BONUS: Variabel 19 Kapital</a:t>
            </a:r>
            <a:endParaRPr lang="en-US" sz="800" dirty="0"/>
          </a:p>
        </p:txBody>
      </p:sp>
      <p:sp>
        <p:nvSpPr>
          <p:cNvPr id="33" name="Text 31"/>
          <p:cNvSpPr/>
          <p:nvPr/>
        </p:nvSpPr>
        <p:spPr>
          <a:xfrm>
            <a:off x="8220642" y="2381659"/>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37-39</a:t>
            </a:r>
            <a:endParaRPr lang="en-US" sz="759" dirty="0"/>
          </a:p>
        </p:txBody>
      </p:sp>
      <p:sp>
        <p:nvSpPr>
          <p:cNvPr id="34" name="Shape 32"/>
          <p:cNvSpPr/>
          <p:nvPr/>
        </p:nvSpPr>
        <p:spPr>
          <a:xfrm>
            <a:off x="4686300" y="2867658"/>
            <a:ext cx="4029075" cy="0"/>
          </a:xfrm>
          <a:prstGeom prst="line">
            <a:avLst/>
          </a:prstGeom>
          <a:noFill/>
          <a:ln w="7144">
            <a:solidFill>
              <a:srgbClr val="E2E5EA"/>
            </a:solidFill>
            <a:prstDash val="dot"/>
          </a:ln>
        </p:spPr>
      </p:sp>
      <p:sp>
        <p:nvSpPr>
          <p:cNvPr id="35" name="Text 33"/>
          <p:cNvSpPr/>
          <p:nvPr/>
        </p:nvSpPr>
        <p:spPr>
          <a:xfrm>
            <a:off x="4786313" y="2662163"/>
            <a:ext cx="3641303" cy="159060"/>
          </a:xfrm>
          <a:prstGeom prst="rect">
            <a:avLst/>
          </a:prstGeom>
          <a:noFill/>
          <a:ln/>
        </p:spPr>
        <p:txBody>
          <a:bodyPr wrap="non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10</a:t>
            </a:r>
            <a:pPr algn="l" indent="0" marL="0">
              <a:lnSpc>
                <a:spcPts val="1253"/>
              </a:lnSpc>
              <a:buNone/>
            </a:pPr>
            <a:r>
              <a:rPr lang="en-US" sz="800" dirty="0">
                <a:solidFill>
                  <a:srgbClr val="3D4556"/>
                </a:solidFill>
                <a:latin typeface="Carlito" pitchFamily="34" charset="0"/>
                <a:ea typeface="Carlito" pitchFamily="34" charset="-122"/>
                <a:cs typeface="Carlito" pitchFamily="34" charset="-120"/>
              </a:rPr>
              <a:t>Avslutning</a:t>
            </a:r>
            <a:endParaRPr lang="en-US" sz="800" dirty="0"/>
          </a:p>
        </p:txBody>
      </p:sp>
      <p:sp>
        <p:nvSpPr>
          <p:cNvPr id="36" name="Text 34"/>
          <p:cNvSpPr/>
          <p:nvPr/>
        </p:nvSpPr>
        <p:spPr>
          <a:xfrm>
            <a:off x="8386510" y="2662163"/>
            <a:ext cx="384258"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40</a:t>
            </a:r>
            <a:endParaRPr lang="en-US" sz="759" dirty="0"/>
          </a:p>
        </p:txBody>
      </p:sp>
      <p:sp>
        <p:nvSpPr>
          <p:cNvPr id="37" name="Text 35"/>
          <p:cNvSpPr/>
          <p:nvPr/>
        </p:nvSpPr>
        <p:spPr>
          <a:xfrm>
            <a:off x="428625" y="3056967"/>
            <a:ext cx="8286750" cy="684907"/>
          </a:xfrm>
          <a:prstGeom prst="rect">
            <a:avLst/>
          </a:prstGeom>
          <a:solidFill>
            <a:srgbClr val="DC2626">
              <a:alpha val="8000"/>
            </a:srgbClr>
          </a:solidFill>
          <a:ln/>
        </p:spPr>
        <p:txBody>
          <a:bodyPr wrap="square" rtlCol="0" anchor="ctr"/>
          <a:lstStyle/>
          <a:p>
            <a:pPr indent="0" marL="0">
              <a:buNone/>
            </a:pPr>
            <a:endParaRPr lang="en-US" dirty="0"/>
          </a:p>
        </p:txBody>
      </p:sp>
      <p:sp>
        <p:nvSpPr>
          <p:cNvPr id="38" name="Shape 36"/>
          <p:cNvSpPr/>
          <p:nvPr/>
        </p:nvSpPr>
        <p:spPr>
          <a:xfrm>
            <a:off x="439341" y="3056967"/>
            <a:ext cx="0" cy="684907"/>
          </a:xfrm>
          <a:prstGeom prst="line">
            <a:avLst/>
          </a:prstGeom>
          <a:noFill/>
          <a:ln w="21431">
            <a:solidFill>
              <a:srgbClr val="DC2626"/>
            </a:solidFill>
            <a:prstDash val="solid"/>
          </a:ln>
        </p:spPr>
      </p:sp>
      <p:sp>
        <p:nvSpPr>
          <p:cNvPr id="39" name="Text 37"/>
          <p:cNvSpPr/>
          <p:nvPr/>
        </p:nvSpPr>
        <p:spPr>
          <a:xfrm>
            <a:off x="564356" y="3156979"/>
            <a:ext cx="8146447" cy="119015"/>
          </a:xfrm>
          <a:prstGeom prst="rect">
            <a:avLst/>
          </a:prstGeom>
          <a:noFill/>
          <a:ln/>
        </p:spPr>
        <p:txBody>
          <a:bodyPr wrap="square" lIns="0" tIns="0" rIns="0" bIns="0" rtlCol="0" anchor="t">
            <a:normAutofit/>
          </a:bodyPr>
          <a:lstStyle/>
          <a:p>
            <a:pPr algn="l" indent="0" marL="0">
              <a:lnSpc>
                <a:spcPts val="928"/>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VARIABEL 19 — DEN VIKTIGASTE</a:t>
            </a:r>
            <a:endParaRPr lang="en-US" sz="800" dirty="0"/>
          </a:p>
        </p:txBody>
      </p:sp>
      <p:sp>
        <p:nvSpPr>
          <p:cNvPr id="40" name="Text 38"/>
          <p:cNvSpPr/>
          <p:nvPr/>
        </p:nvSpPr>
        <p:spPr>
          <a:xfrm>
            <a:off x="564356" y="3303426"/>
            <a:ext cx="8036719" cy="338435"/>
          </a:xfrm>
          <a:prstGeom prst="rect">
            <a:avLst/>
          </a:prstGeom>
          <a:noFill/>
          <a:ln/>
        </p:spPr>
        <p:txBody>
          <a:bodyPr wrap="square" lIns="0" tIns="0" rIns="0" bIns="0" rtlCol="0" anchor="t"/>
          <a:lstStyle/>
          <a:p>
            <a:pPr algn="l" indent="0" marL="0">
              <a:lnSpc>
                <a:spcPts val="1221"/>
              </a:lnSpc>
              <a:buNone/>
            </a:pPr>
            <a:r>
              <a:rPr lang="en-US" sz="800" dirty="0">
                <a:solidFill>
                  <a:srgbClr val="1A1F2E"/>
                </a:solidFill>
                <a:latin typeface="Carlito" pitchFamily="34" charset="0"/>
                <a:ea typeface="Carlito" pitchFamily="34" charset="-122"/>
                <a:cs typeface="Carlito" pitchFamily="34" charset="-120"/>
              </a:rPr>
              <a:t>Variabel 19 (kapital förbränning) får 3 dedikerade slides. Den avgör om bolaget kan klara sig utan nyemission. </a:t>
            </a:r>
            <a:pPr algn="l" indent="0" marL="0">
              <a:lnSpc>
                <a:spcPts val="1221"/>
              </a:lnSpc>
              <a:buNone/>
            </a:pPr>
            <a:r>
              <a:rPr lang="en-US" sz="800" b="1" dirty="0">
                <a:solidFill>
                  <a:srgbClr val="1A1F2E"/>
                </a:solidFill>
                <a:latin typeface="Carlito" pitchFamily="34" charset="0"/>
                <a:ea typeface="Carlito" pitchFamily="34" charset="-122"/>
                <a:cs typeface="Carlito" pitchFamily="34" charset="-120"/>
              </a:rPr>
              <a:t>Nyemission = utspädning = din andel minskar.</a:t>
            </a:r>
            <a:pPr algn="l" indent="0" marL="0">
              <a:lnSpc>
                <a:spcPts val="1221"/>
              </a:lnSpc>
              <a:buNone/>
            </a:pPr>
            <a:r>
              <a:rPr lang="en-US" sz="800" dirty="0">
                <a:solidFill>
                  <a:srgbClr val="1A1F2E"/>
                </a:solidFill>
                <a:latin typeface="Carlito" pitchFamily="34" charset="0"/>
                <a:ea typeface="Carlito" pitchFamily="34" charset="-122"/>
                <a:cs typeface="Carlito" pitchFamily="34" charset="-120"/>
              </a:rPr>
              <a:t> Tre emissioner om 20% = du förlorar hälften av din andel. Denna variabel är överlevnadsfiltret.</a:t>
            </a:r>
            <a:endParaRPr lang="en-US" sz="800" dirty="0"/>
          </a:p>
        </p:txBody>
      </p:sp>
      <p:sp>
        <p:nvSpPr>
          <p:cNvPr id="41" name="Shape 39"/>
          <p:cNvSpPr/>
          <p:nvPr/>
        </p:nvSpPr>
        <p:spPr>
          <a:xfrm>
            <a:off x="457200" y="4850606"/>
            <a:ext cx="8229600" cy="0"/>
          </a:xfrm>
          <a:prstGeom prst="line">
            <a:avLst/>
          </a:prstGeom>
          <a:noFill/>
          <a:ln w="7144">
            <a:solidFill>
              <a:srgbClr val="E2E5EA"/>
            </a:solidFill>
            <a:prstDash val="solid"/>
          </a:ln>
        </p:spPr>
      </p:sp>
      <p:sp>
        <p:nvSpPr>
          <p:cNvPr id="42" name="Text 40"/>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AK1nvestor</a:t>
            </a:r>
            <a:endParaRPr lang="en-US" sz="800" dirty="0"/>
          </a:p>
        </p:txBody>
      </p:sp>
      <p:sp>
        <p:nvSpPr>
          <p:cNvPr id="43" name="Text 41"/>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 / 40</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223336"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INTRO</a:t>
            </a:r>
            <a:endParaRPr lang="en-US" sz="800" dirty="0"/>
          </a:p>
        </p:txBody>
      </p:sp>
      <p:sp>
        <p:nvSpPr>
          <p:cNvPr id="4" name="Text 2"/>
          <p:cNvSpPr/>
          <p:nvPr/>
        </p:nvSpPr>
        <p:spPr>
          <a:xfrm>
            <a:off x="7666248" y="285750"/>
            <a:ext cx="1049127"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VAD ÄR AKM1 · 03 / 40</a:t>
            </a:r>
            <a:endParaRPr lang="en-US" sz="619" dirty="0"/>
          </a:p>
        </p:txBody>
      </p:sp>
      <p:sp>
        <p:nvSpPr>
          <p:cNvPr id="5" name="Text 3"/>
          <p:cNvSpPr/>
          <p:nvPr/>
        </p:nvSpPr>
        <p:spPr>
          <a:xfrm>
            <a:off x="428625" y="608223"/>
            <a:ext cx="8636000" cy="278298"/>
          </a:xfrm>
          <a:prstGeom prst="rect">
            <a:avLst/>
          </a:prstGeom>
          <a:noFill/>
          <a:ln/>
        </p:spPr>
        <p:txBody>
          <a:bodyPr wrap="none" lIns="0" tIns="0" rIns="0" bIns="0" rtlCol="0" anchor="t">
            <a:normAutofit/>
          </a:bodyPr>
          <a:lstStyle/>
          <a:p>
            <a:pPr algn="l" indent="0" marL="0">
              <a:lnSpc>
                <a:spcPts val="2070"/>
              </a:lnSpc>
              <a:buNone/>
            </a:pPr>
            <a:r>
              <a:rPr lang="en-US" sz="1800" b="1" spc="-28" kern="0" dirty="0">
                <a:solidFill>
                  <a:srgbClr val="1A1F2E"/>
                </a:solidFill>
                <a:latin typeface="Liberation Sans Narrow" pitchFamily="34" charset="0"/>
                <a:ea typeface="Liberation Sans Narrow" pitchFamily="34" charset="-122"/>
                <a:cs typeface="Liberation Sans Narrow" pitchFamily="34" charset="-120"/>
              </a:rPr>
              <a:t>Vad är AKM1?</a:t>
            </a:r>
            <a:endParaRPr lang="en-US" sz="1800" dirty="0"/>
          </a:p>
        </p:txBody>
      </p:sp>
      <p:sp>
        <p:nvSpPr>
          <p:cNvPr id="6" name="Text 4"/>
          <p:cNvSpPr/>
          <p:nvPr/>
        </p:nvSpPr>
        <p:spPr>
          <a:xfrm>
            <a:off x="428625" y="913954"/>
            <a:ext cx="8636000" cy="203610"/>
          </a:xfrm>
          <a:prstGeom prst="rect">
            <a:avLst/>
          </a:prstGeom>
          <a:noFill/>
          <a:ln/>
        </p:spPr>
        <p:txBody>
          <a:bodyPr wrap="square" lIns="0" tIns="0" rIns="0" bIns="0" rtlCol="0" anchor="t"/>
          <a:lstStyle/>
          <a:p>
            <a:pPr algn="l" indent="0" marL="0">
              <a:lnSpc>
                <a:spcPts val="1485"/>
              </a:lnSpc>
              <a:buNone/>
            </a:pPr>
            <a:r>
              <a:rPr lang="en-US" sz="900" spc="68" kern="0" dirty="0">
                <a:solidFill>
                  <a:srgbClr val="B8942E"/>
                </a:solidFill>
                <a:latin typeface="Carlito" pitchFamily="34" charset="0"/>
                <a:ea typeface="Carlito" pitchFamily="34" charset="-122"/>
                <a:cs typeface="Carlito" pitchFamily="34" charset="-120"/>
              </a:rPr>
              <a:t>ENKELT FÖRKLARAT — FÖR DIG SOM ÄR NYBÖRJARE</a:t>
            </a:r>
            <a:endParaRPr lang="en-US" sz="900" dirty="0"/>
          </a:p>
        </p:txBody>
      </p:sp>
      <p:sp>
        <p:nvSpPr>
          <p:cNvPr id="7" name="Text 5"/>
          <p:cNvSpPr/>
          <p:nvPr/>
        </p:nvSpPr>
        <p:spPr>
          <a:xfrm>
            <a:off x="432197" y="1220353"/>
            <a:ext cx="8279606" cy="542479"/>
          </a:xfrm>
          <a:prstGeom prst="roundRect">
            <a:avLst>
              <a:gd name="adj" fmla="val 10535"/>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50069" y="1331082"/>
            <a:ext cx="8043863" cy="342454"/>
          </a:xfrm>
          <a:prstGeom prst="rect">
            <a:avLst/>
          </a:prstGeom>
          <a:noFill/>
          <a:ln/>
        </p:spPr>
        <p:txBody>
          <a:bodyPr wrap="square" lIns="0" tIns="0" rIns="0" bIns="0" rtlCol="0" anchor="t"/>
          <a:lstStyle/>
          <a:p>
            <a:pPr algn="l" indent="0" marL="0">
              <a:lnSpc>
                <a:spcPts val="1264"/>
              </a:lnSpc>
              <a:buNone/>
            </a:pPr>
            <a:r>
              <a:rPr lang="en-US" sz="816" b="1" dirty="0">
                <a:solidFill>
                  <a:srgbClr val="1A1F2E"/>
                </a:solidFill>
                <a:latin typeface="Liberation Sans Narrow" pitchFamily="34" charset="0"/>
                <a:ea typeface="Liberation Sans Narrow" pitchFamily="34" charset="-122"/>
                <a:cs typeface="Liberation Sans Narrow" pitchFamily="34" charset="-120"/>
              </a:rPr>
              <a:t>AKM1 (AK-Model1)</a:t>
            </a:r>
            <a:pPr algn="l" indent="0" marL="0">
              <a:lnSpc>
                <a:spcPts val="1264"/>
              </a:lnSpc>
              <a:buNone/>
            </a:pPr>
            <a:r>
              <a:rPr lang="en-US" sz="816" dirty="0">
                <a:solidFill>
                  <a:srgbClr val="1A1F2E"/>
                </a:solidFill>
                <a:latin typeface="Carlito" pitchFamily="34" charset="0"/>
                <a:ea typeface="Carlito" pitchFamily="34" charset="-122"/>
                <a:cs typeface="Carlito" pitchFamily="34" charset="-120"/>
              </a:rPr>
              <a:t> är Sam Alkamesis metod för att analysera aktier. Tänk på det som en checklista med 19 frågor. För varje fråga ger du bolaget ett betyg 1–5. På slutet får bolaget ett totalbetyg — och du vet om du ska </a:t>
            </a:r>
            <a:pPr algn="l" indent="0" marL="0">
              <a:lnSpc>
                <a:spcPts val="1264"/>
              </a:lnSpc>
              <a:buNone/>
            </a:pPr>
            <a:r>
              <a:rPr lang="en-US" sz="816" i="1" dirty="0">
                <a:solidFill>
                  <a:srgbClr val="1A1F2E"/>
                </a:solidFill>
                <a:latin typeface="Carlito" pitchFamily="34" charset="0"/>
                <a:ea typeface="Carlito" pitchFamily="34" charset="-122"/>
                <a:cs typeface="Carlito" pitchFamily="34" charset="-120"/>
              </a:rPr>
              <a:t>köpa, vänta eller undvika</a:t>
            </a:r>
            <a:pPr algn="l" indent="0" marL="0">
              <a:lnSpc>
                <a:spcPts val="1264"/>
              </a:lnSpc>
              <a:buNone/>
            </a:pPr>
            <a:r>
              <a:rPr lang="en-US" sz="816" dirty="0">
                <a:solidFill>
                  <a:srgbClr val="1A1F2E"/>
                </a:solidFill>
                <a:latin typeface="Carlito" pitchFamily="34" charset="0"/>
                <a:ea typeface="Carlito" pitchFamily="34" charset="-122"/>
                <a:cs typeface="Carlito" pitchFamily="34" charset="-120"/>
              </a:rPr>
              <a:t>.</a:t>
            </a:r>
            <a:endParaRPr lang="en-US" sz="816" dirty="0"/>
          </a:p>
        </p:txBody>
      </p:sp>
      <p:sp>
        <p:nvSpPr>
          <p:cNvPr id="9" name="Text 7"/>
          <p:cNvSpPr/>
          <p:nvPr/>
        </p:nvSpPr>
        <p:spPr>
          <a:xfrm>
            <a:off x="428625" y="1866416"/>
            <a:ext cx="4079081" cy="1601428"/>
          </a:xfrm>
          <a:prstGeom prst="rect">
            <a:avLst/>
          </a:prstGeom>
          <a:solidFill>
            <a:srgbClr val="2563EB">
              <a:alpha val="6000"/>
            </a:srgbClr>
          </a:solidFill>
          <a:ln/>
        </p:spPr>
        <p:txBody>
          <a:bodyPr wrap="square" rtlCol="0" anchor="ctr"/>
          <a:lstStyle/>
          <a:p>
            <a:pPr indent="0" marL="0">
              <a:buNone/>
            </a:pPr>
            <a:endParaRPr lang="en-US" dirty="0"/>
          </a:p>
        </p:txBody>
      </p:sp>
      <p:sp>
        <p:nvSpPr>
          <p:cNvPr id="10" name="Shape 8"/>
          <p:cNvSpPr/>
          <p:nvPr/>
        </p:nvSpPr>
        <p:spPr>
          <a:xfrm>
            <a:off x="439341" y="1866416"/>
            <a:ext cx="0" cy="1601428"/>
          </a:xfrm>
          <a:prstGeom prst="line">
            <a:avLst/>
          </a:prstGeom>
          <a:noFill/>
          <a:ln w="21431">
            <a:solidFill>
              <a:srgbClr val="2563EB"/>
            </a:solidFill>
            <a:prstDash val="solid"/>
          </a:ln>
        </p:spPr>
      </p:sp>
      <p:sp>
        <p:nvSpPr>
          <p:cNvPr id="11" name="Text 9"/>
          <p:cNvSpPr/>
          <p:nvPr/>
        </p:nvSpPr>
        <p:spPr>
          <a:xfrm>
            <a:off x="550069" y="1952141"/>
            <a:ext cx="3857625"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2" name="Text 10"/>
          <p:cNvSpPr/>
          <p:nvPr/>
        </p:nvSpPr>
        <p:spPr>
          <a:xfrm>
            <a:off x="550069" y="2136428"/>
            <a:ext cx="3857625"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Tänk dig att du ska köpa en pizzeria. Innan du lägger pengarna vill du veta:</a:t>
            </a:r>
            <a:endParaRPr lang="en-US" sz="816" dirty="0"/>
          </a:p>
        </p:txBody>
      </p:sp>
      <p:sp>
        <p:nvSpPr>
          <p:cNvPr id="13" name="Text 11"/>
          <p:cNvSpPr/>
          <p:nvPr/>
        </p:nvSpPr>
        <p:spPr>
          <a:xfrm>
            <a:off x="550069" y="2344936"/>
            <a:ext cx="3857625" cy="869966"/>
          </a:xfrm>
          <a:prstGeom prst="rect">
            <a:avLst/>
          </a:prstGeom>
          <a:noFill/>
          <a:ln/>
        </p:spPr>
        <p:txBody>
          <a:bodyPr wrap="square" lIns="21431" tIns="0" rIns="0" bIns="0" rtlCol="0" anchor="t"/>
          <a:lstStyle/>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Hur mycket säljer den per månad?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(Tillväxt)</a:t>
            </a:r>
            <a:endParaRPr lang="en-US" sz="800" dirty="0"/>
          </a:p>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Vad kostar deg och ost?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(Lönsamhet)</a:t>
            </a:r>
            <a:endParaRPr lang="en-US" sz="800" dirty="0"/>
          </a:p>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Har de stora lån?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(Stabilitet)</a:t>
            </a:r>
            <a:endParaRPr lang="en-US" sz="800" dirty="0"/>
          </a:p>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Har de ett hemligt recept?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(Moat)</a:t>
            </a:r>
            <a:endParaRPr lang="en-US" sz="800" dirty="0"/>
          </a:p>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Öppnar en konkurrent runt hörnet?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(Katalysator)</a:t>
            </a:r>
            <a:endParaRPr lang="en-US" sz="800" dirty="0"/>
          </a:p>
        </p:txBody>
      </p:sp>
      <p:sp>
        <p:nvSpPr>
          <p:cNvPr id="14" name="Text 12"/>
          <p:cNvSpPr/>
          <p:nvPr/>
        </p:nvSpPr>
        <p:spPr>
          <a:xfrm>
            <a:off x="550069" y="3195042"/>
            <a:ext cx="3857625"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AKM1 ställer 19 sådana frågor — fast för börsnoterade bolag.</a:t>
            </a:r>
            <a:endParaRPr lang="en-US" sz="816" dirty="0"/>
          </a:p>
        </p:txBody>
      </p:sp>
      <p:sp>
        <p:nvSpPr>
          <p:cNvPr id="15" name="Text 13"/>
          <p:cNvSpPr/>
          <p:nvPr/>
        </p:nvSpPr>
        <p:spPr>
          <a:xfrm>
            <a:off x="4636294" y="1866416"/>
            <a:ext cx="4079081" cy="1601428"/>
          </a:xfrm>
          <a:prstGeom prst="rect">
            <a:avLst/>
          </a:prstGeom>
          <a:solidFill>
            <a:srgbClr val="B8942E">
              <a:alpha val="6000"/>
            </a:srgbClr>
          </a:solidFill>
          <a:ln/>
        </p:spPr>
        <p:txBody>
          <a:bodyPr wrap="square" rtlCol="0" anchor="ctr"/>
          <a:lstStyle/>
          <a:p>
            <a:pPr indent="0" marL="0">
              <a:buNone/>
            </a:pPr>
            <a:endParaRPr lang="en-US" dirty="0"/>
          </a:p>
        </p:txBody>
      </p:sp>
      <p:sp>
        <p:nvSpPr>
          <p:cNvPr id="16" name="Shape 14"/>
          <p:cNvSpPr/>
          <p:nvPr/>
        </p:nvSpPr>
        <p:spPr>
          <a:xfrm>
            <a:off x="4647009" y="1866416"/>
            <a:ext cx="0" cy="1601428"/>
          </a:xfrm>
          <a:prstGeom prst="line">
            <a:avLst/>
          </a:prstGeom>
          <a:noFill/>
          <a:ln w="21431">
            <a:solidFill>
              <a:srgbClr val="B8942E"/>
            </a:solidFill>
            <a:prstDash val="solid"/>
          </a:ln>
        </p:spPr>
      </p:sp>
      <p:sp>
        <p:nvSpPr>
          <p:cNvPr id="17" name="Text 15"/>
          <p:cNvSpPr/>
          <p:nvPr/>
        </p:nvSpPr>
        <p:spPr>
          <a:xfrm>
            <a:off x="4757738" y="1952141"/>
            <a:ext cx="3857625"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Liberation Sans Narrow" pitchFamily="34" charset="0"/>
                <a:ea typeface="Liberation Sans Narrow" pitchFamily="34" charset="-122"/>
                <a:cs typeface="Liberation Sans Narrow" pitchFamily="34" charset="-120"/>
              </a:rPr>
              <a:t>◆ VARFÖR 19 VARIABLER?</a:t>
            </a:r>
            <a:endParaRPr lang="en-US" sz="800" dirty="0"/>
          </a:p>
        </p:txBody>
      </p:sp>
      <p:sp>
        <p:nvSpPr>
          <p:cNvPr id="18" name="Text 16"/>
          <p:cNvSpPr/>
          <p:nvPr/>
        </p:nvSpPr>
        <p:spPr>
          <a:xfrm>
            <a:off x="4757738" y="2136428"/>
            <a:ext cx="3857625" cy="536692"/>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Enkelt: ju fler frågor du ställer, desto svårare att luras. Om du bara kollar P/E-tal (1 fråga) kan bolaget manipulera den siffran. Om du ställer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19 frågor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är det omöjligt att manipulera alla. Detta är kärnan i AKM1 —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bredd ger exakthet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p:txBody>
      </p:sp>
      <p:sp>
        <p:nvSpPr>
          <p:cNvPr id="19" name="Text 17"/>
          <p:cNvSpPr/>
          <p:nvPr/>
        </p:nvSpPr>
        <p:spPr>
          <a:xfrm>
            <a:off x="432197" y="3571429"/>
            <a:ext cx="8279606" cy="1271588"/>
          </a:xfrm>
          <a:prstGeom prst="roundRect">
            <a:avLst>
              <a:gd name="adj" fmla="val 4494"/>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0" name="Text 18"/>
          <p:cNvSpPr/>
          <p:nvPr/>
        </p:nvSpPr>
        <p:spPr>
          <a:xfrm>
            <a:off x="550069" y="3660725"/>
            <a:ext cx="8153590" cy="162770"/>
          </a:xfrm>
          <a:prstGeom prst="rect">
            <a:avLst/>
          </a:prstGeom>
          <a:noFill/>
          <a:ln/>
        </p:spPr>
        <p:txBody>
          <a:bodyPr wrap="square" lIns="0" tIns="0" rIns="0" bIns="0" rtlCol="0" anchor="t">
            <a:normAutofit/>
          </a:bodyPr>
          <a:lstStyle/>
          <a:p>
            <a:pPr algn="l" indent="0" marL="0">
              <a:lnSpc>
                <a:spcPts val="1160"/>
              </a:lnSpc>
              <a:buNone/>
            </a:pPr>
            <a:r>
              <a:rPr lang="en-US" sz="800" b="1" spc="34" kern="0" dirty="0">
                <a:solidFill>
                  <a:srgbClr val="B8942E"/>
                </a:solidFill>
                <a:latin typeface="Liberation Sans Narrow" pitchFamily="34" charset="0"/>
                <a:ea typeface="Liberation Sans Narrow" pitchFamily="34" charset="-122"/>
                <a:cs typeface="Liberation Sans Narrow" pitchFamily="34" charset="-120"/>
              </a:rPr>
              <a:t>◆ DE 19 VARIABLERNA I KORTA DRAG</a:t>
            </a:r>
            <a:endParaRPr lang="en-US" sz="800" dirty="0"/>
          </a:p>
        </p:txBody>
      </p:sp>
      <p:sp>
        <p:nvSpPr>
          <p:cNvPr id="21" name="Text 19"/>
          <p:cNvSpPr/>
          <p:nvPr/>
        </p:nvSpPr>
        <p:spPr>
          <a:xfrm>
            <a:off x="550069" y="3865215"/>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1.</a:t>
            </a:r>
            <a:endParaRPr lang="en-US" sz="800" dirty="0"/>
          </a:p>
        </p:txBody>
      </p:sp>
      <p:sp>
        <p:nvSpPr>
          <p:cNvPr id="22" name="Text 20"/>
          <p:cNvSpPr/>
          <p:nvPr/>
        </p:nvSpPr>
        <p:spPr>
          <a:xfrm>
            <a:off x="735806" y="3865215"/>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Värdering</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är aktien billig?</a:t>
            </a:r>
            <a:endParaRPr lang="en-US" sz="800" dirty="0"/>
          </a:p>
        </p:txBody>
      </p:sp>
      <p:sp>
        <p:nvSpPr>
          <p:cNvPr id="23" name="Text 21"/>
          <p:cNvSpPr/>
          <p:nvPr/>
        </p:nvSpPr>
        <p:spPr>
          <a:xfrm>
            <a:off x="4657725" y="3865215"/>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2.</a:t>
            </a:r>
            <a:endParaRPr lang="en-US" sz="800" dirty="0"/>
          </a:p>
        </p:txBody>
      </p:sp>
      <p:sp>
        <p:nvSpPr>
          <p:cNvPr id="24" name="Text 22"/>
          <p:cNvSpPr/>
          <p:nvPr/>
        </p:nvSpPr>
        <p:spPr>
          <a:xfrm>
            <a:off x="4843463" y="3865215"/>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Tillväxt</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växer bolaget?</a:t>
            </a:r>
            <a:endParaRPr lang="en-US" sz="800" dirty="0"/>
          </a:p>
        </p:txBody>
      </p:sp>
      <p:sp>
        <p:nvSpPr>
          <p:cNvPr id="25" name="Text 23"/>
          <p:cNvSpPr/>
          <p:nvPr/>
        </p:nvSpPr>
        <p:spPr>
          <a:xfrm>
            <a:off x="550069" y="4101629"/>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3.</a:t>
            </a:r>
            <a:endParaRPr lang="en-US" sz="800" dirty="0"/>
          </a:p>
        </p:txBody>
      </p:sp>
      <p:sp>
        <p:nvSpPr>
          <p:cNvPr id="26" name="Text 24"/>
          <p:cNvSpPr/>
          <p:nvPr/>
        </p:nvSpPr>
        <p:spPr>
          <a:xfrm>
            <a:off x="735806" y="4101629"/>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Lönsamhet</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tjänar bolag pengar?</a:t>
            </a:r>
            <a:endParaRPr lang="en-US" sz="800" dirty="0"/>
          </a:p>
        </p:txBody>
      </p:sp>
      <p:sp>
        <p:nvSpPr>
          <p:cNvPr id="27" name="Text 25"/>
          <p:cNvSpPr/>
          <p:nvPr/>
        </p:nvSpPr>
        <p:spPr>
          <a:xfrm>
            <a:off x="4657725" y="4101629"/>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4.</a:t>
            </a:r>
            <a:endParaRPr lang="en-US" sz="800" dirty="0"/>
          </a:p>
        </p:txBody>
      </p:sp>
      <p:sp>
        <p:nvSpPr>
          <p:cNvPr id="28" name="Text 26"/>
          <p:cNvSpPr/>
          <p:nvPr/>
        </p:nvSpPr>
        <p:spPr>
          <a:xfrm>
            <a:off x="4843463" y="4101629"/>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Stabilitet</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överlever bolaget kriser?</a:t>
            </a:r>
            <a:endParaRPr lang="en-US" sz="800" dirty="0"/>
          </a:p>
        </p:txBody>
      </p:sp>
      <p:sp>
        <p:nvSpPr>
          <p:cNvPr id="29" name="Text 27"/>
          <p:cNvSpPr/>
          <p:nvPr/>
        </p:nvSpPr>
        <p:spPr>
          <a:xfrm>
            <a:off x="550069" y="4338042"/>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5.</a:t>
            </a:r>
            <a:endParaRPr lang="en-US" sz="800" dirty="0"/>
          </a:p>
        </p:txBody>
      </p:sp>
      <p:sp>
        <p:nvSpPr>
          <p:cNvPr id="30" name="Text 28"/>
          <p:cNvSpPr/>
          <p:nvPr/>
        </p:nvSpPr>
        <p:spPr>
          <a:xfrm>
            <a:off x="735806" y="4338042"/>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Moat</a:t>
            </a:r>
            <a:pPr algn="l" indent="0" marL="0">
              <a:lnSpc>
                <a:spcPts val="1299"/>
              </a:lnSpc>
              <a:buNone/>
            </a:pPr>
            <a:r>
              <a:rPr lang="en-US" sz="800" dirty="0">
                <a:solidFill>
                  <a:srgbClr val="3D4556"/>
                </a:solidFill>
                <a:latin typeface="Carlito" pitchFamily="34" charset="0"/>
                <a:ea typeface="Carlito" pitchFamily="34" charset="-122"/>
                <a:cs typeface="Carlito" pitchFamily="34" charset="-120"/>
              </a:rPr>
              <a:t> (3) — har bolaget konkurrensfördelar?</a:t>
            </a:r>
            <a:endParaRPr lang="en-US" sz="800" dirty="0"/>
          </a:p>
        </p:txBody>
      </p:sp>
      <p:sp>
        <p:nvSpPr>
          <p:cNvPr id="31" name="Text 29"/>
          <p:cNvSpPr/>
          <p:nvPr/>
        </p:nvSpPr>
        <p:spPr>
          <a:xfrm>
            <a:off x="4657725" y="4338042"/>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6.</a:t>
            </a:r>
            <a:endParaRPr lang="en-US" sz="800" dirty="0"/>
          </a:p>
        </p:txBody>
      </p:sp>
      <p:sp>
        <p:nvSpPr>
          <p:cNvPr id="32" name="Text 30"/>
          <p:cNvSpPr/>
          <p:nvPr/>
        </p:nvSpPr>
        <p:spPr>
          <a:xfrm>
            <a:off x="4843463" y="4338042"/>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Katalysator</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kommer bra nyheter?</a:t>
            </a:r>
            <a:endParaRPr lang="en-US" sz="800" dirty="0"/>
          </a:p>
        </p:txBody>
      </p:sp>
      <p:sp>
        <p:nvSpPr>
          <p:cNvPr id="33" name="Text 31"/>
          <p:cNvSpPr/>
          <p:nvPr/>
        </p:nvSpPr>
        <p:spPr>
          <a:xfrm>
            <a:off x="550069" y="4560168"/>
            <a:ext cx="8043863" cy="193551"/>
          </a:xfrm>
          <a:prstGeom prst="rect">
            <a:avLst/>
          </a:prstGeom>
          <a:noFill/>
          <a:ln/>
        </p:spPr>
        <p:txBody>
          <a:bodyPr wrap="square" lIns="0" tIns="14288" rIns="0" bIns="14288" rtlCol="0" anchor="t"/>
          <a:lstStyle/>
          <a:p>
            <a:pPr algn="l" indent="0" marL="0">
              <a:lnSpc>
                <a:spcPts val="1299"/>
              </a:lnSpc>
              <a:buNone/>
            </a:pPr>
            <a:r>
              <a:rPr lang="en-US" sz="800" dirty="0">
                <a:solidFill>
                  <a:srgbClr val="8B7335"/>
                </a:solidFill>
                <a:latin typeface="Carlito" pitchFamily="34" charset="0"/>
                <a:ea typeface="Carlito" pitchFamily="34" charset="-122"/>
                <a:cs typeface="Carlito" pitchFamily="34" charset="-120"/>
              </a:rPr>
              <a:t>+ Variabel 18: Utdelning (får jag pengar tillbaka?) · + Variabel 19: Kapital förbränning (klarar bolaget sig utan nyemission?)</a:t>
            </a:r>
            <a:endParaRPr lang="en-US" sz="800" dirty="0"/>
          </a:p>
        </p:txBody>
      </p:sp>
      <p:sp>
        <p:nvSpPr>
          <p:cNvPr id="34" name="Shape 32"/>
          <p:cNvSpPr/>
          <p:nvPr/>
        </p:nvSpPr>
        <p:spPr>
          <a:xfrm>
            <a:off x="457200" y="4850606"/>
            <a:ext cx="8229600" cy="0"/>
          </a:xfrm>
          <a:prstGeom prst="line">
            <a:avLst/>
          </a:prstGeom>
          <a:noFill/>
          <a:ln w="7144">
            <a:solidFill>
              <a:srgbClr val="E2E5EA"/>
            </a:solidFill>
            <a:prstDash val="solid"/>
          </a:ln>
        </p:spPr>
      </p:sp>
      <p:sp>
        <p:nvSpPr>
          <p:cNvPr id="35" name="Text 33"/>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Carlito" pitchFamily="34" charset="0"/>
                <a:ea typeface="Carlito" pitchFamily="34" charset="-122"/>
                <a:cs typeface="Carlito" pitchFamily="34" charset="-120"/>
              </a:rPr>
              <a:t>Introduktion</a:t>
            </a:r>
            <a:endParaRPr lang="en-US" sz="800" dirty="0"/>
          </a:p>
        </p:txBody>
      </p:sp>
      <p:sp>
        <p:nvSpPr>
          <p:cNvPr id="36" name="Text 34"/>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 / 40</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039049"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INTRO</a:t>
            </a:r>
            <a:endParaRPr lang="en-US" sz="800" dirty="0"/>
          </a:p>
        </p:txBody>
      </p:sp>
      <p:sp>
        <p:nvSpPr>
          <p:cNvPr id="4" name="Text 2"/>
          <p:cNvSpPr/>
          <p:nvPr/>
        </p:nvSpPr>
        <p:spPr>
          <a:xfrm>
            <a:off x="7481962" y="285750"/>
            <a:ext cx="123341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POÄNGSÄTTNING · 04 / 40</a:t>
            </a:r>
            <a:endParaRPr lang="en-US" sz="619" dirty="0"/>
          </a:p>
        </p:txBody>
      </p:sp>
      <p:sp>
        <p:nvSpPr>
          <p:cNvPr id="5" name="Text 3"/>
          <p:cNvSpPr/>
          <p:nvPr/>
        </p:nvSpPr>
        <p:spPr>
          <a:xfrm>
            <a:off x="428625" y="608223"/>
            <a:ext cx="8636000" cy="278298"/>
          </a:xfrm>
          <a:prstGeom prst="rect">
            <a:avLst/>
          </a:prstGeom>
          <a:noFill/>
          <a:ln/>
        </p:spPr>
        <p:txBody>
          <a:bodyPr wrap="none" lIns="0" tIns="0" rIns="0" bIns="0" rtlCol="0" anchor="t">
            <a:normAutofit/>
          </a:bodyPr>
          <a:lstStyle/>
          <a:p>
            <a:pPr algn="l" indent="0" marL="0">
              <a:lnSpc>
                <a:spcPts val="2070"/>
              </a:lnSpc>
              <a:buNone/>
            </a:pPr>
            <a:r>
              <a:rPr lang="en-US" sz="1800" b="1" spc="-28" kern="0" dirty="0">
                <a:solidFill>
                  <a:srgbClr val="1A1F2E"/>
                </a:solidFill>
                <a:latin typeface="Carlito" pitchFamily="34" charset="0"/>
                <a:ea typeface="Carlito" pitchFamily="34" charset="-122"/>
                <a:cs typeface="Carlito" pitchFamily="34" charset="-120"/>
              </a:rPr>
              <a:t>Så poängsätter du</a:t>
            </a:r>
            <a:endParaRPr lang="en-US" sz="1800" dirty="0"/>
          </a:p>
        </p:txBody>
      </p:sp>
      <p:sp>
        <p:nvSpPr>
          <p:cNvPr id="6" name="Text 4"/>
          <p:cNvSpPr/>
          <p:nvPr/>
        </p:nvSpPr>
        <p:spPr>
          <a:xfrm>
            <a:off x="428625" y="913954"/>
            <a:ext cx="8636000" cy="203610"/>
          </a:xfrm>
          <a:prstGeom prst="rect">
            <a:avLst/>
          </a:prstGeom>
          <a:noFill/>
          <a:ln/>
        </p:spPr>
        <p:txBody>
          <a:bodyPr wrap="square" lIns="0" tIns="0" rIns="0" bIns="0" rtlCol="0" anchor="t"/>
          <a:lstStyle/>
          <a:p>
            <a:pPr algn="l" indent="0" marL="0">
              <a:lnSpc>
                <a:spcPts val="1485"/>
              </a:lnSpc>
              <a:buNone/>
            </a:pPr>
            <a:r>
              <a:rPr lang="en-US" sz="900" spc="68" kern="0" dirty="0">
                <a:solidFill>
                  <a:srgbClr val="B8942E"/>
                </a:solidFill>
                <a:latin typeface="Carlito" pitchFamily="34" charset="0"/>
                <a:ea typeface="Carlito" pitchFamily="34" charset="-122"/>
                <a:cs typeface="Carlito" pitchFamily="34" charset="-120"/>
              </a:rPr>
              <a:t>1–5 POÄNG PER VARIABEL — SÅ HÄR ENKELT</a:t>
            </a:r>
            <a:endParaRPr lang="en-US" sz="900" dirty="0"/>
          </a:p>
        </p:txBody>
      </p:sp>
      <p:sp>
        <p:nvSpPr>
          <p:cNvPr id="7" name="Text 5"/>
          <p:cNvSpPr/>
          <p:nvPr/>
        </p:nvSpPr>
        <p:spPr>
          <a:xfrm>
            <a:off x="432197" y="1220353"/>
            <a:ext cx="8279606" cy="342900"/>
          </a:xfrm>
          <a:prstGeom prst="roundRect">
            <a:avLst>
              <a:gd name="adj" fmla="val 1666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50069" y="1316794"/>
            <a:ext cx="8043863" cy="164306"/>
          </a:xfrm>
          <a:prstGeom prst="rect">
            <a:avLst/>
          </a:prstGeom>
          <a:noFill/>
          <a:ln/>
        </p:spPr>
        <p:txBody>
          <a:bodyPr wrap="square" lIns="0" tIns="0" rIns="0" bIns="0" rtlCol="0" anchor="t"/>
          <a:lstStyle/>
          <a:p>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För varje variabel ger du bolaget poäng 1 till 5. Sedan räknar du ut snittet. Slutpoängen visar om du ska </a:t>
            </a:r>
            <a:pPr algn="l" indent="0" marL="0">
              <a:lnSpc>
                <a:spcPts val="1181"/>
              </a:lnSpc>
              <a:buNone/>
            </a:pPr>
            <a:r>
              <a:rPr lang="en-US" sz="800" i="1" dirty="0">
                <a:solidFill>
                  <a:srgbClr val="1A1F2E"/>
                </a:solidFill>
                <a:latin typeface="Carlito" pitchFamily="34" charset="0"/>
                <a:ea typeface="Carlito" pitchFamily="34" charset="-122"/>
                <a:cs typeface="Carlito" pitchFamily="34" charset="-120"/>
              </a:rPr>
              <a:t>köpa, vänta eller undvika</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28625" y="1652550"/>
          <a:ext cx="8286750" cy="914400"/>
        </p:xfrm>
        <a:graphic>
          <a:graphicData uri="http://schemas.openxmlformats.org/drawingml/2006/table">
            <a:tbl>
              <a:tblPr/>
              <a:tblGrid>
                <a:gridCol w="1159073"/>
                <a:gridCol w="2424745"/>
                <a:gridCol w="470293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Vad det betyder</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Pizzeria-exempel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bra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växer snabbt, bra vinst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mår bra, växer lite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går runt, varken bra eller dåligt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Dåligt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har problem</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dåligt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håller på att gå under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0" name="Text 7"/>
          <p:cNvSpPr/>
          <p:nvPr/>
        </p:nvSpPr>
        <p:spPr>
          <a:xfrm>
            <a:off x="428625" y="3319165"/>
            <a:ext cx="4093369" cy="1098352"/>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8"/>
          <p:cNvSpPr/>
          <p:nvPr/>
        </p:nvSpPr>
        <p:spPr>
          <a:xfrm>
            <a:off x="439341" y="3319165"/>
            <a:ext cx="0" cy="1098352"/>
          </a:xfrm>
          <a:prstGeom prst="line">
            <a:avLst/>
          </a:prstGeom>
          <a:noFill/>
          <a:ln w="21431">
            <a:solidFill>
              <a:srgbClr val="2563EB"/>
            </a:solidFill>
            <a:prstDash val="solid"/>
          </a:ln>
        </p:spPr>
      </p:sp>
      <p:sp>
        <p:nvSpPr>
          <p:cNvPr id="12" name="Text 9"/>
          <p:cNvSpPr/>
          <p:nvPr/>
        </p:nvSpPr>
        <p:spPr>
          <a:xfrm>
            <a:off x="550069" y="3397746"/>
            <a:ext cx="3871913"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SLUTPOÄNG</a:t>
            </a:r>
            <a:endParaRPr lang="en-US" sz="800" dirty="0"/>
          </a:p>
        </p:txBody>
      </p:sp>
      <p:sp>
        <p:nvSpPr>
          <p:cNvPr id="13" name="Text 10"/>
          <p:cNvSpPr/>
          <p:nvPr/>
        </p:nvSpPr>
        <p:spPr>
          <a:xfrm>
            <a:off x="550069" y="3582033"/>
            <a:ext cx="3981641" cy="166789"/>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Liberation Sans Narrow" pitchFamily="34" charset="0"/>
                <a:ea typeface="Liberation Sans Narrow" pitchFamily="34" charset="-122"/>
                <a:cs typeface="Liberation Sans Narrow" pitchFamily="34" charset="-120"/>
              </a:rPr>
              <a:t>Räkna snittet av alla 19 poäng:</a:t>
            </a:r>
            <a:endParaRPr lang="en-US" sz="816" dirty="0"/>
          </a:p>
        </p:txBody>
      </p:sp>
      <p:sp>
        <p:nvSpPr>
          <p:cNvPr id="14" name="Text 11"/>
          <p:cNvSpPr/>
          <p:nvPr/>
        </p:nvSpPr>
        <p:spPr>
          <a:xfrm>
            <a:off x="550069" y="3776253"/>
            <a:ext cx="3871913" cy="566153"/>
          </a:xfrm>
          <a:prstGeom prst="rect">
            <a:avLst/>
          </a:prstGeom>
          <a:noFill/>
          <a:ln/>
        </p:spPr>
        <p:txBody>
          <a:bodyPr wrap="square" lIns="0" tIns="0" rIns="0" bIns="0" rtlCol="0" anchor="t"/>
          <a:lstStyle/>
          <a:p>
            <a:pPr algn="l" marL="342900" indent="-342900">
              <a:lnSpc>
                <a:spcPts val="1177"/>
              </a:lnSpc>
              <a:buSzPct val="100000"/>
              <a:buChar char="•"/>
            </a:pPr>
            <a:r>
              <a:rPr lang="en-US" sz="800" b="1" dirty="0">
                <a:solidFill>
                  <a:srgbClr val="059669"/>
                </a:solidFill>
                <a:latin typeface="Liberation Sans Narrow" pitchFamily="34" charset="0"/>
                <a:ea typeface="Liberation Sans Narrow" pitchFamily="34" charset="-122"/>
                <a:cs typeface="Liberation Sans Narrow" pitchFamily="34" charset="-120"/>
              </a:rPr>
              <a:t>4,0–5,0</a:t>
            </a:r>
            <a:pPr algn="l" indent="0" marL="0">
              <a:lnSpc>
                <a:spcPts val="1177"/>
              </a:lnSpc>
              <a:buNone/>
            </a:pPr>
            <a:r>
              <a:rPr lang="en-US" sz="800" dirty="0">
                <a:solidFill>
                  <a:srgbClr val="3D4556"/>
                </a:solidFill>
                <a:latin typeface="Carlito" pitchFamily="34" charset="0"/>
                <a:ea typeface="Carlito" pitchFamily="34" charset="-122"/>
                <a:cs typeface="Carlito" pitchFamily="34" charset="-120"/>
              </a:rPr>
              <a:t> → AKUMULERA (köp!)</a:t>
            </a:r>
            <a:endParaRPr lang="en-US" sz="800" dirty="0"/>
          </a:p>
          <a:p>
            <a:pPr algn="l" marL="342900" indent="-342900">
              <a:lnSpc>
                <a:spcPts val="1177"/>
              </a:lnSpc>
              <a:buSzPct val="100000"/>
              <a:buChar char="•"/>
            </a:pPr>
            <a:r>
              <a:rPr lang="en-US" sz="800" b="1" dirty="0">
                <a:solidFill>
                  <a:srgbClr val="D97706"/>
                </a:solidFill>
                <a:latin typeface="Liberation Sans Narrow" pitchFamily="34" charset="0"/>
                <a:ea typeface="Liberation Sans Narrow" pitchFamily="34" charset="-122"/>
                <a:cs typeface="Liberation Sans Narrow" pitchFamily="34" charset="-120"/>
              </a:rPr>
              <a:t>3,0–4,0</a:t>
            </a:r>
            <a:pPr algn="l" indent="0" marL="0">
              <a:lnSpc>
                <a:spcPts val="1177"/>
              </a:lnSpc>
              <a:buNone/>
            </a:pPr>
            <a:r>
              <a:rPr lang="en-US" sz="800" dirty="0">
                <a:solidFill>
                  <a:srgbClr val="3D4556"/>
                </a:solidFill>
                <a:latin typeface="Carlito" pitchFamily="34" charset="0"/>
                <a:ea typeface="Carlito" pitchFamily="34" charset="-122"/>
                <a:cs typeface="Carlito" pitchFamily="34" charset="-120"/>
              </a:rPr>
              <a:t> → VÄNTA (vänta på bättre pris)</a:t>
            </a:r>
            <a:endParaRPr lang="en-US" sz="800" dirty="0"/>
          </a:p>
          <a:p>
            <a:pPr algn="l" marL="342900" indent="-342900">
              <a:lnSpc>
                <a:spcPts val="1177"/>
              </a:lnSpc>
              <a:buSzPct val="100000"/>
              <a:buChar char="•"/>
            </a:pPr>
            <a:r>
              <a:rPr lang="en-US" sz="800" b="1" dirty="0">
                <a:solidFill>
                  <a:srgbClr val="DC2626"/>
                </a:solidFill>
                <a:latin typeface="Liberation Sans Narrow" pitchFamily="34" charset="0"/>
                <a:ea typeface="Liberation Sans Narrow" pitchFamily="34" charset="-122"/>
                <a:cs typeface="Liberation Sans Narrow" pitchFamily="34" charset="-120"/>
              </a:rPr>
              <a:t>Under 3,0</a:t>
            </a:r>
            <a:pPr algn="l" indent="0" marL="0">
              <a:lnSpc>
                <a:spcPts val="1177"/>
              </a:lnSpc>
              <a:buNone/>
            </a:pPr>
            <a:r>
              <a:rPr lang="en-US" sz="800" dirty="0">
                <a:solidFill>
                  <a:srgbClr val="3D4556"/>
                </a:solidFill>
                <a:latin typeface="Carlito" pitchFamily="34" charset="0"/>
                <a:ea typeface="Carlito" pitchFamily="34" charset="-122"/>
                <a:cs typeface="Carlito" pitchFamily="34" charset="-120"/>
              </a:rPr>
              <a:t> → UNDVIK (sälj eller köp ej)</a:t>
            </a:r>
            <a:endParaRPr lang="en-US" sz="800" dirty="0"/>
          </a:p>
        </p:txBody>
      </p:sp>
      <p:sp>
        <p:nvSpPr>
          <p:cNvPr id="15" name="Text 12"/>
          <p:cNvSpPr/>
          <p:nvPr/>
        </p:nvSpPr>
        <p:spPr>
          <a:xfrm>
            <a:off x="4622006" y="3319165"/>
            <a:ext cx="4093369" cy="1098352"/>
          </a:xfrm>
          <a:prstGeom prst="rect">
            <a:avLst/>
          </a:prstGeom>
          <a:solidFill>
            <a:srgbClr val="DC2626">
              <a:alpha val="8000"/>
            </a:srgbClr>
          </a:solidFill>
          <a:ln/>
        </p:spPr>
        <p:txBody>
          <a:bodyPr wrap="square" rtlCol="0" anchor="ctr"/>
          <a:lstStyle/>
          <a:p>
            <a:pPr indent="0" marL="0">
              <a:buNone/>
            </a:pPr>
            <a:endParaRPr lang="en-US" dirty="0"/>
          </a:p>
        </p:txBody>
      </p:sp>
      <p:sp>
        <p:nvSpPr>
          <p:cNvPr id="16" name="Shape 13"/>
          <p:cNvSpPr/>
          <p:nvPr/>
        </p:nvSpPr>
        <p:spPr>
          <a:xfrm>
            <a:off x="4632722" y="3319165"/>
            <a:ext cx="0" cy="1098352"/>
          </a:xfrm>
          <a:prstGeom prst="line">
            <a:avLst/>
          </a:prstGeom>
          <a:noFill/>
          <a:ln w="21431">
            <a:solidFill>
              <a:srgbClr val="DC2626"/>
            </a:solidFill>
            <a:prstDash val="solid"/>
          </a:ln>
        </p:spPr>
      </p:sp>
      <p:sp>
        <p:nvSpPr>
          <p:cNvPr id="17" name="Text 14"/>
          <p:cNvSpPr/>
          <p:nvPr/>
        </p:nvSpPr>
        <p:spPr>
          <a:xfrm>
            <a:off x="4743450" y="3397746"/>
            <a:ext cx="3981640" cy="119015"/>
          </a:xfrm>
          <a:prstGeom prst="rect">
            <a:avLst/>
          </a:prstGeom>
          <a:noFill/>
          <a:ln/>
        </p:spPr>
        <p:txBody>
          <a:bodyPr wrap="square" lIns="0" tIns="0" rIns="0" bIns="0" rtlCol="0" anchor="t">
            <a:normAutofit/>
          </a:bodyPr>
          <a:lstStyle/>
          <a:p>
            <a:pPr algn="l" indent="0" marL="0">
              <a:lnSpc>
                <a:spcPts val="928"/>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VARIABEL 19 = SPECIALFALL</a:t>
            </a:r>
            <a:endParaRPr lang="en-US" sz="800" dirty="0"/>
          </a:p>
        </p:txBody>
      </p:sp>
      <p:sp>
        <p:nvSpPr>
          <p:cNvPr id="18" name="Text 15"/>
          <p:cNvSpPr/>
          <p:nvPr/>
        </p:nvSpPr>
        <p:spPr>
          <a:xfrm>
            <a:off x="4743450" y="3544193"/>
            <a:ext cx="3871913" cy="510159"/>
          </a:xfrm>
          <a:prstGeom prst="rect">
            <a:avLst/>
          </a:prstGeom>
          <a:noFill/>
          <a:ln/>
        </p:spPr>
        <p:txBody>
          <a:bodyPr wrap="square" lIns="0" tIns="0" rIns="0" bIns="0" rtlCol="0" anchor="t"/>
          <a:lstStyle/>
          <a:p>
            <a:pPr algn="l" indent="0" marL="0">
              <a:lnSpc>
                <a:spcPts val="1177"/>
              </a:lnSpc>
              <a:buNone/>
            </a:pPr>
            <a:r>
              <a:rPr lang="en-US" sz="800" dirty="0">
                <a:solidFill>
                  <a:srgbClr val="1A1F2E"/>
                </a:solidFill>
                <a:latin typeface="Carlito" pitchFamily="34" charset="0"/>
                <a:ea typeface="Carlito" pitchFamily="34" charset="-122"/>
                <a:cs typeface="Carlito" pitchFamily="34" charset="-120"/>
              </a:rPr>
              <a:t>Variabel 19 (kapital förbränning) fungerar annorlunda. Om den är </a:t>
            </a:r>
            <a:pPr algn="l" indent="0" marL="0">
              <a:lnSpc>
                <a:spcPts val="1177"/>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under 3 → UNDVIK automatiskt</a:t>
            </a:r>
            <a:pPr algn="l" indent="0" marL="0">
              <a:lnSpc>
                <a:spcPts val="1177"/>
              </a:lnSpc>
              <a:buNone/>
            </a:pPr>
            <a:r>
              <a:rPr lang="en-US" sz="800" dirty="0">
                <a:solidFill>
                  <a:srgbClr val="1A1F2E"/>
                </a:solidFill>
                <a:latin typeface="Carlito" pitchFamily="34" charset="0"/>
                <a:ea typeface="Carlito" pitchFamily="34" charset="-122"/>
                <a:cs typeface="Carlito" pitchFamily="34" charset="-120"/>
              </a:rPr>
              <a:t>, även om alla andra 18 variabler är 5. Varför? För att ett bolag som nyemitterar förstör din avkastning genom utspädning — oavsett hur bra bolaget är.</a:t>
            </a:r>
            <a:endParaRPr lang="en-US" sz="800" dirty="0"/>
          </a:p>
        </p:txBody>
      </p:sp>
      <p:sp>
        <p:nvSpPr>
          <p:cNvPr id="19" name="Text 16"/>
          <p:cNvSpPr/>
          <p:nvPr/>
        </p:nvSpPr>
        <p:spPr>
          <a:xfrm>
            <a:off x="432197" y="4506813"/>
            <a:ext cx="8279606" cy="805569"/>
          </a:xfrm>
          <a:prstGeom prst="roundRect">
            <a:avLst>
              <a:gd name="adj" fmla="val 7094"/>
            </a:avLst>
          </a:prstGeom>
          <a:solidFill>
            <a:srgbClr val="B8942E">
              <a:alpha val="6000"/>
            </a:srgbClr>
          </a:solidFill>
          <a:ln w="7144">
            <a:solidFill>
              <a:srgbClr val="8B7335"/>
            </a:solidFill>
            <a:prstDash val="dash"/>
          </a:ln>
        </p:spPr>
        <p:txBody>
          <a:bodyPr wrap="square" rtlCol="0" anchor="ctr"/>
          <a:lstStyle/>
          <a:p>
            <a:pPr indent="0" marL="0">
              <a:buNone/>
            </a:pPr>
            <a:endParaRPr lang="en-US" dirty="0"/>
          </a:p>
        </p:txBody>
      </p:sp>
      <p:sp>
        <p:nvSpPr>
          <p:cNvPr id="20" name="Text 17"/>
          <p:cNvSpPr/>
          <p:nvPr/>
        </p:nvSpPr>
        <p:spPr>
          <a:xfrm>
            <a:off x="535781" y="4588966"/>
            <a:ext cx="8182165" cy="133302"/>
          </a:xfrm>
          <a:prstGeom prst="rect">
            <a:avLst/>
          </a:prstGeom>
          <a:noFill/>
          <a:ln/>
        </p:spPr>
        <p:txBody>
          <a:bodyPr wrap="square" lIns="0" tIns="0" rIns="0" bIns="0" rtlCol="0" anchor="t">
            <a:normAutofit/>
          </a:bodyPr>
          <a:lstStyle/>
          <a:p>
            <a:pPr algn="l" indent="0" marL="0">
              <a:lnSpc>
                <a:spcPts val="928"/>
              </a:lnSpc>
              <a:buNone/>
            </a:pPr>
            <a:r>
              <a:rPr lang="en-US" sz="800" b="1" spc="34" kern="0" dirty="0">
                <a:solidFill>
                  <a:srgbClr val="B8942E"/>
                </a:solidFill>
                <a:latin typeface="Carlito" pitchFamily="34" charset="0"/>
                <a:ea typeface="Carlito" pitchFamily="34" charset="-122"/>
                <a:cs typeface="Carlito" pitchFamily="34" charset="-120"/>
              </a:rPr>
              <a:t>◆ DIN UPPGIFT SOM INVESTERARE</a:t>
            </a:r>
            <a:endParaRPr lang="en-US" sz="800" dirty="0"/>
          </a:p>
        </p:txBody>
      </p:sp>
      <p:sp>
        <p:nvSpPr>
          <p:cNvPr id="21" name="Text 18"/>
          <p:cNvSpPr/>
          <p:nvPr/>
        </p:nvSpPr>
        <p:spPr>
          <a:xfrm>
            <a:off x="539353"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22" name="Text 19"/>
          <p:cNvSpPr/>
          <p:nvPr/>
        </p:nvSpPr>
        <p:spPr>
          <a:xfrm>
            <a:off x="773646" y="4956088"/>
            <a:ext cx="833810" cy="128016"/>
          </a:xfrm>
          <a:prstGeom prst="rect">
            <a:avLst/>
          </a:prstGeom>
          <a:noFill/>
          <a:ln/>
        </p:spPr>
        <p:txBody>
          <a:bodyPr wrap="none" lIns="0" tIns="0" rIns="0" bIns="0" rtlCol="0" anchor="t"/>
          <a:lstStyle/>
          <a:p>
            <a:pPr algn="ctr" indent="0" marL="0">
              <a:lnSpc>
                <a:spcPts val="911"/>
              </a:lnSpc>
              <a:buNone/>
            </a:pPr>
            <a:r>
              <a:rPr lang="en-US" sz="675" dirty="0">
                <a:solidFill>
                  <a:srgbClr val="3D4556"/>
                </a:solidFill>
                <a:latin typeface="Carlito" pitchFamily="34" charset="0"/>
                <a:ea typeface="Carlito" pitchFamily="34" charset="-122"/>
                <a:cs typeface="Carlito" pitchFamily="34" charset="-120"/>
              </a:rPr>
              <a:t>Hämta årsredovisning</a:t>
            </a:r>
            <a:endParaRPr lang="en-US" sz="675" dirty="0"/>
          </a:p>
        </p:txBody>
      </p:sp>
      <p:sp>
        <p:nvSpPr>
          <p:cNvPr id="23" name="Text 20"/>
          <p:cNvSpPr/>
          <p:nvPr/>
        </p:nvSpPr>
        <p:spPr>
          <a:xfrm>
            <a:off x="600075"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1</a:t>
            </a:r>
            <a:endParaRPr lang="en-US" sz="800" dirty="0"/>
          </a:p>
        </p:txBody>
      </p:sp>
      <p:sp>
        <p:nvSpPr>
          <p:cNvPr id="24" name="Text 21"/>
          <p:cNvSpPr/>
          <p:nvPr/>
        </p:nvSpPr>
        <p:spPr>
          <a:xfrm>
            <a:off x="1891866"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25" name="Text 22"/>
          <p:cNvSpPr/>
          <p:nvPr/>
        </p:nvSpPr>
        <p:spPr>
          <a:xfrm>
            <a:off x="2097584" y="4956088"/>
            <a:ext cx="891071" cy="128016"/>
          </a:xfrm>
          <a:prstGeom prst="rect">
            <a:avLst/>
          </a:prstGeom>
          <a:noFill/>
          <a:ln/>
        </p:spPr>
        <p:txBody>
          <a:bodyPr wrap="none" lIns="0" tIns="0" rIns="0" bIns="0" rtlCol="0" anchor="t"/>
          <a:lstStyle/>
          <a:p>
            <a:pPr algn="ctr" indent="0" marL="0">
              <a:lnSpc>
                <a:spcPts val="911"/>
              </a:lnSpc>
              <a:buNone/>
            </a:pPr>
            <a:r>
              <a:rPr lang="en-US" sz="675" dirty="0">
                <a:solidFill>
                  <a:srgbClr val="3D4556"/>
                </a:solidFill>
                <a:latin typeface="Liberation Sans Narrow" pitchFamily="34" charset="0"/>
                <a:ea typeface="Liberation Sans Narrow" pitchFamily="34" charset="-122"/>
                <a:cs typeface="Liberation Sans Narrow" pitchFamily="34" charset="-120"/>
              </a:rPr>
              <a:t>Gå igenom 19 variabler</a:t>
            </a:r>
            <a:endParaRPr lang="en-US" sz="675" dirty="0"/>
          </a:p>
        </p:txBody>
      </p:sp>
      <p:sp>
        <p:nvSpPr>
          <p:cNvPr id="26" name="Text 23"/>
          <p:cNvSpPr/>
          <p:nvPr/>
        </p:nvSpPr>
        <p:spPr>
          <a:xfrm>
            <a:off x="1952588"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2</a:t>
            </a:r>
            <a:endParaRPr lang="en-US" sz="800" dirty="0"/>
          </a:p>
        </p:txBody>
      </p:sp>
      <p:sp>
        <p:nvSpPr>
          <p:cNvPr id="27" name="Text 24"/>
          <p:cNvSpPr/>
          <p:nvPr/>
        </p:nvSpPr>
        <p:spPr>
          <a:xfrm>
            <a:off x="3244379"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28" name="Text 25"/>
          <p:cNvSpPr/>
          <p:nvPr/>
        </p:nvSpPr>
        <p:spPr>
          <a:xfrm>
            <a:off x="3532094" y="4956088"/>
            <a:ext cx="726965" cy="128016"/>
          </a:xfrm>
          <a:prstGeom prst="rect">
            <a:avLst/>
          </a:prstGeom>
          <a:noFill/>
          <a:ln/>
        </p:spPr>
        <p:txBody>
          <a:bodyPr wrap="none" lIns="0" tIns="0" rIns="0" bIns="0" rtlCol="0" anchor="t"/>
          <a:lstStyle/>
          <a:p>
            <a:pPr algn="ctr" indent="0" marL="0">
              <a:lnSpc>
                <a:spcPts val="911"/>
              </a:lnSpc>
              <a:buNone/>
            </a:pPr>
            <a:r>
              <a:rPr lang="en-US" sz="675" dirty="0">
                <a:solidFill>
                  <a:srgbClr val="3D4556"/>
                </a:solidFill>
                <a:latin typeface="Liberation Sans Narrow" pitchFamily="34" charset="0"/>
                <a:ea typeface="Liberation Sans Narrow" pitchFamily="34" charset="-122"/>
                <a:cs typeface="Liberation Sans Narrow" pitchFamily="34" charset="-120"/>
              </a:rPr>
              <a:t>Sätt poäng 1–5</a:t>
            </a:r>
            <a:endParaRPr lang="en-US" sz="675" dirty="0"/>
          </a:p>
        </p:txBody>
      </p:sp>
      <p:sp>
        <p:nvSpPr>
          <p:cNvPr id="29" name="Text 26"/>
          <p:cNvSpPr/>
          <p:nvPr/>
        </p:nvSpPr>
        <p:spPr>
          <a:xfrm>
            <a:off x="3305101"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3</a:t>
            </a:r>
            <a:endParaRPr lang="en-US" sz="800" dirty="0"/>
          </a:p>
        </p:txBody>
      </p:sp>
      <p:sp>
        <p:nvSpPr>
          <p:cNvPr id="30" name="Text 27"/>
          <p:cNvSpPr/>
          <p:nvPr/>
        </p:nvSpPr>
        <p:spPr>
          <a:xfrm>
            <a:off x="4596892" y="4753273"/>
            <a:ext cx="1302618"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31" name="Text 28"/>
          <p:cNvSpPr/>
          <p:nvPr/>
        </p:nvSpPr>
        <p:spPr>
          <a:xfrm>
            <a:off x="4901859" y="4956088"/>
            <a:ext cx="692572" cy="128016"/>
          </a:xfrm>
          <a:prstGeom prst="rect">
            <a:avLst/>
          </a:prstGeom>
          <a:noFill/>
          <a:ln/>
        </p:spPr>
        <p:txBody>
          <a:bodyPr wrap="none" lIns="0" tIns="0" rIns="0" bIns="0" rtlCol="0" anchor="t"/>
          <a:lstStyle/>
          <a:p>
            <a:pPr algn="ctr" indent="0" marL="0">
              <a:lnSpc>
                <a:spcPts val="911"/>
              </a:lnSpc>
              <a:buNone/>
            </a:pPr>
            <a:r>
              <a:rPr lang="en-US" sz="675" dirty="0">
                <a:solidFill>
                  <a:srgbClr val="3D4556"/>
                </a:solidFill>
                <a:latin typeface="Carlito" pitchFamily="34" charset="0"/>
                <a:ea typeface="Carlito" pitchFamily="34" charset="-122"/>
                <a:cs typeface="Carlito" pitchFamily="34" charset="-120"/>
              </a:rPr>
              <a:t>Räkna snittet</a:t>
            </a:r>
            <a:endParaRPr lang="en-US" sz="675" dirty="0"/>
          </a:p>
        </p:txBody>
      </p:sp>
      <p:sp>
        <p:nvSpPr>
          <p:cNvPr id="32" name="Text 29"/>
          <p:cNvSpPr/>
          <p:nvPr/>
        </p:nvSpPr>
        <p:spPr>
          <a:xfrm>
            <a:off x="4657613" y="4799707"/>
            <a:ext cx="1181174"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4</a:t>
            </a:r>
            <a:endParaRPr lang="en-US" sz="800" dirty="0"/>
          </a:p>
        </p:txBody>
      </p:sp>
      <p:sp>
        <p:nvSpPr>
          <p:cNvPr id="33" name="Text 30"/>
          <p:cNvSpPr/>
          <p:nvPr/>
        </p:nvSpPr>
        <p:spPr>
          <a:xfrm>
            <a:off x="5949516"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34" name="Text 31"/>
          <p:cNvSpPr/>
          <p:nvPr/>
        </p:nvSpPr>
        <p:spPr>
          <a:xfrm>
            <a:off x="6262390" y="4956088"/>
            <a:ext cx="676647" cy="128016"/>
          </a:xfrm>
          <a:prstGeom prst="rect">
            <a:avLst/>
          </a:prstGeom>
          <a:noFill/>
          <a:ln/>
        </p:spPr>
        <p:txBody>
          <a:bodyPr wrap="square" lIns="0" tIns="0" rIns="0" bIns="0" rtlCol="0" anchor="t"/>
          <a:lstStyle/>
          <a:p>
            <a:pPr algn="ctr" indent="0" marL="0">
              <a:lnSpc>
                <a:spcPts val="911"/>
              </a:lnSpc>
              <a:buNone/>
            </a:pPr>
            <a:r>
              <a:rPr lang="en-US" sz="675" dirty="0">
                <a:solidFill>
                  <a:srgbClr val="3D4556"/>
                </a:solidFill>
                <a:latin typeface="Liberation Sans Narrow" pitchFamily="34" charset="0"/>
                <a:ea typeface="Liberation Sans Narrow" pitchFamily="34" charset="-122"/>
                <a:cs typeface="Liberation Sans Narrow" pitchFamily="34" charset="-120"/>
              </a:rPr>
              <a:t>Kontrollera var 19</a:t>
            </a:r>
            <a:endParaRPr lang="en-US" sz="675" dirty="0"/>
          </a:p>
        </p:txBody>
      </p:sp>
      <p:sp>
        <p:nvSpPr>
          <p:cNvPr id="35" name="Text 32"/>
          <p:cNvSpPr/>
          <p:nvPr/>
        </p:nvSpPr>
        <p:spPr>
          <a:xfrm>
            <a:off x="6010238"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5</a:t>
            </a:r>
            <a:endParaRPr lang="en-US" sz="800" dirty="0"/>
          </a:p>
        </p:txBody>
      </p:sp>
      <p:sp>
        <p:nvSpPr>
          <p:cNvPr id="36" name="Text 33"/>
          <p:cNvSpPr/>
          <p:nvPr/>
        </p:nvSpPr>
        <p:spPr>
          <a:xfrm>
            <a:off x="7302029"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37" name="Text 34"/>
          <p:cNvSpPr/>
          <p:nvPr/>
        </p:nvSpPr>
        <p:spPr>
          <a:xfrm>
            <a:off x="7491896" y="4956088"/>
            <a:ext cx="922660" cy="187412"/>
          </a:xfrm>
          <a:prstGeom prst="rect">
            <a:avLst/>
          </a:prstGeom>
          <a:noFill/>
          <a:ln/>
        </p:spPr>
        <p:txBody>
          <a:bodyPr wrap="square" lIns="57150" tIns="42863" rIns="57150" bIns="42863" rtlCol="0" anchor="t"/>
          <a:lstStyle/>
          <a:p>
            <a:pPr algn="ctr" indent="0" marL="0">
              <a:lnSpc>
                <a:spcPts val="911"/>
              </a:lnSpc>
              <a:buNone/>
            </a:pPr>
            <a:r>
              <a:rPr lang="en-US" sz="800" dirty="0">
                <a:solidFill>
                  <a:srgbClr val="3D4556"/>
                </a:solidFill>
                <a:latin typeface="Carlito" pitchFamily="34" charset="0"/>
                <a:ea typeface="Carlito" pitchFamily="34" charset="-122"/>
                <a:cs typeface="Carlito" pitchFamily="34" charset="-120"/>
              </a:rPr>
              <a:t>AKUMULERA / VÄNTA / UNDVIK</a:t>
            </a:r>
            <a:endParaRPr lang="en-US" sz="800" dirty="0"/>
          </a:p>
        </p:txBody>
      </p:sp>
      <p:sp>
        <p:nvSpPr>
          <p:cNvPr id="38" name="Text 35"/>
          <p:cNvSpPr/>
          <p:nvPr/>
        </p:nvSpPr>
        <p:spPr>
          <a:xfrm>
            <a:off x="7362751"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6</a:t>
            </a:r>
            <a:endParaRPr lang="en-US" sz="800" dirty="0"/>
          </a:p>
        </p:txBody>
      </p:sp>
      <p:sp>
        <p:nvSpPr>
          <p:cNvPr id="39" name="Shape 36"/>
          <p:cNvSpPr/>
          <p:nvPr/>
        </p:nvSpPr>
        <p:spPr>
          <a:xfrm>
            <a:off x="457200" y="4850606"/>
            <a:ext cx="8229600" cy="0"/>
          </a:xfrm>
          <a:prstGeom prst="line">
            <a:avLst/>
          </a:prstGeom>
          <a:noFill/>
          <a:ln w="7144">
            <a:solidFill>
              <a:srgbClr val="E2E5EA"/>
            </a:solidFill>
            <a:prstDash val="solid"/>
          </a:ln>
        </p:spPr>
      </p:sp>
      <p:sp>
        <p:nvSpPr>
          <p:cNvPr id="40" name="Text 37"/>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Carlito" pitchFamily="34" charset="0"/>
                <a:ea typeface="Carlito" pitchFamily="34" charset="-122"/>
                <a:cs typeface="Carlito" pitchFamily="34" charset="-120"/>
              </a:rPr>
              <a:t>Introduktion</a:t>
            </a:r>
            <a:endParaRPr lang="en-US" sz="800" dirty="0"/>
          </a:p>
        </p:txBody>
      </p:sp>
      <p:sp>
        <p:nvSpPr>
          <p:cNvPr id="41" name="Text 38"/>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4 / 40</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770726" y="342900"/>
            <a:ext cx="916074" cy="259296"/>
          </a:xfrm>
          <a:prstGeom prst="rect">
            <a:avLst/>
          </a:prstGeom>
          <a:noFill/>
          <a:ln/>
        </p:spPr>
        <p:txBody>
          <a:bodyPr wrap="none" lIns="0" tIns="0" rIns="0" bIns="0" rtlCol="0" anchor="ctr"/>
          <a:lstStyle/>
          <a:p>
            <a:pPr algn="ctr" indent="0" marL="0">
              <a:buNone/>
            </a:pPr>
            <a:r>
              <a:rPr lang="en-US" sz="1238" spc="563" kern="0" dirty="0">
                <a:solidFill>
                  <a:srgbClr val="B8942E"/>
                </a:solidFill>
                <a:latin typeface="Segoe UI Symbol" pitchFamily="34" charset="0"/>
                <a:ea typeface="Segoe UI Symbol" pitchFamily="34" charset="-122"/>
                <a:cs typeface="Segoe UI Symbol" pitchFamily="34" charset="-120"/>
              </a:rPr>
              <a:t>◆ ◆ ◆</a:t>
            </a:r>
            <a:endParaRPr lang="en-US" sz="1238" dirty="0"/>
          </a:p>
        </p:txBody>
      </p:sp>
      <p:sp>
        <p:nvSpPr>
          <p:cNvPr id="5" name="Text 1"/>
          <p:cNvSpPr/>
          <p:nvPr/>
        </p:nvSpPr>
        <p:spPr>
          <a:xfrm>
            <a:off x="571500" y="1123578"/>
            <a:ext cx="8572500" cy="1001268"/>
          </a:xfrm>
          <a:prstGeom prst="rect">
            <a:avLst/>
          </a:prstGeom>
          <a:noFill/>
          <a:ln/>
        </p:spPr>
        <p:txBody>
          <a:bodyPr wrap="none" lIns="0" tIns="0" rIns="0" bIns="0" rtlCol="0" anchor="t">
            <a:normAutofit/>
          </a:bodyPr>
          <a:lstStyle/>
          <a:p>
            <a:pPr algn="l" indent="0" marL="0">
              <a:lnSpc>
                <a:spcPts val="8100"/>
              </a:lnSpc>
              <a:buNone/>
            </a:pPr>
            <a:r>
              <a:rPr lang="en-US" sz="9000" b="1" spc="-225" kern="0" dirty="0">
                <a:solidFill>
                  <a:srgbClr val="D4A832">
                    <a:alpha val="85000"/>
                  </a:srgbClr>
                </a:solidFill>
                <a:latin typeface="Liberation Sans Narrow" pitchFamily="34" charset="0"/>
                <a:ea typeface="Liberation Sans Narrow" pitchFamily="34" charset="-122"/>
                <a:cs typeface="Liberation Sans Narrow" pitchFamily="34" charset="-120"/>
              </a:rPr>
              <a:t>01</a:t>
            </a:r>
            <a:endParaRPr lang="en-US" sz="9000" dirty="0"/>
          </a:p>
        </p:txBody>
      </p:sp>
      <p:sp>
        <p:nvSpPr>
          <p:cNvPr id="6" name="Text 2"/>
          <p:cNvSpPr/>
          <p:nvPr/>
        </p:nvSpPr>
        <p:spPr>
          <a:xfrm>
            <a:off x="571500" y="2152278"/>
            <a:ext cx="85725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1 AV 6</a:t>
            </a:r>
            <a:endParaRPr lang="en-US" sz="800" dirty="0"/>
          </a:p>
        </p:txBody>
      </p:sp>
      <p:sp>
        <p:nvSpPr>
          <p:cNvPr id="7" name="Text 3"/>
          <p:cNvSpPr/>
          <p:nvPr/>
        </p:nvSpPr>
        <p:spPr>
          <a:xfrm>
            <a:off x="571500" y="2491160"/>
            <a:ext cx="457200" cy="21431"/>
          </a:xfrm>
          <a:prstGeom prst="roundRect">
            <a:avLst>
              <a:gd name="adj" fmla="val 88890"/>
            </a:avLst>
          </a:prstGeom>
          <a:solidFill>
            <a:srgbClr val="D4A832"/>
          </a:solidFill>
          <a:ln/>
        </p:spPr>
        <p:txBody>
          <a:bodyPr wrap="square" rtlCol="0" anchor="ctr"/>
          <a:lstStyle/>
          <a:p>
            <a:pPr indent="0" marL="0">
              <a:buNone/>
            </a:pPr>
            <a:endParaRPr lang="en-US" dirty="0"/>
          </a:p>
        </p:txBody>
      </p:sp>
      <p:sp>
        <p:nvSpPr>
          <p:cNvPr id="8" name="Text 4"/>
          <p:cNvSpPr/>
          <p:nvPr/>
        </p:nvSpPr>
        <p:spPr>
          <a:xfrm>
            <a:off x="571500" y="2698328"/>
            <a:ext cx="6943725" cy="441216"/>
          </a:xfrm>
          <a:prstGeom prst="rect">
            <a:avLst/>
          </a:prstGeom>
          <a:noFill/>
          <a:ln/>
        </p:spPr>
        <p:txBody>
          <a:bodyPr wrap="square" lIns="0" tIns="0" rIns="0" bIns="0" rtlCol="0" anchor="t"/>
          <a:lstStyle/>
          <a:p>
            <a:pPr algn="l" indent="0" marL="0">
              <a:lnSpc>
                <a:spcPts val="3218"/>
              </a:lnSpc>
              <a:buNone/>
            </a:pPr>
            <a:r>
              <a:rPr lang="en-US" sz="2925" b="1" spc="-45" kern="0" dirty="0">
                <a:solidFill>
                  <a:srgbClr val="FFFFFF"/>
                </a:solidFill>
                <a:latin typeface="Carlito" pitchFamily="34" charset="0"/>
                <a:ea typeface="Carlito" pitchFamily="34" charset="-122"/>
                <a:cs typeface="Carlito" pitchFamily="34" charset="-120"/>
              </a:rPr>
              <a:t>Värdering — Är aktien billig?</a:t>
            </a:r>
            <a:endParaRPr lang="en-US" sz="2925" dirty="0"/>
          </a:p>
        </p:txBody>
      </p:sp>
      <p:sp>
        <p:nvSpPr>
          <p:cNvPr id="9" name="Text 5"/>
          <p:cNvSpPr/>
          <p:nvPr/>
        </p:nvSpPr>
        <p:spPr>
          <a:xfrm>
            <a:off x="571500" y="3221162"/>
            <a:ext cx="5857875" cy="419517"/>
          </a:xfrm>
          <a:prstGeom prst="rect">
            <a:avLst/>
          </a:prstGeom>
          <a:noFill/>
          <a:ln/>
        </p:spPr>
        <p:txBody>
          <a:bodyPr wrap="square" lIns="0" tIns="0" rIns="0" bIns="0" rtlCol="0" anchor="t"/>
          <a:lstStyle/>
          <a:p>
            <a:pPr algn="l" indent="0" marL="0">
              <a:lnSpc>
                <a:spcPts val="1530"/>
              </a:lnSpc>
              <a:buNone/>
            </a:pPr>
            <a:r>
              <a:rPr lang="en-US" sz="956" dirty="0">
                <a:solidFill>
                  <a:srgbClr val="B8C4D4"/>
                </a:solidFill>
                <a:latin typeface="Carlito" pitchFamily="34" charset="0"/>
                <a:ea typeface="Carlito" pitchFamily="34" charset="-122"/>
                <a:cs typeface="Carlito" pitchFamily="34" charset="-120"/>
              </a:rPr>
              <a:t>3 variabler som mäter om aktiepriset är lågt eller högt. Enkelt: jämför med andra bolag. P/S = pris per omsättningskrona, P/B = pris per bokfört värde, EV/EBITDA = pris justerat för skulder.</a:t>
            </a:r>
            <a:endParaRPr lang="en-US" sz="956" dirty="0"/>
          </a:p>
        </p:txBody>
      </p:sp>
      <p:sp>
        <p:nvSpPr>
          <p:cNvPr id="10" name="Text 6"/>
          <p:cNvSpPr/>
          <p:nvPr/>
        </p:nvSpPr>
        <p:spPr>
          <a:xfrm>
            <a:off x="571500" y="3753964"/>
            <a:ext cx="546274"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1" name="Text 7"/>
          <p:cNvSpPr/>
          <p:nvPr/>
        </p:nvSpPr>
        <p:spPr>
          <a:xfrm>
            <a:off x="571500" y="3766765"/>
            <a:ext cx="581992"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1.</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P/S</a:t>
            </a:r>
            <a:endParaRPr lang="en-US" sz="800" dirty="0"/>
          </a:p>
        </p:txBody>
      </p:sp>
      <p:sp>
        <p:nvSpPr>
          <p:cNvPr id="12" name="Text 8"/>
          <p:cNvSpPr/>
          <p:nvPr/>
        </p:nvSpPr>
        <p:spPr>
          <a:xfrm>
            <a:off x="1189211" y="3753964"/>
            <a:ext cx="551297"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3" name="Text 9"/>
          <p:cNvSpPr/>
          <p:nvPr/>
        </p:nvSpPr>
        <p:spPr>
          <a:xfrm>
            <a:off x="1189211" y="3766765"/>
            <a:ext cx="587015"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2.</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P/B</a:t>
            </a:r>
            <a:endParaRPr lang="en-US" sz="800" dirty="0"/>
          </a:p>
        </p:txBody>
      </p:sp>
      <p:sp>
        <p:nvSpPr>
          <p:cNvPr id="14" name="Text 10"/>
          <p:cNvSpPr/>
          <p:nvPr/>
        </p:nvSpPr>
        <p:spPr>
          <a:xfrm>
            <a:off x="1811945" y="3753964"/>
            <a:ext cx="913284"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5" name="Text 11"/>
          <p:cNvSpPr/>
          <p:nvPr/>
        </p:nvSpPr>
        <p:spPr>
          <a:xfrm>
            <a:off x="1811945" y="3766765"/>
            <a:ext cx="6760555"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3.</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EV/EBITDA</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VÄRDERING</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 · 06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 P/S — Price-to-Sales</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VAD KOSTAR BOLAGET JÄMFÖRT MED VAD DE SÄLJER?</a:t>
            </a:r>
            <a:endParaRPr lang="en-US" sz="844" dirty="0"/>
          </a:p>
        </p:txBody>
      </p:sp>
      <p:sp>
        <p:nvSpPr>
          <p:cNvPr id="7" name="Text 5"/>
          <p:cNvSpPr/>
          <p:nvPr/>
        </p:nvSpPr>
        <p:spPr>
          <a:xfrm>
            <a:off x="432197" y="1163650"/>
            <a:ext cx="8279606" cy="490463"/>
          </a:xfrm>
          <a:prstGeom prst="roundRect">
            <a:avLst>
              <a:gd name="adj" fmla="val 11652"/>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182165" cy="153952"/>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P/S = Bolagets värde / Omsättning</a:t>
            </a:r>
            <a:endParaRPr lang="en-US" sz="900" dirty="0"/>
          </a:p>
        </p:txBody>
      </p:sp>
      <p:sp>
        <p:nvSpPr>
          <p:cNvPr id="9" name="Text 7"/>
          <p:cNvSpPr/>
          <p:nvPr/>
        </p:nvSpPr>
        <p:spPr>
          <a:xfrm>
            <a:off x="535781" y="1420044"/>
            <a:ext cx="8072438"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hur mycket betalar du per krona som bolaget säljer?</a:t>
            </a:r>
            <a:endParaRPr lang="en-US" sz="800" dirty="0"/>
          </a:p>
        </p:txBody>
      </p:sp>
      <p:sp>
        <p:nvSpPr>
          <p:cNvPr id="10" name="Text 8"/>
          <p:cNvSpPr/>
          <p:nvPr/>
        </p:nvSpPr>
        <p:spPr>
          <a:xfrm>
            <a:off x="428625" y="1743410"/>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9"/>
          <p:cNvSpPr/>
          <p:nvPr/>
        </p:nvSpPr>
        <p:spPr>
          <a:xfrm>
            <a:off x="439341" y="1743410"/>
            <a:ext cx="0" cy="1892424"/>
          </a:xfrm>
          <a:prstGeom prst="line">
            <a:avLst/>
          </a:prstGeom>
          <a:noFill/>
          <a:ln w="21431">
            <a:solidFill>
              <a:srgbClr val="2563EB"/>
            </a:solidFill>
            <a:prstDash val="solid"/>
          </a:ln>
        </p:spPr>
      </p:sp>
      <p:sp>
        <p:nvSpPr>
          <p:cNvPr id="12" name="Text 10"/>
          <p:cNvSpPr/>
          <p:nvPr/>
        </p:nvSpPr>
        <p:spPr>
          <a:xfrm>
            <a:off x="550069" y="1814847"/>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3" name="Text 11"/>
          <p:cNvSpPr/>
          <p:nvPr/>
        </p:nvSpPr>
        <p:spPr>
          <a:xfrm>
            <a:off x="550069" y="1999134"/>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säljer pizzor för 1 miljon om året. Du betalar 2 miljon för pizzerian.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P/S = 2.</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Du betalar 2 kronor för varje krona pizzerian säljer.</a:t>
            </a:r>
            <a:endParaRPr lang="en-US" sz="816" dirty="0"/>
          </a:p>
        </p:txBody>
      </p:sp>
      <p:sp>
        <p:nvSpPr>
          <p:cNvPr id="14" name="Text 12"/>
          <p:cNvSpPr/>
          <p:nvPr/>
        </p:nvSpPr>
        <p:spPr>
          <a:xfrm>
            <a:off x="550069" y="2351856"/>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Är det billigt? Jämför med andra pizzerior. Om snittet är 1,5x betalar du 33% premium. Kanske för att pizzerian har bra läge eller starkt varumärke.</a:t>
            </a:r>
            <a:endParaRPr lang="en-US" sz="816" dirty="0"/>
          </a:p>
        </p:txBody>
      </p:sp>
      <p:sp>
        <p:nvSpPr>
          <p:cNvPr id="15" name="Shape 13"/>
          <p:cNvSpPr/>
          <p:nvPr/>
        </p:nvSpPr>
        <p:spPr>
          <a:xfrm>
            <a:off x="4629150" y="2052377"/>
            <a:ext cx="4086225" cy="0"/>
          </a:xfrm>
          <a:prstGeom prst="line">
            <a:avLst/>
          </a:prstGeom>
          <a:noFill/>
          <a:ln w="7144">
            <a:solidFill>
              <a:srgbClr val="E2E5EA"/>
            </a:solidFill>
            <a:prstDash val="solid"/>
          </a:ln>
        </p:spPr>
      </p:sp>
      <p:sp>
        <p:nvSpPr>
          <p:cNvPr id="16" name="Text 14"/>
          <p:cNvSpPr/>
          <p:nvPr/>
        </p:nvSpPr>
        <p:spPr>
          <a:xfrm>
            <a:off x="4629150" y="1843422"/>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29150" y="2084524"/>
          <a:ext cx="4086225" cy="914400"/>
        </p:xfrm>
        <a:graphic>
          <a:graphicData uri="http://schemas.openxmlformats.org/drawingml/2006/table">
            <a:tbl>
              <a:tblPr/>
              <a:tblGrid>
                <a:gridCol w="856692"/>
                <a:gridCol w="1978707"/>
                <a:gridCol w="1250826"/>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P/S (vs bransch)</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50%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50–90%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Rätt prissatt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110–150%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150%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8" name="Text 15"/>
          <p:cNvSpPr/>
          <p:nvPr/>
        </p:nvSpPr>
        <p:spPr>
          <a:xfrm>
            <a:off x="432197" y="3725131"/>
            <a:ext cx="8279606" cy="504527"/>
          </a:xfrm>
          <a:prstGeom prst="roundRect">
            <a:avLst>
              <a:gd name="adj" fmla="val 1132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19" name="Text 16"/>
          <p:cNvSpPr/>
          <p:nvPr/>
        </p:nvSpPr>
        <p:spPr>
          <a:xfrm>
            <a:off x="535781" y="3800140"/>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0" name="Text 17"/>
          <p:cNvSpPr/>
          <p:nvPr/>
        </p:nvSpPr>
        <p:spPr>
          <a:xfrm>
            <a:off x="535781" y="3990342"/>
            <a:ext cx="8072438" cy="164306"/>
          </a:xfrm>
          <a:prstGeom prst="rect">
            <a:avLst/>
          </a:prstGeom>
          <a:noFill/>
          <a:ln/>
        </p:spPr>
        <p:txBody>
          <a:bodyPr wrap="square" lIns="0" tIns="0" rIns="0" bIns="0" rtlCol="0" anchor="t"/>
          <a:lstStyle/>
          <a:p>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Safestate: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P/S 5,1x</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Branschsnitt: 5,8x. Safestate är 12% billigare än branschsnitt. Poäng: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3–4</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(rättvädert till lite billigt).</a:t>
            </a:r>
            <a:endParaRPr lang="en-US" sz="800" dirty="0"/>
          </a:p>
        </p:txBody>
      </p:sp>
      <p:sp>
        <p:nvSpPr>
          <p:cNvPr id="21" name="Text 18"/>
          <p:cNvSpPr/>
          <p:nvPr/>
        </p:nvSpPr>
        <p:spPr>
          <a:xfrm>
            <a:off x="428625" y="4276092"/>
            <a:ext cx="8286750" cy="679884"/>
          </a:xfrm>
          <a:prstGeom prst="rect">
            <a:avLst/>
          </a:prstGeom>
          <a:solidFill>
            <a:srgbClr val="B8942E">
              <a:alpha val="6000"/>
            </a:srgbClr>
          </a:solidFill>
          <a:ln/>
        </p:spPr>
        <p:txBody>
          <a:bodyPr wrap="square" rtlCol="0" anchor="ctr"/>
          <a:lstStyle/>
          <a:p>
            <a:pPr indent="0" marL="0">
              <a:buNone/>
            </a:pPr>
            <a:endParaRPr lang="en-US" dirty="0"/>
          </a:p>
        </p:txBody>
      </p:sp>
      <p:sp>
        <p:nvSpPr>
          <p:cNvPr id="22" name="Shape 19"/>
          <p:cNvSpPr/>
          <p:nvPr/>
        </p:nvSpPr>
        <p:spPr>
          <a:xfrm>
            <a:off x="439341" y="4276092"/>
            <a:ext cx="0" cy="679884"/>
          </a:xfrm>
          <a:prstGeom prst="line">
            <a:avLst/>
          </a:prstGeom>
          <a:noFill/>
          <a:ln w="21431">
            <a:solidFill>
              <a:srgbClr val="B8942E"/>
            </a:solidFill>
            <a:prstDash val="solid"/>
          </a:ln>
        </p:spPr>
      </p:sp>
      <p:sp>
        <p:nvSpPr>
          <p:cNvPr id="23" name="Text 20"/>
          <p:cNvSpPr/>
          <p:nvPr/>
        </p:nvSpPr>
        <p:spPr>
          <a:xfrm>
            <a:off x="550069" y="4347530"/>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4" name="Text 21"/>
          <p:cNvSpPr/>
          <p:nvPr/>
        </p:nvSpPr>
        <p:spPr>
          <a:xfrm>
            <a:off x="550069" y="4531816"/>
            <a:ext cx="8065294" cy="352723"/>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P/S används ofta för tech-bolag som inte har vinst ännu (t ex SaaS-bolag som växer snabbt).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Jämför ALLTID med samma bransch</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ett tech-bolag med P/S 5 kan vara billigt, ett industri-bolag med P/S 5 är dyrt.</a:t>
            </a:r>
            <a:endParaRPr lang="en-US" sz="816" dirty="0"/>
          </a:p>
        </p:txBody>
      </p:sp>
      <p:sp>
        <p:nvSpPr>
          <p:cNvPr id="25" name="Shape 22"/>
          <p:cNvSpPr/>
          <p:nvPr/>
        </p:nvSpPr>
        <p:spPr>
          <a:xfrm>
            <a:off x="457200" y="4850606"/>
            <a:ext cx="8229600" cy="0"/>
          </a:xfrm>
          <a:prstGeom prst="line">
            <a:avLst/>
          </a:prstGeom>
          <a:noFill/>
          <a:ln w="7144">
            <a:solidFill>
              <a:srgbClr val="E2E5EA"/>
            </a:solidFill>
            <a:prstDash val="solid"/>
          </a:ln>
        </p:spPr>
      </p:sp>
      <p:sp>
        <p:nvSpPr>
          <p:cNvPr id="26" name="Text 23"/>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1 — Värdering</a:t>
            </a:r>
            <a:endParaRPr lang="en-US" sz="800" dirty="0"/>
          </a:p>
        </p:txBody>
      </p:sp>
      <p:sp>
        <p:nvSpPr>
          <p:cNvPr id="27" name="Text 24"/>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6 / 40</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VÄRDERING</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2 · 07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2: P/B — Price-to-Book</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VAD KOSTAR BOLAGET JÄMFÖRT MED VAD DET ÄGER?</a:t>
            </a:r>
            <a:endParaRPr lang="en-US" sz="844" dirty="0"/>
          </a:p>
        </p:txBody>
      </p:sp>
      <p:sp>
        <p:nvSpPr>
          <p:cNvPr id="7" name="Text 5"/>
          <p:cNvSpPr/>
          <p:nvPr/>
        </p:nvSpPr>
        <p:spPr>
          <a:xfrm>
            <a:off x="432197" y="1163650"/>
            <a:ext cx="8279606" cy="490463"/>
          </a:xfrm>
          <a:prstGeom prst="roundRect">
            <a:avLst>
              <a:gd name="adj" fmla="val 11652"/>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182165" cy="153952"/>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P/B = Bolagets värde / Eget kapital</a:t>
            </a:r>
            <a:endParaRPr lang="en-US" sz="900" dirty="0"/>
          </a:p>
        </p:txBody>
      </p:sp>
      <p:sp>
        <p:nvSpPr>
          <p:cNvPr id="9" name="Text 7"/>
          <p:cNvSpPr/>
          <p:nvPr/>
        </p:nvSpPr>
        <p:spPr>
          <a:xfrm>
            <a:off x="535781" y="1420044"/>
            <a:ext cx="8182165"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vad betalar du för bolagets tillgångar?</a:t>
            </a:r>
            <a:endParaRPr lang="en-US" sz="800" dirty="0"/>
          </a:p>
        </p:txBody>
      </p:sp>
      <p:sp>
        <p:nvSpPr>
          <p:cNvPr id="10" name="Text 8"/>
          <p:cNvSpPr/>
          <p:nvPr/>
        </p:nvSpPr>
        <p:spPr>
          <a:xfrm>
            <a:off x="428625" y="1743410"/>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9"/>
          <p:cNvSpPr/>
          <p:nvPr/>
        </p:nvSpPr>
        <p:spPr>
          <a:xfrm>
            <a:off x="439341" y="1743410"/>
            <a:ext cx="0" cy="1892424"/>
          </a:xfrm>
          <a:prstGeom prst="line">
            <a:avLst/>
          </a:prstGeom>
          <a:noFill/>
          <a:ln w="21431">
            <a:solidFill>
              <a:srgbClr val="2563EB"/>
            </a:solidFill>
            <a:prstDash val="solid"/>
          </a:ln>
        </p:spPr>
      </p:sp>
      <p:sp>
        <p:nvSpPr>
          <p:cNvPr id="12" name="Text 10"/>
          <p:cNvSpPr/>
          <p:nvPr/>
        </p:nvSpPr>
        <p:spPr>
          <a:xfrm>
            <a:off x="550069" y="1814847"/>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3" name="Text 11"/>
          <p:cNvSpPr/>
          <p:nvPr/>
        </p:nvSpPr>
        <p:spPr>
          <a:xfrm>
            <a:off x="550069" y="1999134"/>
            <a:ext cx="3864769" cy="490936"/>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äger ugn (50 000), inventarier (30 000) och kontanter (20 000) = 100 000 i eget kapital. Du betalar 200 000.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P/B = 2.</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Du betalar 2 kronor för varje krona bolaget äger.</a:t>
            </a:r>
            <a:endParaRPr lang="en-US" sz="816" dirty="0"/>
          </a:p>
        </p:txBody>
      </p:sp>
      <p:sp>
        <p:nvSpPr>
          <p:cNvPr id="14" name="Text 12"/>
          <p:cNvSpPr/>
          <p:nvPr/>
        </p:nvSpPr>
        <p:spPr>
          <a:xfrm>
            <a:off x="550069" y="2517502"/>
            <a:ext cx="3864769" cy="357795"/>
          </a:xfrm>
          <a:prstGeom prst="rect">
            <a:avLst/>
          </a:prstGeom>
          <a:noFill/>
          <a:ln/>
        </p:spPr>
        <p:txBody>
          <a:bodyPr wrap="square" lIns="0" tIns="0" rIns="0" bIns="0" rtlCol="0" anchor="t"/>
          <a:lstStyle/>
          <a:p>
            <a:pPr algn="l" indent="0" marL="0">
              <a:lnSpc>
                <a:spcPts val="1305"/>
              </a:lnSpc>
              <a:buNone/>
            </a:pPr>
            <a:r>
              <a:rPr lang="en-US" sz="816" b="1" dirty="0">
                <a:solidFill>
                  <a:srgbClr val="059669"/>
                </a:solidFill>
                <a:latin typeface="Liberation Sans Narrow" pitchFamily="34" charset="0"/>
                <a:ea typeface="Liberation Sans Narrow" pitchFamily="34" charset="-122"/>
                <a:cs typeface="Liberation Sans Narrow" pitchFamily="34" charset="-120"/>
              </a:rPr>
              <a:t>Under 1</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du betalar mindre än bolaget äger = billigt!</a:t>
            </a:r>
            <a:endParaRPr lang="en-US" sz="816" dirty="0"/>
          </a:p>
          <a:p>
            <a:pPr algn="l" indent="0" marL="0">
              <a:lnSpc>
                <a:spcPts val="1305"/>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Över 3</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du betalar mycket för varumärke eller framtida tillväxt.</a:t>
            </a:r>
            <a:endParaRPr lang="en-US" sz="816" dirty="0"/>
          </a:p>
        </p:txBody>
      </p:sp>
      <p:sp>
        <p:nvSpPr>
          <p:cNvPr id="15" name="Shape 13"/>
          <p:cNvSpPr/>
          <p:nvPr/>
        </p:nvSpPr>
        <p:spPr>
          <a:xfrm>
            <a:off x="4629150" y="2052377"/>
            <a:ext cx="4086225" cy="0"/>
          </a:xfrm>
          <a:prstGeom prst="line">
            <a:avLst/>
          </a:prstGeom>
          <a:noFill/>
          <a:ln w="7144">
            <a:solidFill>
              <a:srgbClr val="E2E5EA"/>
            </a:solidFill>
            <a:prstDash val="solid"/>
          </a:ln>
        </p:spPr>
      </p:sp>
      <p:sp>
        <p:nvSpPr>
          <p:cNvPr id="16" name="Text 14"/>
          <p:cNvSpPr/>
          <p:nvPr/>
        </p:nvSpPr>
        <p:spPr>
          <a:xfrm>
            <a:off x="4629150" y="1843422"/>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29150" y="2084524"/>
          <a:ext cx="4086225" cy="914400"/>
        </p:xfrm>
        <a:graphic>
          <a:graphicData uri="http://schemas.openxmlformats.org/drawingml/2006/table">
            <a:tbl>
              <a:tblPr/>
              <a:tblGrid>
                <a:gridCol w="898773"/>
                <a:gridCol w="579537"/>
                <a:gridCol w="2607915"/>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P/B</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billigt (undervärderat)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Rättvädert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8" name="Text 15"/>
          <p:cNvSpPr/>
          <p:nvPr/>
        </p:nvSpPr>
        <p:spPr>
          <a:xfrm>
            <a:off x="432197" y="3725131"/>
            <a:ext cx="8279606" cy="654546"/>
          </a:xfrm>
          <a:prstGeom prst="roundRect">
            <a:avLst>
              <a:gd name="adj" fmla="val 8731"/>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19" name="Text 16"/>
          <p:cNvSpPr/>
          <p:nvPr/>
        </p:nvSpPr>
        <p:spPr>
          <a:xfrm>
            <a:off x="535781" y="3800140"/>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0" name="Text 17"/>
          <p:cNvSpPr/>
          <p:nvPr/>
        </p:nvSpPr>
        <p:spPr>
          <a:xfrm>
            <a:off x="535781" y="3990342"/>
            <a:ext cx="8072438" cy="314325"/>
          </a:xfrm>
          <a:prstGeom prst="rect">
            <a:avLst/>
          </a:prstGeom>
          <a:noFill/>
          <a:ln/>
        </p:spPr>
        <p:txBody>
          <a:bodyPr wrap="square" lIns="0" tIns="0" rIns="0" bIns="0" rtlCol="0" anchor="t"/>
          <a:lstStyle/>
          <a:p>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Safestate: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P/B 4,1x</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Poäng: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2</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(dyrt). Men: Safestate är ett tech-bolag — deras värde ligger i mjukvara och patent (immateriella), inte i fysiska tillgångar. För tech-bolag är P/B ofta högt och det är OK.</a:t>
            </a:r>
            <a:endParaRPr lang="en-US" sz="800" dirty="0"/>
          </a:p>
        </p:txBody>
      </p:sp>
      <p:sp>
        <p:nvSpPr>
          <p:cNvPr id="21" name="Text 18"/>
          <p:cNvSpPr/>
          <p:nvPr/>
        </p:nvSpPr>
        <p:spPr>
          <a:xfrm>
            <a:off x="428625" y="4426111"/>
            <a:ext cx="8286750" cy="514238"/>
          </a:xfrm>
          <a:prstGeom prst="rect">
            <a:avLst/>
          </a:prstGeom>
          <a:solidFill>
            <a:srgbClr val="B8942E">
              <a:alpha val="6000"/>
            </a:srgbClr>
          </a:solidFill>
          <a:ln/>
        </p:spPr>
        <p:txBody>
          <a:bodyPr wrap="square" rtlCol="0" anchor="ctr"/>
          <a:lstStyle/>
          <a:p>
            <a:pPr indent="0" marL="0">
              <a:buNone/>
            </a:pPr>
            <a:endParaRPr lang="en-US" dirty="0"/>
          </a:p>
        </p:txBody>
      </p:sp>
      <p:sp>
        <p:nvSpPr>
          <p:cNvPr id="22" name="Shape 19"/>
          <p:cNvSpPr/>
          <p:nvPr/>
        </p:nvSpPr>
        <p:spPr>
          <a:xfrm>
            <a:off x="439341" y="4426111"/>
            <a:ext cx="0" cy="514238"/>
          </a:xfrm>
          <a:prstGeom prst="line">
            <a:avLst/>
          </a:prstGeom>
          <a:noFill/>
          <a:ln w="21431">
            <a:solidFill>
              <a:srgbClr val="B8942E"/>
            </a:solidFill>
            <a:prstDash val="solid"/>
          </a:ln>
        </p:spPr>
      </p:sp>
      <p:sp>
        <p:nvSpPr>
          <p:cNvPr id="23" name="Text 20"/>
          <p:cNvSpPr/>
          <p:nvPr/>
        </p:nvSpPr>
        <p:spPr>
          <a:xfrm>
            <a:off x="550069" y="4497549"/>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NÄR P/B ÄR BRA ATT ANVÄNDA</a:t>
            </a:r>
            <a:endParaRPr lang="en-US" sz="800" dirty="0"/>
          </a:p>
        </p:txBody>
      </p:sp>
      <p:sp>
        <p:nvSpPr>
          <p:cNvPr id="24" name="Text 21"/>
          <p:cNvSpPr/>
          <p:nvPr/>
        </p:nvSpPr>
        <p:spPr>
          <a:xfrm>
            <a:off x="550069" y="4681835"/>
            <a:ext cx="8065294"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P/B är bäst för bolag med mycket fysiska tillgångar: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banker, fastighetsbolag, industri</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För tech-bolag är P/B mindra relevant — använd P/S eller EV/ARR istället.</a:t>
            </a:r>
            <a:endParaRPr lang="en-US" sz="816" dirty="0"/>
          </a:p>
        </p:txBody>
      </p:sp>
      <p:sp>
        <p:nvSpPr>
          <p:cNvPr id="25" name="Shape 22"/>
          <p:cNvSpPr/>
          <p:nvPr/>
        </p:nvSpPr>
        <p:spPr>
          <a:xfrm>
            <a:off x="457200" y="4850606"/>
            <a:ext cx="8229600" cy="0"/>
          </a:xfrm>
          <a:prstGeom prst="line">
            <a:avLst/>
          </a:prstGeom>
          <a:noFill/>
          <a:ln w="7144">
            <a:solidFill>
              <a:srgbClr val="E2E5EA"/>
            </a:solidFill>
            <a:prstDash val="solid"/>
          </a:ln>
        </p:spPr>
      </p:sp>
      <p:sp>
        <p:nvSpPr>
          <p:cNvPr id="26" name="Text 23"/>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1 — Värdering</a:t>
            </a:r>
            <a:endParaRPr lang="en-US" sz="800" dirty="0"/>
          </a:p>
        </p:txBody>
      </p:sp>
      <p:sp>
        <p:nvSpPr>
          <p:cNvPr id="27" name="Text 24"/>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7 / 40</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VÄRDERING</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3 · 08 / 40</a:t>
            </a:r>
            <a:endParaRPr lang="en-US" sz="619" dirty="0"/>
          </a:p>
        </p:txBody>
      </p:sp>
      <p:sp>
        <p:nvSpPr>
          <p:cNvPr id="5" name="Text 3"/>
          <p:cNvSpPr/>
          <p:nvPr/>
        </p:nvSpPr>
        <p:spPr>
          <a:xfrm>
            <a:off x="428625" y="608223"/>
            <a:ext cx="8636000" cy="247602"/>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3: EV/EBITDA</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VAD KOSTAR BOLAGET INKLUSIVE SKULDER?</a:t>
            </a:r>
            <a:endParaRPr lang="en-US" sz="844" dirty="0"/>
          </a:p>
        </p:txBody>
      </p:sp>
      <p:sp>
        <p:nvSpPr>
          <p:cNvPr id="7" name="Text 5"/>
          <p:cNvSpPr/>
          <p:nvPr/>
        </p:nvSpPr>
        <p:spPr>
          <a:xfrm>
            <a:off x="432197" y="1163650"/>
            <a:ext cx="8279606" cy="630548"/>
          </a:xfrm>
          <a:prstGeom prst="roundRect">
            <a:avLst>
              <a:gd name="adj" fmla="val 9064"/>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182165" cy="122587"/>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EV = Bolagets värde + Skulder</a:t>
            </a:r>
            <a:endParaRPr lang="en-US" sz="844" dirty="0"/>
          </a:p>
        </p:txBody>
      </p:sp>
      <p:sp>
        <p:nvSpPr>
          <p:cNvPr id="9" name="Text 7"/>
          <p:cNvSpPr/>
          <p:nvPr/>
        </p:nvSpPr>
        <p:spPr>
          <a:xfrm>
            <a:off x="535781" y="1388678"/>
            <a:ext cx="8072438" cy="144018"/>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EV/EBITDA = EV / EBITDA </a:t>
            </a:r>
            <a:pPr algn="l" indent="0" marL="0">
              <a:lnSpc>
                <a:spcPts val="1181"/>
              </a:lnSpc>
              <a:buNone/>
            </a:pPr>
            <a:r>
              <a:rPr lang="en-US" sz="800" b="1" dirty="0">
                <a:solidFill>
                  <a:srgbClr val="3D4556"/>
                </a:solidFill>
                <a:latin typeface="Courier New" pitchFamily="34" charset="0"/>
                <a:ea typeface="Courier New" pitchFamily="34" charset="-122"/>
                <a:cs typeface="Courier New" pitchFamily="34" charset="-120"/>
              </a:rPr>
              <a:t>(vinst före ränta, skatt, avskrivningar)</a:t>
            </a:r>
            <a:endParaRPr lang="en-US" sz="844" dirty="0"/>
          </a:p>
        </p:txBody>
      </p:sp>
      <p:sp>
        <p:nvSpPr>
          <p:cNvPr id="10" name="Text 8"/>
          <p:cNvSpPr/>
          <p:nvPr/>
        </p:nvSpPr>
        <p:spPr>
          <a:xfrm>
            <a:off x="535781" y="1560128"/>
            <a:ext cx="8072438"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vad betalar du för bolaget inklusive alla lån?</a:t>
            </a:r>
            <a:endParaRPr lang="en-US" sz="800" dirty="0"/>
          </a:p>
        </p:txBody>
      </p:sp>
      <p:sp>
        <p:nvSpPr>
          <p:cNvPr id="11" name="Text 9"/>
          <p:cNvSpPr/>
          <p:nvPr/>
        </p:nvSpPr>
        <p:spPr>
          <a:xfrm>
            <a:off x="428625" y="1883494"/>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2" name="Shape 10"/>
          <p:cNvSpPr/>
          <p:nvPr/>
        </p:nvSpPr>
        <p:spPr>
          <a:xfrm>
            <a:off x="439341" y="1883494"/>
            <a:ext cx="0" cy="1892424"/>
          </a:xfrm>
          <a:prstGeom prst="line">
            <a:avLst/>
          </a:prstGeom>
          <a:noFill/>
          <a:ln w="21431">
            <a:solidFill>
              <a:srgbClr val="2563EB"/>
            </a:solidFill>
            <a:prstDash val="solid"/>
          </a:ln>
        </p:spPr>
      </p:sp>
      <p:sp>
        <p:nvSpPr>
          <p:cNvPr id="13" name="Text 11"/>
          <p:cNvSpPr/>
          <p:nvPr/>
        </p:nvSpPr>
        <p:spPr>
          <a:xfrm>
            <a:off x="550069" y="1954932"/>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4" name="Text 12"/>
          <p:cNvSpPr/>
          <p:nvPr/>
        </p:nvSpPr>
        <p:spPr>
          <a:xfrm>
            <a:off x="550069" y="2139218"/>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kostar 200 000 att köpa, MEN den har 100 000 i lån. Total kostnad (EV) = 300 000. Pizzerian tjänar 50 000 om året (EBITDA).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EV/EBITDA = 300/50 = 6.</a:t>
            </a:r>
            <a:endParaRPr lang="en-US" sz="816" dirty="0"/>
          </a:p>
        </p:txBody>
      </p:sp>
      <p:sp>
        <p:nvSpPr>
          <p:cNvPr id="15" name="Text 13"/>
          <p:cNvSpPr/>
          <p:nvPr/>
        </p:nvSpPr>
        <p:spPr>
          <a:xfrm>
            <a:off x="550069" y="2491941"/>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Du betalar 6 års vinst för pizzerian.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Lägre</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snabbare tillbaka pengarna.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Högre</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längre tid.</a:t>
            </a:r>
            <a:endParaRPr lang="en-US" sz="816" dirty="0"/>
          </a:p>
        </p:txBody>
      </p:sp>
      <p:sp>
        <p:nvSpPr>
          <p:cNvPr id="16" name="Shape 14"/>
          <p:cNvSpPr/>
          <p:nvPr/>
        </p:nvSpPr>
        <p:spPr>
          <a:xfrm>
            <a:off x="4629150" y="2192462"/>
            <a:ext cx="4086225" cy="0"/>
          </a:xfrm>
          <a:prstGeom prst="line">
            <a:avLst/>
          </a:prstGeom>
          <a:noFill/>
          <a:ln w="7144">
            <a:solidFill>
              <a:srgbClr val="E2E5EA"/>
            </a:solidFill>
            <a:prstDash val="solid"/>
          </a:ln>
        </p:spPr>
      </p:sp>
      <p:sp>
        <p:nvSpPr>
          <p:cNvPr id="17" name="Text 15"/>
          <p:cNvSpPr/>
          <p:nvPr/>
        </p:nvSpPr>
        <p:spPr>
          <a:xfrm>
            <a:off x="4629150" y="1983507"/>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629150" y="2224608"/>
          <a:ext cx="4086225" cy="914400"/>
        </p:xfrm>
        <a:graphic>
          <a:graphicData uri="http://schemas.openxmlformats.org/drawingml/2006/table">
            <a:tbl>
              <a:tblPr/>
              <a:tblGrid>
                <a:gridCol w="1078818"/>
                <a:gridCol w="1432099"/>
                <a:gridCol w="1575308"/>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EV/EBITDA</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5–8</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8–12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Rättvädert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12–20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20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9" name="Text 16"/>
          <p:cNvSpPr/>
          <p:nvPr/>
        </p:nvSpPr>
        <p:spPr>
          <a:xfrm>
            <a:off x="432197" y="3865215"/>
            <a:ext cx="8279606" cy="504527"/>
          </a:xfrm>
          <a:prstGeom prst="roundRect">
            <a:avLst>
              <a:gd name="adj" fmla="val 1132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0" name="Text 17"/>
          <p:cNvSpPr/>
          <p:nvPr/>
        </p:nvSpPr>
        <p:spPr>
          <a:xfrm>
            <a:off x="535781" y="3940225"/>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1" name="Text 18"/>
          <p:cNvSpPr/>
          <p:nvPr/>
        </p:nvSpPr>
        <p:spPr>
          <a:xfrm>
            <a:off x="535781" y="4130427"/>
            <a:ext cx="8072438" cy="164306"/>
          </a:xfrm>
          <a:prstGeom prst="rect">
            <a:avLst/>
          </a:prstGeom>
          <a:noFill/>
          <a:ln/>
        </p:spPr>
        <p:txBody>
          <a:bodyPr wrap="square" lIns="0" tIns="0" rIns="0" bIns="0" rtlCol="0" anchor="t"/>
          <a:lstStyle/>
          <a:p>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Safestate: EBITDA negativ (−5,9 MSEK). EV/EBITDA kan ej beräknas. Poäng: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1 (n/a)</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För SaaS-bolag i tillväxtfas används EV/ARR istället.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Safestate EV/ARR = 4,8x.</a:t>
            </a:r>
            <a:endParaRPr lang="en-US" sz="788" dirty="0"/>
          </a:p>
        </p:txBody>
      </p:sp>
      <p:sp>
        <p:nvSpPr>
          <p:cNvPr id="22" name="Text 19"/>
          <p:cNvSpPr/>
          <p:nvPr/>
        </p:nvSpPr>
        <p:spPr>
          <a:xfrm>
            <a:off x="428625" y="4416177"/>
            <a:ext cx="8286750" cy="679884"/>
          </a:xfrm>
          <a:prstGeom prst="rect">
            <a:avLst/>
          </a:prstGeom>
          <a:solidFill>
            <a:srgbClr val="B8942E">
              <a:alpha val="6000"/>
            </a:srgbClr>
          </a:solidFill>
          <a:ln/>
        </p:spPr>
        <p:txBody>
          <a:bodyPr wrap="square" rtlCol="0" anchor="ctr"/>
          <a:lstStyle/>
          <a:p>
            <a:pPr indent="0" marL="0">
              <a:buNone/>
            </a:pPr>
            <a:endParaRPr lang="en-US" dirty="0"/>
          </a:p>
        </p:txBody>
      </p:sp>
      <p:sp>
        <p:nvSpPr>
          <p:cNvPr id="23" name="Shape 20"/>
          <p:cNvSpPr/>
          <p:nvPr/>
        </p:nvSpPr>
        <p:spPr>
          <a:xfrm>
            <a:off x="439341" y="4416177"/>
            <a:ext cx="0" cy="679884"/>
          </a:xfrm>
          <a:prstGeom prst="line">
            <a:avLst/>
          </a:prstGeom>
          <a:noFill/>
          <a:ln w="21431">
            <a:solidFill>
              <a:srgbClr val="B8942E"/>
            </a:solidFill>
            <a:prstDash val="solid"/>
          </a:ln>
        </p:spPr>
      </p:sp>
      <p:sp>
        <p:nvSpPr>
          <p:cNvPr id="24" name="Text 21"/>
          <p:cNvSpPr/>
          <p:nvPr/>
        </p:nvSpPr>
        <p:spPr>
          <a:xfrm>
            <a:off x="550069" y="4487614"/>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5" name="Text 22"/>
          <p:cNvSpPr/>
          <p:nvPr/>
        </p:nvSpPr>
        <p:spPr>
          <a:xfrm>
            <a:off x="550069" y="4671901"/>
            <a:ext cx="8065294" cy="352723"/>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EV/EBITDA är bra för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mogna bolag med vinst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För tillväxtbolag med negativ EBITDA (t ex SaaS i expansion) kan det ej beräknas — använd P/S eller EV/ARR istället. Ju lägre EV/EBITDA desto bättre — du får tillbaka pengarna snabbare.</a:t>
            </a:r>
            <a:endParaRPr lang="en-US" sz="816" dirty="0"/>
          </a:p>
        </p:txBody>
      </p:sp>
      <p:sp>
        <p:nvSpPr>
          <p:cNvPr id="26" name="Shape 23"/>
          <p:cNvSpPr/>
          <p:nvPr/>
        </p:nvSpPr>
        <p:spPr>
          <a:xfrm>
            <a:off x="457200" y="4850606"/>
            <a:ext cx="8229600" cy="0"/>
          </a:xfrm>
          <a:prstGeom prst="line">
            <a:avLst/>
          </a:prstGeom>
          <a:noFill/>
          <a:ln w="7144">
            <a:solidFill>
              <a:srgbClr val="E2E5EA"/>
            </a:solidFill>
            <a:prstDash val="solid"/>
          </a:ln>
        </p:spPr>
      </p:sp>
      <p:sp>
        <p:nvSpPr>
          <p:cNvPr id="27" name="Text 24"/>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1 — Värdering</a:t>
            </a:r>
            <a:endParaRPr lang="en-US" sz="800" dirty="0"/>
          </a:p>
        </p:txBody>
      </p:sp>
      <p:sp>
        <p:nvSpPr>
          <p:cNvPr id="28" name="Text 25"/>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8 / 40</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6981788"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VÄRDERING</a:t>
            </a:r>
            <a:endParaRPr lang="en-US" sz="800" dirty="0"/>
          </a:p>
        </p:txBody>
      </p:sp>
      <p:sp>
        <p:nvSpPr>
          <p:cNvPr id="4" name="Text 2"/>
          <p:cNvSpPr/>
          <p:nvPr/>
        </p:nvSpPr>
        <p:spPr>
          <a:xfrm>
            <a:off x="7424700" y="285750"/>
            <a:ext cx="1290675"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09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Värdering — sammanfattning</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3 VARIABLER SOM SVARAR PÅ: ÄR AKTIEN BILLIG?</a:t>
            </a:r>
            <a:endParaRPr lang="en-US" sz="844"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28625" y="1160078"/>
          <a:ext cx="8286750" cy="914400"/>
        </p:xfrm>
        <a:graphic>
          <a:graphicData uri="http://schemas.openxmlformats.org/drawingml/2006/table">
            <a:tbl>
              <a:tblPr/>
              <a:tblGrid>
                <a:gridCol w="285750"/>
                <a:gridCol w="1694073"/>
                <a:gridCol w="2813298"/>
                <a:gridCol w="500063"/>
                <a:gridCol w="2993566"/>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5,1x (vs 5,8x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Lite billigare än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P/B</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4,1x</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Dyrt (typiskt tech)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EV/EBITDA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n/a (negativ EBITDA)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Kan ej beräknas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32197" y="2340694"/>
            <a:ext cx="4079081" cy="1286768"/>
          </a:xfrm>
          <a:prstGeom prst="roundRect">
            <a:avLst>
              <a:gd name="adj" fmla="val 4441"/>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535781" y="2415704"/>
            <a:ext cx="3871913"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535781" y="2591619"/>
            <a:ext cx="3871913" cy="145804"/>
          </a:xfrm>
          <a:prstGeom prst="rect">
            <a:avLst/>
          </a:prstGeom>
          <a:noFill/>
          <a:ln/>
        </p:spPr>
        <p:txBody>
          <a:bodyPr wrap="square" lIns="0" tIns="0" rIns="0" bIns="0" rtlCol="0" anchor="t">
            <a:normAutofit/>
          </a:bodyPr>
          <a:lstStyle/>
          <a:p>
            <a:pPr algn="l" indent="0" marL="0">
              <a:lnSpc>
                <a:spcPts val="1139"/>
              </a:lnSpc>
              <a:buNone/>
            </a:pPr>
            <a:r>
              <a:rPr lang="en-US" sz="759" dirty="0">
                <a:solidFill>
                  <a:srgbClr val="1A1F2E"/>
                </a:solidFill>
                <a:latin typeface="Carlito" pitchFamily="34" charset="0"/>
                <a:ea typeface="Carlito" pitchFamily="34" charset="-122"/>
                <a:cs typeface="Carlito" pitchFamily="34" charset="-120"/>
              </a:rPr>
              <a:t>3 variabler mäter om aktien är billig. Olika variabler passar olika bolag:</a:t>
            </a:r>
            <a:endParaRPr lang="en-US" sz="759" dirty="0"/>
          </a:p>
        </p:txBody>
      </p:sp>
      <p:sp>
        <p:nvSpPr>
          <p:cNvPr id="11" name="Text 8"/>
          <p:cNvSpPr/>
          <p:nvPr/>
        </p:nvSpPr>
        <p:spPr>
          <a:xfrm>
            <a:off x="535781" y="2764854"/>
            <a:ext cx="3871913" cy="482310"/>
          </a:xfrm>
          <a:prstGeom prst="rect">
            <a:avLst/>
          </a:prstGeom>
          <a:noFill/>
          <a:ln/>
        </p:spPr>
        <p:txBody>
          <a:bodyPr wrap="square" lIns="21431" tIns="0" rIns="0" bIns="0" rtlCol="0" anchor="t"/>
          <a:lstStyle/>
          <a:p>
            <a:pPr algn="l" indent="0" marL="0">
              <a:lnSpc>
                <a:spcPts val="1139"/>
              </a:lnSpc>
              <a:spcAft>
                <a:spcPts val="56"/>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139"/>
              </a:lnSpc>
              <a:spcAft>
                <a:spcPts val="56"/>
              </a:spcAft>
              <a:buNone/>
            </a:pPr>
            <a:r>
              <a:rPr lang="en-US" sz="800" b="1" dirty="0">
                <a:solidFill>
                  <a:srgbClr val="3D4556"/>
                </a:solidFill>
                <a:latin typeface="Carlito" pitchFamily="34" charset="0"/>
                <a:ea typeface="Carlito" pitchFamily="34" charset="-122"/>
                <a:cs typeface="Carlito" pitchFamily="34" charset="-120"/>
              </a:rPr>
              <a:t>P/S</a:t>
            </a:r>
            <a:pPr algn="l" indent="0" marL="0">
              <a:lnSpc>
                <a:spcPts val="1139"/>
              </a:lnSpc>
              <a:spcAft>
                <a:spcPts val="56"/>
              </a:spcAft>
              <a:buNone/>
            </a:pPr>
            <a:r>
              <a:rPr lang="en-US" sz="800" dirty="0">
                <a:solidFill>
                  <a:srgbClr val="3D4556"/>
                </a:solidFill>
                <a:latin typeface="Carlito" pitchFamily="34" charset="0"/>
                <a:ea typeface="Carlito" pitchFamily="34" charset="-122"/>
                <a:cs typeface="Carlito" pitchFamily="34" charset="-120"/>
              </a:rPr>
              <a:t> — bra för SaaS och tillväxtbolag</a:t>
            </a:r>
            <a:endParaRPr lang="en-US" sz="800" dirty="0"/>
          </a:p>
          <a:p>
            <a:pPr algn="l" indent="0" marL="0">
              <a:lnSpc>
                <a:spcPts val="1139"/>
              </a:lnSpc>
              <a:spcAft>
                <a:spcPts val="56"/>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139"/>
              </a:lnSpc>
              <a:spcAft>
                <a:spcPts val="56"/>
              </a:spcAft>
              <a:buNone/>
            </a:pPr>
            <a:r>
              <a:rPr lang="en-US" sz="800" b="1" dirty="0">
                <a:solidFill>
                  <a:srgbClr val="3D4556"/>
                </a:solidFill>
                <a:latin typeface="Carlito" pitchFamily="34" charset="0"/>
                <a:ea typeface="Carlito" pitchFamily="34" charset="-122"/>
                <a:cs typeface="Carlito" pitchFamily="34" charset="-120"/>
              </a:rPr>
              <a:t>P/B</a:t>
            </a:r>
            <a:pPr algn="l" indent="0" marL="0">
              <a:lnSpc>
                <a:spcPts val="1139"/>
              </a:lnSpc>
              <a:spcAft>
                <a:spcPts val="56"/>
              </a:spcAft>
              <a:buNone/>
            </a:pPr>
            <a:r>
              <a:rPr lang="en-US" sz="800" dirty="0">
                <a:solidFill>
                  <a:srgbClr val="3D4556"/>
                </a:solidFill>
                <a:latin typeface="Carlito" pitchFamily="34" charset="0"/>
                <a:ea typeface="Carlito" pitchFamily="34" charset="-122"/>
                <a:cs typeface="Carlito" pitchFamily="34" charset="-120"/>
              </a:rPr>
              <a:t> — bra för banker och fastigheter</a:t>
            </a:r>
            <a:endParaRPr lang="en-US" sz="800" dirty="0"/>
          </a:p>
          <a:p>
            <a:pPr algn="l" indent="0" marL="0">
              <a:lnSpc>
                <a:spcPts val="1139"/>
              </a:lnSpc>
              <a:spcAft>
                <a:spcPts val="56"/>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139"/>
              </a:lnSpc>
              <a:spcAft>
                <a:spcPts val="56"/>
              </a:spcAft>
              <a:buNone/>
            </a:pPr>
            <a:r>
              <a:rPr lang="en-US" sz="800" b="1" dirty="0">
                <a:solidFill>
                  <a:srgbClr val="3D4556"/>
                </a:solidFill>
                <a:latin typeface="Carlito" pitchFamily="34" charset="0"/>
                <a:ea typeface="Carlito" pitchFamily="34" charset="-122"/>
                <a:cs typeface="Carlito" pitchFamily="34" charset="-120"/>
              </a:rPr>
              <a:t>EV/EBITDA</a:t>
            </a:r>
            <a:pPr algn="l" indent="0" marL="0">
              <a:lnSpc>
                <a:spcPts val="1139"/>
              </a:lnSpc>
              <a:spcAft>
                <a:spcPts val="56"/>
              </a:spcAft>
              <a:buNone/>
            </a:pPr>
            <a:r>
              <a:rPr lang="en-US" sz="800" dirty="0">
                <a:solidFill>
                  <a:srgbClr val="3D4556"/>
                </a:solidFill>
                <a:latin typeface="Carlito" pitchFamily="34" charset="0"/>
                <a:ea typeface="Carlito" pitchFamily="34" charset="-122"/>
                <a:cs typeface="Carlito" pitchFamily="34" charset="-120"/>
              </a:rPr>
              <a:t> — bra för mogna bolag med vinst</a:t>
            </a:r>
            <a:endParaRPr lang="en-US" sz="800" dirty="0"/>
          </a:p>
        </p:txBody>
      </p:sp>
      <p:sp>
        <p:nvSpPr>
          <p:cNvPr id="12" name="Text 9"/>
          <p:cNvSpPr/>
          <p:nvPr/>
        </p:nvSpPr>
        <p:spPr>
          <a:xfrm>
            <a:off x="535781" y="3248844"/>
            <a:ext cx="3871913" cy="303609"/>
          </a:xfrm>
          <a:prstGeom prst="rect">
            <a:avLst/>
          </a:prstGeom>
          <a:noFill/>
          <a:ln/>
        </p:spPr>
        <p:txBody>
          <a:bodyPr wrap="square" lIns="0" tIns="0" rIns="0" bIns="0" rtlCol="0" anchor="t"/>
          <a:lstStyle/>
          <a:p>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För Safestate: P/S 3–4, P/B 2, EV/EBITDA 1. </a:t>
            </a:r>
            <a:pPr algn="l" indent="0" marL="0">
              <a:lnSpc>
                <a:spcPts val="1139"/>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Snitt: ~2</a:t>
            </a:r>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 (svagt). Men det är OK för SaaS i tillväxtfas.</a:t>
            </a:r>
            <a:endParaRPr lang="en-US" sz="800" dirty="0"/>
          </a:p>
        </p:txBody>
      </p:sp>
      <p:sp>
        <p:nvSpPr>
          <p:cNvPr id="13" name="Text 10"/>
          <p:cNvSpPr/>
          <p:nvPr/>
        </p:nvSpPr>
        <p:spPr>
          <a:xfrm>
            <a:off x="4629150" y="2294260"/>
            <a:ext cx="4086225" cy="1379637"/>
          </a:xfrm>
          <a:prstGeom prst="rect">
            <a:avLst/>
          </a:prstGeom>
          <a:solidFill>
            <a:srgbClr val="2563EB">
              <a:alpha val="6000"/>
            </a:srgbClr>
          </a:solidFill>
          <a:ln/>
        </p:spPr>
        <p:txBody>
          <a:bodyPr wrap="square" rtlCol="0" anchor="ctr"/>
          <a:lstStyle/>
          <a:p>
            <a:pPr indent="0" marL="0">
              <a:buNone/>
            </a:pPr>
            <a:endParaRPr lang="en-US" dirty="0"/>
          </a:p>
        </p:txBody>
      </p:sp>
      <p:sp>
        <p:nvSpPr>
          <p:cNvPr id="14" name="Shape 11"/>
          <p:cNvSpPr/>
          <p:nvPr/>
        </p:nvSpPr>
        <p:spPr>
          <a:xfrm>
            <a:off x="4639866" y="2294260"/>
            <a:ext cx="0" cy="1379637"/>
          </a:xfrm>
          <a:prstGeom prst="line">
            <a:avLst/>
          </a:prstGeom>
          <a:noFill/>
          <a:ln w="21431">
            <a:solidFill>
              <a:srgbClr val="2563EB"/>
            </a:solidFill>
            <a:prstDash val="solid"/>
          </a:ln>
        </p:spPr>
      </p:sp>
      <p:sp>
        <p:nvSpPr>
          <p:cNvPr id="15" name="Text 12"/>
          <p:cNvSpPr/>
          <p:nvPr/>
        </p:nvSpPr>
        <p:spPr>
          <a:xfrm>
            <a:off x="4750594" y="2365697"/>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NYBÖRJARREGEL</a:t>
            </a:r>
            <a:endParaRPr lang="en-US" sz="800" dirty="0"/>
          </a:p>
        </p:txBody>
      </p:sp>
      <p:sp>
        <p:nvSpPr>
          <p:cNvPr id="16" name="Text 13"/>
          <p:cNvSpPr/>
          <p:nvPr/>
        </p:nvSpPr>
        <p:spPr>
          <a:xfrm>
            <a:off x="4750594" y="2549984"/>
            <a:ext cx="3974497" cy="173932"/>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Jämför ALLTID med branschsnitt:</a:t>
            </a:r>
            <a:endParaRPr lang="en-US" sz="816" dirty="0"/>
          </a:p>
        </p:txBody>
      </p:sp>
      <p:sp>
        <p:nvSpPr>
          <p:cNvPr id="17" name="Text 14"/>
          <p:cNvSpPr/>
          <p:nvPr/>
        </p:nvSpPr>
        <p:spPr>
          <a:xfrm>
            <a:off x="4750594" y="2751348"/>
            <a:ext cx="3864769" cy="550890"/>
          </a:xfrm>
          <a:prstGeom prst="rect">
            <a:avLst/>
          </a:prstGeom>
          <a:noFill/>
          <a:ln/>
        </p:spPr>
        <p:txBody>
          <a:bodyPr wrap="square" lIns="0" tIns="0" rIns="0" bIns="0" rtlCol="0" anchor="t"/>
          <a:lstStyle/>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P/S</a:t>
            </a:r>
            <a:pPr algn="l" indent="0" marL="0">
              <a:lnSpc>
                <a:spcPts val="1139"/>
              </a:lnSpc>
              <a:buNone/>
            </a:pPr>
            <a:r>
              <a:rPr lang="en-US" sz="800" dirty="0">
                <a:solidFill>
                  <a:srgbClr val="3D4556"/>
                </a:solidFill>
                <a:latin typeface="Carlito" pitchFamily="34" charset="0"/>
                <a:ea typeface="Carlito" pitchFamily="34" charset="-122"/>
                <a:cs typeface="Carlito" pitchFamily="34" charset="-120"/>
              </a:rPr>
              <a:t> under bransch = billigt</a:t>
            </a:r>
            <a:endParaRPr lang="en-US" sz="800" dirty="0"/>
          </a:p>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P/B</a:t>
            </a:r>
            <a:pPr algn="l" indent="0" marL="0">
              <a:lnSpc>
                <a:spcPts val="113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under 1 = mycket billigt</a:t>
            </a:r>
            <a:endParaRPr lang="en-US" sz="800" dirty="0"/>
          </a:p>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EV/EBITDA</a:t>
            </a:r>
            <a:pPr algn="l" indent="0" marL="0">
              <a:lnSpc>
                <a:spcPts val="113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under 8 = billigt</a:t>
            </a:r>
            <a:endParaRPr lang="en-US" sz="800" dirty="0"/>
          </a:p>
        </p:txBody>
      </p:sp>
      <p:sp>
        <p:nvSpPr>
          <p:cNvPr id="18" name="Text 15"/>
          <p:cNvSpPr/>
          <p:nvPr/>
        </p:nvSpPr>
        <p:spPr>
          <a:xfrm>
            <a:off x="4750594" y="3306775"/>
            <a:ext cx="3864769"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Aldrig jämför tech-bolag med industri-bolag — de har olika normalvärden.</a:t>
            </a:r>
            <a:endParaRPr lang="en-US" sz="816" dirty="0"/>
          </a:p>
        </p:txBody>
      </p:sp>
      <p:sp>
        <p:nvSpPr>
          <p:cNvPr id="19" name="Text 16"/>
          <p:cNvSpPr/>
          <p:nvPr/>
        </p:nvSpPr>
        <p:spPr>
          <a:xfrm>
            <a:off x="428625" y="3759622"/>
            <a:ext cx="8286750" cy="492807"/>
          </a:xfrm>
          <a:prstGeom prst="rect">
            <a:avLst/>
          </a:prstGeom>
          <a:solidFill>
            <a:srgbClr val="B8942E">
              <a:alpha val="6000"/>
            </a:srgbClr>
          </a:solidFill>
          <a:ln/>
        </p:spPr>
        <p:txBody>
          <a:bodyPr wrap="square" rtlCol="0" anchor="ctr"/>
          <a:lstStyle/>
          <a:p>
            <a:pPr indent="0" marL="0">
              <a:buNone/>
            </a:pPr>
            <a:endParaRPr lang="en-US" dirty="0"/>
          </a:p>
        </p:txBody>
      </p:sp>
      <p:sp>
        <p:nvSpPr>
          <p:cNvPr id="20" name="Shape 17"/>
          <p:cNvSpPr/>
          <p:nvPr/>
        </p:nvSpPr>
        <p:spPr>
          <a:xfrm>
            <a:off x="439341" y="3759622"/>
            <a:ext cx="0" cy="492807"/>
          </a:xfrm>
          <a:prstGeom prst="line">
            <a:avLst/>
          </a:prstGeom>
          <a:noFill/>
          <a:ln w="21431">
            <a:solidFill>
              <a:srgbClr val="B8942E"/>
            </a:solidFill>
            <a:prstDash val="solid"/>
          </a:ln>
        </p:spPr>
      </p:sp>
      <p:sp>
        <p:nvSpPr>
          <p:cNvPr id="21" name="Text 18"/>
          <p:cNvSpPr/>
          <p:nvPr/>
        </p:nvSpPr>
        <p:spPr>
          <a:xfrm>
            <a:off x="550069" y="3831059"/>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2" name="Text 19"/>
          <p:cNvSpPr/>
          <p:nvPr/>
        </p:nvSpPr>
        <p:spPr>
          <a:xfrm>
            <a:off x="550069" y="4015346"/>
            <a:ext cx="8065294" cy="165646"/>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Tillväxt — växer bolaget?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Detta är viktigare för SaaS-bolag än värdering. Safestate har hög tillväxt vilket kompenserar för hög värdering.</a:t>
            </a:r>
            <a:endParaRPr lang="en-US" sz="816" dirty="0"/>
          </a:p>
        </p:txBody>
      </p:sp>
      <p:sp>
        <p:nvSpPr>
          <p:cNvPr id="23" name="Shape 20"/>
          <p:cNvSpPr/>
          <p:nvPr/>
        </p:nvSpPr>
        <p:spPr>
          <a:xfrm>
            <a:off x="457200" y="4850606"/>
            <a:ext cx="8229600" cy="0"/>
          </a:xfrm>
          <a:prstGeom prst="line">
            <a:avLst/>
          </a:prstGeom>
          <a:noFill/>
          <a:ln w="7144">
            <a:solidFill>
              <a:srgbClr val="E2E5EA"/>
            </a:solidFill>
            <a:prstDash val="solid"/>
          </a:ln>
        </p:spPr>
      </p:sp>
      <p:sp>
        <p:nvSpPr>
          <p:cNvPr id="24" name="Text 21"/>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1 — Värdering</a:t>
            </a:r>
            <a:endParaRPr lang="en-US" sz="800" dirty="0"/>
          </a:p>
        </p:txBody>
      </p:sp>
      <p:sp>
        <p:nvSpPr>
          <p:cNvPr id="25" name="Text 22"/>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9 / 40</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770726" y="342900"/>
            <a:ext cx="916074" cy="259296"/>
          </a:xfrm>
          <a:prstGeom prst="rect">
            <a:avLst/>
          </a:prstGeom>
          <a:noFill/>
          <a:ln/>
        </p:spPr>
        <p:txBody>
          <a:bodyPr wrap="none" lIns="0" tIns="0" rIns="0" bIns="0" rtlCol="0" anchor="ctr"/>
          <a:lstStyle/>
          <a:p>
            <a:pPr algn="ctr" indent="0" marL="0">
              <a:buNone/>
            </a:pPr>
            <a:r>
              <a:rPr lang="en-US" sz="1238" spc="563" kern="0" dirty="0">
                <a:solidFill>
                  <a:srgbClr val="B8942E"/>
                </a:solidFill>
                <a:latin typeface="Segoe UI Symbol" pitchFamily="34" charset="0"/>
                <a:ea typeface="Segoe UI Symbol" pitchFamily="34" charset="-122"/>
                <a:cs typeface="Segoe UI Symbol" pitchFamily="34" charset="-120"/>
              </a:rPr>
              <a:t>◆ ◆ ◆</a:t>
            </a:r>
            <a:endParaRPr lang="en-US" sz="1238" dirty="0"/>
          </a:p>
        </p:txBody>
      </p:sp>
      <p:sp>
        <p:nvSpPr>
          <p:cNvPr id="5" name="Text 1"/>
          <p:cNvSpPr/>
          <p:nvPr/>
        </p:nvSpPr>
        <p:spPr>
          <a:xfrm>
            <a:off x="571500" y="1026468"/>
            <a:ext cx="8572500" cy="1001268"/>
          </a:xfrm>
          <a:prstGeom prst="rect">
            <a:avLst/>
          </a:prstGeom>
          <a:noFill/>
          <a:ln/>
        </p:spPr>
        <p:txBody>
          <a:bodyPr wrap="none" lIns="0" tIns="0" rIns="0" bIns="0" rtlCol="0" anchor="t">
            <a:normAutofit/>
          </a:bodyPr>
          <a:lstStyle/>
          <a:p>
            <a:pPr algn="l" indent="0" marL="0">
              <a:lnSpc>
                <a:spcPts val="8100"/>
              </a:lnSpc>
              <a:buNone/>
            </a:pPr>
            <a:r>
              <a:rPr lang="en-US" sz="9000" b="1" spc="-225" kern="0" dirty="0">
                <a:solidFill>
                  <a:srgbClr val="D4A832">
                    <a:alpha val="85000"/>
                  </a:srgbClr>
                </a:solidFill>
                <a:latin typeface="Liberation Sans Narrow" pitchFamily="34" charset="0"/>
                <a:ea typeface="Liberation Sans Narrow" pitchFamily="34" charset="-122"/>
                <a:cs typeface="Liberation Sans Narrow" pitchFamily="34" charset="-120"/>
              </a:rPr>
              <a:t>02</a:t>
            </a:r>
            <a:endParaRPr lang="en-US" sz="9000" dirty="0"/>
          </a:p>
        </p:txBody>
      </p:sp>
      <p:sp>
        <p:nvSpPr>
          <p:cNvPr id="6" name="Text 2"/>
          <p:cNvSpPr/>
          <p:nvPr/>
        </p:nvSpPr>
        <p:spPr>
          <a:xfrm>
            <a:off x="571500" y="2055168"/>
            <a:ext cx="85725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2 AV 6</a:t>
            </a:r>
            <a:endParaRPr lang="en-US" sz="800" dirty="0"/>
          </a:p>
        </p:txBody>
      </p:sp>
      <p:sp>
        <p:nvSpPr>
          <p:cNvPr id="7" name="Text 3"/>
          <p:cNvSpPr/>
          <p:nvPr/>
        </p:nvSpPr>
        <p:spPr>
          <a:xfrm>
            <a:off x="571500" y="2394049"/>
            <a:ext cx="457200" cy="21431"/>
          </a:xfrm>
          <a:prstGeom prst="roundRect">
            <a:avLst>
              <a:gd name="adj" fmla="val 88890"/>
            </a:avLst>
          </a:prstGeom>
          <a:solidFill>
            <a:srgbClr val="D4A832"/>
          </a:solidFill>
          <a:ln/>
        </p:spPr>
        <p:txBody>
          <a:bodyPr wrap="square" rtlCol="0" anchor="ctr"/>
          <a:lstStyle/>
          <a:p>
            <a:pPr indent="0" marL="0">
              <a:buNone/>
            </a:pPr>
            <a:endParaRPr lang="en-US" dirty="0"/>
          </a:p>
        </p:txBody>
      </p:sp>
      <p:sp>
        <p:nvSpPr>
          <p:cNvPr id="8" name="Text 4"/>
          <p:cNvSpPr/>
          <p:nvPr/>
        </p:nvSpPr>
        <p:spPr>
          <a:xfrm>
            <a:off x="571500" y="2601218"/>
            <a:ext cx="6750844" cy="441216"/>
          </a:xfrm>
          <a:prstGeom prst="rect">
            <a:avLst/>
          </a:prstGeom>
          <a:noFill/>
          <a:ln/>
        </p:spPr>
        <p:txBody>
          <a:bodyPr wrap="none" lIns="0" tIns="0" rIns="0" bIns="0" rtlCol="0" anchor="t"/>
          <a:lstStyle/>
          <a:p>
            <a:pPr algn="l" indent="0" marL="0">
              <a:lnSpc>
                <a:spcPts val="3218"/>
              </a:lnSpc>
              <a:buNone/>
            </a:pPr>
            <a:r>
              <a:rPr lang="en-US" sz="2925" b="1" spc="-45" kern="0" dirty="0">
                <a:solidFill>
                  <a:srgbClr val="FFFFFF"/>
                </a:solidFill>
                <a:latin typeface="Carlito" pitchFamily="34" charset="0"/>
                <a:ea typeface="Carlito" pitchFamily="34" charset="-122"/>
                <a:cs typeface="Carlito" pitchFamily="34" charset="-120"/>
              </a:rPr>
              <a:t>Tillväxt — Växer bolaget?</a:t>
            </a:r>
            <a:endParaRPr lang="en-US" sz="2925" dirty="0"/>
          </a:p>
        </p:txBody>
      </p:sp>
      <p:sp>
        <p:nvSpPr>
          <p:cNvPr id="9" name="Text 5"/>
          <p:cNvSpPr/>
          <p:nvPr/>
        </p:nvSpPr>
        <p:spPr>
          <a:xfrm>
            <a:off x="571500" y="3124051"/>
            <a:ext cx="5857875" cy="629275"/>
          </a:xfrm>
          <a:prstGeom prst="rect">
            <a:avLst/>
          </a:prstGeom>
          <a:noFill/>
          <a:ln/>
        </p:spPr>
        <p:txBody>
          <a:bodyPr wrap="square" lIns="0" tIns="0" rIns="0" bIns="0" rtlCol="0" anchor="t"/>
          <a:lstStyle/>
          <a:p>
            <a:pPr algn="l" indent="0" marL="0">
              <a:lnSpc>
                <a:spcPts val="1530"/>
              </a:lnSpc>
              <a:buNone/>
            </a:pPr>
            <a:r>
              <a:rPr lang="en-US" sz="956" dirty="0">
                <a:solidFill>
                  <a:srgbClr val="B8C4D4"/>
                </a:solidFill>
                <a:latin typeface="Carlito" pitchFamily="34" charset="0"/>
                <a:ea typeface="Carlito" pitchFamily="34" charset="-122"/>
                <a:cs typeface="Carlito" pitchFamily="34" charset="-120"/>
              </a:rPr>
              <a:t>3 variabler som mäter om bolaget växer. Tillväxt är den viktigaste kategorin för tech och SaaS-bolag. Intäktstillväxt = växer totala försäljningen? ARR-tillväxt = växer återkommande intäkter? Bruttomarginal = hur lönsam är varje försäljningskrona?</a:t>
            </a:r>
            <a:endParaRPr lang="en-US" sz="956" dirty="0"/>
          </a:p>
        </p:txBody>
      </p:sp>
      <p:sp>
        <p:nvSpPr>
          <p:cNvPr id="10" name="Text 6"/>
          <p:cNvSpPr/>
          <p:nvPr/>
        </p:nvSpPr>
        <p:spPr>
          <a:xfrm>
            <a:off x="571500" y="3851074"/>
            <a:ext cx="1032942"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1" name="Text 7"/>
          <p:cNvSpPr/>
          <p:nvPr/>
        </p:nvSpPr>
        <p:spPr>
          <a:xfrm>
            <a:off x="571500" y="3863876"/>
            <a:ext cx="1068660"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4.</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Intäktstillväxt</a:t>
            </a:r>
            <a:endParaRPr lang="en-US" sz="800" dirty="0"/>
          </a:p>
        </p:txBody>
      </p:sp>
      <p:sp>
        <p:nvSpPr>
          <p:cNvPr id="12" name="Text 8"/>
          <p:cNvSpPr/>
          <p:nvPr/>
        </p:nvSpPr>
        <p:spPr>
          <a:xfrm>
            <a:off x="1675879" y="3851074"/>
            <a:ext cx="955030"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3" name="Text 9"/>
          <p:cNvSpPr/>
          <p:nvPr/>
        </p:nvSpPr>
        <p:spPr>
          <a:xfrm>
            <a:off x="1675879" y="3863876"/>
            <a:ext cx="990749"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5.</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ARR-tillväxt</a:t>
            </a:r>
            <a:endParaRPr lang="en-US" sz="800" dirty="0"/>
          </a:p>
        </p:txBody>
      </p:sp>
      <p:sp>
        <p:nvSpPr>
          <p:cNvPr id="14" name="Text 10"/>
          <p:cNvSpPr/>
          <p:nvPr/>
        </p:nvSpPr>
        <p:spPr>
          <a:xfrm>
            <a:off x="2702347" y="3851074"/>
            <a:ext cx="1101365"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5" name="Text 11"/>
          <p:cNvSpPr/>
          <p:nvPr/>
        </p:nvSpPr>
        <p:spPr>
          <a:xfrm>
            <a:off x="2702347" y="3863876"/>
            <a:ext cx="5870153"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6.</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Bruttomarginal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TILLVÄXT</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4 · 11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4: Intäktstillväxt</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VÄXER BOLAGETS FÖRSÄLJNING?</a:t>
            </a:r>
            <a:endParaRPr lang="en-US" sz="844" dirty="0"/>
          </a:p>
        </p:txBody>
      </p:sp>
      <p:sp>
        <p:nvSpPr>
          <p:cNvPr id="7" name="Text 5"/>
          <p:cNvSpPr/>
          <p:nvPr/>
        </p:nvSpPr>
        <p:spPr>
          <a:xfrm>
            <a:off x="432197" y="1163650"/>
            <a:ext cx="8279606" cy="480529"/>
          </a:xfrm>
          <a:prstGeom prst="roundRect">
            <a:avLst>
              <a:gd name="adj" fmla="val 11893"/>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072438" cy="144018"/>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Intäktstillväxt = (Årets omsättning − Förra årets omsättning) / Förra årets omsättning</a:t>
            </a:r>
            <a:endParaRPr lang="en-US" sz="844" dirty="0"/>
          </a:p>
        </p:txBody>
      </p:sp>
      <p:sp>
        <p:nvSpPr>
          <p:cNvPr id="9" name="Text 7"/>
          <p:cNvSpPr/>
          <p:nvPr/>
        </p:nvSpPr>
        <p:spPr>
          <a:xfrm>
            <a:off x="535781" y="1410109"/>
            <a:ext cx="8072438"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hur mycket mer sålde bolaget i år jämfört med förra året?</a:t>
            </a:r>
            <a:endParaRPr lang="en-US" sz="800" dirty="0"/>
          </a:p>
        </p:txBody>
      </p:sp>
      <p:sp>
        <p:nvSpPr>
          <p:cNvPr id="10" name="Text 8"/>
          <p:cNvSpPr/>
          <p:nvPr/>
        </p:nvSpPr>
        <p:spPr>
          <a:xfrm>
            <a:off x="428625" y="1733476"/>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9"/>
          <p:cNvSpPr/>
          <p:nvPr/>
        </p:nvSpPr>
        <p:spPr>
          <a:xfrm>
            <a:off x="439341" y="1733476"/>
            <a:ext cx="0" cy="1892424"/>
          </a:xfrm>
          <a:prstGeom prst="line">
            <a:avLst/>
          </a:prstGeom>
          <a:noFill/>
          <a:ln w="21431">
            <a:solidFill>
              <a:srgbClr val="2563EB"/>
            </a:solidFill>
            <a:prstDash val="solid"/>
          </a:ln>
        </p:spPr>
      </p:sp>
      <p:sp>
        <p:nvSpPr>
          <p:cNvPr id="12" name="Text 10"/>
          <p:cNvSpPr/>
          <p:nvPr/>
        </p:nvSpPr>
        <p:spPr>
          <a:xfrm>
            <a:off x="550069" y="1804913"/>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3" name="Text 11"/>
          <p:cNvSpPr/>
          <p:nvPr/>
        </p:nvSpPr>
        <p:spPr>
          <a:xfrm>
            <a:off x="550069" y="1989200"/>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Förra året sålde pizzerian för 1 miljon. I år för 1,25 miljon.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Intäktstillväxt = 25%.</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Pizzerian växer!</a:t>
            </a:r>
            <a:endParaRPr lang="en-US" sz="816" dirty="0"/>
          </a:p>
        </p:txBody>
      </p:sp>
      <p:sp>
        <p:nvSpPr>
          <p:cNvPr id="14" name="Text 12"/>
          <p:cNvSpPr/>
          <p:nvPr/>
        </p:nvSpPr>
        <p:spPr>
          <a:xfrm>
            <a:off x="550069" y="2341922"/>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MEN: detta säger inget om lönsamhet. Kanske säljer de fler pizzor men med förlust. Tillväxt är bra — men kolla också lönsamhet (kategori 3).</a:t>
            </a:r>
            <a:endParaRPr lang="en-US" sz="816" dirty="0"/>
          </a:p>
        </p:txBody>
      </p:sp>
      <p:sp>
        <p:nvSpPr>
          <p:cNvPr id="15" name="Shape 13"/>
          <p:cNvSpPr/>
          <p:nvPr/>
        </p:nvSpPr>
        <p:spPr>
          <a:xfrm>
            <a:off x="4629150" y="2042443"/>
            <a:ext cx="4086225" cy="0"/>
          </a:xfrm>
          <a:prstGeom prst="line">
            <a:avLst/>
          </a:prstGeom>
          <a:noFill/>
          <a:ln w="7144">
            <a:solidFill>
              <a:srgbClr val="E2E5EA"/>
            </a:solidFill>
            <a:prstDash val="solid"/>
          </a:ln>
        </p:spPr>
      </p:sp>
      <p:sp>
        <p:nvSpPr>
          <p:cNvPr id="16" name="Text 14"/>
          <p:cNvSpPr/>
          <p:nvPr/>
        </p:nvSpPr>
        <p:spPr>
          <a:xfrm>
            <a:off x="4629150" y="1833488"/>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29150" y="2074590"/>
          <a:ext cx="4086225" cy="914400"/>
        </p:xfrm>
        <a:graphic>
          <a:graphicData uri="http://schemas.openxmlformats.org/drawingml/2006/table">
            <a:tbl>
              <a:tblPr/>
              <a:tblGrid>
                <a:gridCol w="1006376"/>
                <a:gridCol w="1621296"/>
                <a:gridCol w="1458553"/>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Tillväxt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Exceptionellt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5–15%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0% (negativ)</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Krympande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8" name="Text 15"/>
          <p:cNvSpPr/>
          <p:nvPr/>
        </p:nvSpPr>
        <p:spPr>
          <a:xfrm>
            <a:off x="432197" y="3715196"/>
            <a:ext cx="8279606" cy="504527"/>
          </a:xfrm>
          <a:prstGeom prst="roundRect">
            <a:avLst>
              <a:gd name="adj" fmla="val 1132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19" name="Text 16"/>
          <p:cNvSpPr/>
          <p:nvPr/>
        </p:nvSpPr>
        <p:spPr>
          <a:xfrm>
            <a:off x="535781" y="3790206"/>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0" name="Text 17"/>
          <p:cNvSpPr/>
          <p:nvPr/>
        </p:nvSpPr>
        <p:spPr>
          <a:xfrm>
            <a:off x="535781" y="3980408"/>
            <a:ext cx="8072438" cy="164306"/>
          </a:xfrm>
          <a:prstGeom prst="rect">
            <a:avLst/>
          </a:prstGeom>
          <a:noFill/>
          <a:ln/>
        </p:spPr>
        <p:txBody>
          <a:bodyPr wrap="square" lIns="0" tIns="0" rIns="0" bIns="0" rtlCol="0" anchor="t"/>
          <a:lstStyle/>
          <a:p>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Safestate: Omsättning 2024 = 58 MSEK, 2025 = 73 MSEK.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Tillväxt = +25,4%.</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Poäng: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5</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(exceptionellt). Safestate växer snabbt — drivs av cybersäkerhets-boom.</a:t>
            </a:r>
            <a:endParaRPr lang="en-US" sz="788" dirty="0"/>
          </a:p>
        </p:txBody>
      </p:sp>
      <p:sp>
        <p:nvSpPr>
          <p:cNvPr id="21" name="Text 18"/>
          <p:cNvSpPr/>
          <p:nvPr/>
        </p:nvSpPr>
        <p:spPr>
          <a:xfrm>
            <a:off x="428625" y="4266158"/>
            <a:ext cx="8286750" cy="679884"/>
          </a:xfrm>
          <a:prstGeom prst="rect">
            <a:avLst/>
          </a:prstGeom>
          <a:solidFill>
            <a:srgbClr val="B8942E">
              <a:alpha val="6000"/>
            </a:srgbClr>
          </a:solidFill>
          <a:ln/>
        </p:spPr>
        <p:txBody>
          <a:bodyPr wrap="square" rtlCol="0" anchor="ctr"/>
          <a:lstStyle/>
          <a:p>
            <a:pPr indent="0" marL="0">
              <a:buNone/>
            </a:pPr>
            <a:endParaRPr lang="en-US" dirty="0"/>
          </a:p>
        </p:txBody>
      </p:sp>
      <p:sp>
        <p:nvSpPr>
          <p:cNvPr id="22" name="Shape 19"/>
          <p:cNvSpPr/>
          <p:nvPr/>
        </p:nvSpPr>
        <p:spPr>
          <a:xfrm>
            <a:off x="439341" y="4266158"/>
            <a:ext cx="0" cy="679884"/>
          </a:xfrm>
          <a:prstGeom prst="line">
            <a:avLst/>
          </a:prstGeom>
          <a:noFill/>
          <a:ln w="21431">
            <a:solidFill>
              <a:srgbClr val="B8942E"/>
            </a:solidFill>
            <a:prstDash val="solid"/>
          </a:ln>
        </p:spPr>
      </p:sp>
      <p:sp>
        <p:nvSpPr>
          <p:cNvPr id="23" name="Text 20"/>
          <p:cNvSpPr/>
          <p:nvPr/>
        </p:nvSpPr>
        <p:spPr>
          <a:xfrm>
            <a:off x="550069" y="4337596"/>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4" name="Text 21"/>
          <p:cNvSpPr/>
          <p:nvPr/>
        </p:nvSpPr>
        <p:spPr>
          <a:xfrm>
            <a:off x="550069" y="4521882"/>
            <a:ext cx="8065294" cy="352723"/>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Tillväxt &gt; 15% är generellt bra. Tillväxt &gt; 25% är exceptionellt — vanligt för SaaS i expansion. Men kolla också: växer bolaget genom att sänka priser? Genom att förvärva? Genom att subventionera kunder?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Organisk tillväxt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(egna produkter, egna kunder) är bäst.</a:t>
            </a:r>
            <a:endParaRPr lang="en-US" sz="816" dirty="0"/>
          </a:p>
        </p:txBody>
      </p:sp>
      <p:sp>
        <p:nvSpPr>
          <p:cNvPr id="25" name="Shape 22"/>
          <p:cNvSpPr/>
          <p:nvPr/>
        </p:nvSpPr>
        <p:spPr>
          <a:xfrm>
            <a:off x="457200" y="4850606"/>
            <a:ext cx="8229600" cy="0"/>
          </a:xfrm>
          <a:prstGeom prst="line">
            <a:avLst/>
          </a:prstGeom>
          <a:noFill/>
          <a:ln w="7144">
            <a:solidFill>
              <a:srgbClr val="E2E5EA"/>
            </a:solidFill>
            <a:prstDash val="solid"/>
          </a:ln>
        </p:spPr>
      </p:sp>
      <p:sp>
        <p:nvSpPr>
          <p:cNvPr id="26" name="Text 23"/>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2 — Tillväxt</a:t>
            </a:r>
            <a:endParaRPr lang="en-US" sz="800" dirty="0"/>
          </a:p>
        </p:txBody>
      </p:sp>
      <p:sp>
        <p:nvSpPr>
          <p:cNvPr id="27" name="Text 24"/>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11 / 40</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TILLVÄXT</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5 · 12 / 40</a:t>
            </a:r>
            <a:endParaRPr lang="en-US" sz="619" dirty="0"/>
          </a:p>
        </p:txBody>
      </p:sp>
      <p:sp>
        <p:nvSpPr>
          <p:cNvPr id="5" name="Text 3"/>
          <p:cNvSpPr/>
          <p:nvPr/>
        </p:nvSpPr>
        <p:spPr>
          <a:xfrm>
            <a:off x="428625" y="608223"/>
            <a:ext cx="8636000" cy="247602"/>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5: ARR-tillväxt</a:t>
            </a:r>
            <a:endParaRPr lang="en-US" sz="1688" dirty="0"/>
          </a:p>
        </p:txBody>
      </p:sp>
      <p:sp>
        <p:nvSpPr>
          <p:cNvPr id="6" name="Text 4"/>
          <p:cNvSpPr/>
          <p:nvPr/>
        </p:nvSpPr>
        <p:spPr>
          <a:xfrm>
            <a:off x="428625" y="883258"/>
            <a:ext cx="828675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ANNUAL RECURRING REVENUE — STAMKUNDERNA SOM BETALAR VARJE ÅR</a:t>
            </a:r>
            <a:endParaRPr lang="en-US" sz="844" dirty="0"/>
          </a:p>
        </p:txBody>
      </p:sp>
      <p:sp>
        <p:nvSpPr>
          <p:cNvPr id="7" name="Text 5"/>
          <p:cNvSpPr/>
          <p:nvPr/>
        </p:nvSpPr>
        <p:spPr>
          <a:xfrm>
            <a:off x="432197" y="1163650"/>
            <a:ext cx="8279606" cy="630548"/>
          </a:xfrm>
          <a:prstGeom prst="roundRect">
            <a:avLst>
              <a:gd name="adj" fmla="val 9064"/>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072438" cy="122587"/>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ARR = Annual Recurring Revenue (årsvis återkommande intäkter)</a:t>
            </a:r>
            <a:endParaRPr lang="en-US" sz="844" dirty="0"/>
          </a:p>
        </p:txBody>
      </p:sp>
      <p:sp>
        <p:nvSpPr>
          <p:cNvPr id="9" name="Text 7"/>
          <p:cNvSpPr/>
          <p:nvPr/>
        </p:nvSpPr>
        <p:spPr>
          <a:xfrm>
            <a:off x="535781" y="1388678"/>
            <a:ext cx="8072438" cy="144018"/>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ARR-tillväxt = (Årets ARR − Förra årets ARR) / Förra årets ARR</a:t>
            </a:r>
            <a:endParaRPr lang="en-US" sz="844" dirty="0"/>
          </a:p>
        </p:txBody>
      </p:sp>
      <p:sp>
        <p:nvSpPr>
          <p:cNvPr id="10" name="Text 8"/>
          <p:cNvSpPr/>
          <p:nvPr/>
        </p:nvSpPr>
        <p:spPr>
          <a:xfrm>
            <a:off x="535781" y="1560128"/>
            <a:ext cx="8182165"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hur mycket växer basen av stamkunder?</a:t>
            </a:r>
            <a:endParaRPr lang="en-US" sz="800" dirty="0"/>
          </a:p>
        </p:txBody>
      </p:sp>
      <p:sp>
        <p:nvSpPr>
          <p:cNvPr id="11" name="Text 9"/>
          <p:cNvSpPr/>
          <p:nvPr/>
        </p:nvSpPr>
        <p:spPr>
          <a:xfrm>
            <a:off x="428625" y="1883494"/>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2" name="Shape 10"/>
          <p:cNvSpPr/>
          <p:nvPr/>
        </p:nvSpPr>
        <p:spPr>
          <a:xfrm>
            <a:off x="439341" y="1883494"/>
            <a:ext cx="0" cy="1892424"/>
          </a:xfrm>
          <a:prstGeom prst="line">
            <a:avLst/>
          </a:prstGeom>
          <a:noFill/>
          <a:ln w="21431">
            <a:solidFill>
              <a:srgbClr val="2563EB"/>
            </a:solidFill>
            <a:prstDash val="solid"/>
          </a:ln>
        </p:spPr>
      </p:sp>
      <p:sp>
        <p:nvSpPr>
          <p:cNvPr id="13" name="Text 11"/>
          <p:cNvSpPr/>
          <p:nvPr/>
        </p:nvSpPr>
        <p:spPr>
          <a:xfrm>
            <a:off x="550069" y="1954932"/>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4" name="Text 12"/>
          <p:cNvSpPr/>
          <p:nvPr/>
        </p:nvSpPr>
        <p:spPr>
          <a:xfrm>
            <a:off x="550069" y="2139218"/>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har 100 stamkunder som betalar 100 SEK/månad = 120 000 SEK/år i ARR. Nästa år har pizzerian 130 stamkunder = 156 000 SEK =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+30% ARR-tillväxt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p:txBody>
      </p:sp>
      <p:sp>
        <p:nvSpPr>
          <p:cNvPr id="15" name="Text 13"/>
          <p:cNvSpPr/>
          <p:nvPr/>
        </p:nvSpPr>
        <p:spPr>
          <a:xfrm>
            <a:off x="550069" y="2491941"/>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Denna tillväxt är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STABIL</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stamkunder stannar. ARR är bättre än total omsättning för att mäta SaaS-tillväxt.</a:t>
            </a:r>
            <a:endParaRPr lang="en-US" sz="816" dirty="0"/>
          </a:p>
        </p:txBody>
      </p:sp>
      <p:sp>
        <p:nvSpPr>
          <p:cNvPr id="16" name="Shape 14"/>
          <p:cNvSpPr/>
          <p:nvPr/>
        </p:nvSpPr>
        <p:spPr>
          <a:xfrm>
            <a:off x="4629150" y="2192462"/>
            <a:ext cx="4086225" cy="0"/>
          </a:xfrm>
          <a:prstGeom prst="line">
            <a:avLst/>
          </a:prstGeom>
          <a:noFill/>
          <a:ln w="7144">
            <a:solidFill>
              <a:srgbClr val="E2E5EA"/>
            </a:solidFill>
            <a:prstDash val="solid"/>
          </a:ln>
        </p:spPr>
      </p:sp>
      <p:sp>
        <p:nvSpPr>
          <p:cNvPr id="17" name="Text 15"/>
          <p:cNvSpPr/>
          <p:nvPr/>
        </p:nvSpPr>
        <p:spPr>
          <a:xfrm>
            <a:off x="4629150" y="1983507"/>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 (SAAS)</a:t>
            </a:r>
            <a:endParaRPr lang="en-US" sz="844"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29150" y="2224608"/>
          <a:ext cx="4086225" cy="914400"/>
        </p:xfrm>
        <a:graphic>
          <a:graphicData uri="http://schemas.openxmlformats.org/drawingml/2006/table">
            <a:tbl>
              <a:tblPr/>
              <a:tblGrid>
                <a:gridCol w="926120"/>
                <a:gridCol w="1807480"/>
                <a:gridCol w="1352624"/>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ARR-tillväxt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Best-in-class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5–15%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Mogen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Stagnerande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0% (churn&gt;växt)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Krympande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9" name="Text 16"/>
          <p:cNvSpPr/>
          <p:nvPr/>
        </p:nvSpPr>
        <p:spPr>
          <a:xfrm>
            <a:off x="432197" y="3865215"/>
            <a:ext cx="8279606" cy="654546"/>
          </a:xfrm>
          <a:prstGeom prst="roundRect">
            <a:avLst>
              <a:gd name="adj" fmla="val 8731"/>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0" name="Text 17"/>
          <p:cNvSpPr/>
          <p:nvPr/>
        </p:nvSpPr>
        <p:spPr>
          <a:xfrm>
            <a:off x="535781" y="3940225"/>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1" name="Text 18"/>
          <p:cNvSpPr/>
          <p:nvPr/>
        </p:nvSpPr>
        <p:spPr>
          <a:xfrm>
            <a:off x="535781" y="4130427"/>
            <a:ext cx="8072438" cy="314325"/>
          </a:xfrm>
          <a:prstGeom prst="rect">
            <a:avLst/>
          </a:prstGeom>
          <a:noFill/>
          <a:ln/>
        </p:spPr>
        <p:txBody>
          <a:bodyPr wrap="square" lIns="0" tIns="0" rIns="0" bIns="0" rtlCol="0" anchor="t"/>
          <a:lstStyle/>
          <a:p>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Safestate: ARR 2024 = 58 MSEK, 2025 = 73 MSEK.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ARR-tillväxt = +25,4%.</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Poäng: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5</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(best-in-class). Safestates ARR växer snabbare än total omsättning — bolaget blir mer 'SaaS-igt' över tid.</a:t>
            </a:r>
            <a:endParaRPr lang="en-US" sz="800" dirty="0"/>
          </a:p>
        </p:txBody>
      </p:sp>
      <p:sp>
        <p:nvSpPr>
          <p:cNvPr id="22" name="Text 19"/>
          <p:cNvSpPr/>
          <p:nvPr/>
        </p:nvSpPr>
        <p:spPr>
          <a:xfrm>
            <a:off x="428625" y="4566196"/>
            <a:ext cx="8286750" cy="679884"/>
          </a:xfrm>
          <a:prstGeom prst="rect">
            <a:avLst/>
          </a:prstGeom>
          <a:solidFill>
            <a:srgbClr val="B8942E">
              <a:alpha val="6000"/>
            </a:srgbClr>
          </a:solidFill>
          <a:ln/>
        </p:spPr>
        <p:txBody>
          <a:bodyPr wrap="square" rtlCol="0" anchor="ctr"/>
          <a:lstStyle/>
          <a:p>
            <a:pPr indent="0" marL="0">
              <a:buNone/>
            </a:pPr>
            <a:endParaRPr lang="en-US" dirty="0"/>
          </a:p>
        </p:txBody>
      </p:sp>
      <p:sp>
        <p:nvSpPr>
          <p:cNvPr id="23" name="Shape 20"/>
          <p:cNvSpPr/>
          <p:nvPr/>
        </p:nvSpPr>
        <p:spPr>
          <a:xfrm>
            <a:off x="439341" y="4566196"/>
            <a:ext cx="0" cy="679884"/>
          </a:xfrm>
          <a:prstGeom prst="line">
            <a:avLst/>
          </a:prstGeom>
          <a:noFill/>
          <a:ln w="21431">
            <a:solidFill>
              <a:srgbClr val="B8942E"/>
            </a:solidFill>
            <a:prstDash val="solid"/>
          </a:ln>
        </p:spPr>
      </p:sp>
      <p:sp>
        <p:nvSpPr>
          <p:cNvPr id="24" name="Text 21"/>
          <p:cNvSpPr/>
          <p:nvPr/>
        </p:nvSpPr>
        <p:spPr>
          <a:xfrm>
            <a:off x="550069" y="4637633"/>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5" name="Text 22"/>
          <p:cNvSpPr/>
          <p:nvPr/>
        </p:nvSpPr>
        <p:spPr>
          <a:xfrm>
            <a:off x="550069" y="4821920"/>
            <a:ext cx="8065294" cy="321580"/>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Liberation Sans Narrow" pitchFamily="34" charset="0"/>
                <a:ea typeface="Liberation Sans Narrow" pitchFamily="34" charset="-122"/>
                <a:cs typeface="Liberation Sans Narrow" pitchFamily="34" charset="-120"/>
              </a:rPr>
              <a:t>ARR-tillväxt &gt; 25% är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magiskt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för SaaS. Det betyder att stamkunderna växer snabbt. Om ARR växer snabbare än total omsättning → bolaget blir mer förutsägbart (mer återkommande intäkter). Detta driver hög värdering.</a:t>
            </a:r>
            <a:endParaRPr lang="en-US" sz="816" dirty="0"/>
          </a:p>
        </p:txBody>
      </p:sp>
      <p:sp>
        <p:nvSpPr>
          <p:cNvPr id="26" name="Shape 23"/>
          <p:cNvSpPr/>
          <p:nvPr/>
        </p:nvSpPr>
        <p:spPr>
          <a:xfrm>
            <a:off x="457200" y="4850606"/>
            <a:ext cx="8229600" cy="0"/>
          </a:xfrm>
          <a:prstGeom prst="line">
            <a:avLst/>
          </a:prstGeom>
          <a:noFill/>
          <a:ln w="7144">
            <a:solidFill>
              <a:srgbClr val="E2E5EA"/>
            </a:solidFill>
            <a:prstDash val="solid"/>
          </a:ln>
        </p:spPr>
      </p:sp>
      <p:sp>
        <p:nvSpPr>
          <p:cNvPr id="27" name="Text 24"/>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2 — Tillväxt</a:t>
            </a:r>
            <a:endParaRPr lang="en-US" sz="800" dirty="0"/>
          </a:p>
        </p:txBody>
      </p:sp>
      <p:sp>
        <p:nvSpPr>
          <p:cNvPr id="28" name="Text 25"/>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12 / 40</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TILLVÄXT</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6 · 13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6: Bruttomarginal</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HUR MYCKET BLIR KVAR EFTER RÅVARORNA?</a:t>
            </a:r>
            <a:endParaRPr lang="en-US" sz="844" dirty="0"/>
          </a:p>
        </p:txBody>
      </p:sp>
      <p:sp>
        <p:nvSpPr>
          <p:cNvPr id="7" name="Text 5"/>
          <p:cNvSpPr/>
          <p:nvPr/>
        </p:nvSpPr>
        <p:spPr>
          <a:xfrm>
            <a:off x="432197" y="1163650"/>
            <a:ext cx="8279606" cy="480529"/>
          </a:xfrm>
          <a:prstGeom prst="roundRect">
            <a:avLst>
              <a:gd name="adj" fmla="val 11893"/>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072438" cy="144018"/>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Bruttomarginal = (Omsättning − COGS) / Omsättning</a:t>
            </a:r>
            <a:endParaRPr lang="en-US" sz="844" dirty="0"/>
          </a:p>
        </p:txBody>
      </p:sp>
      <p:sp>
        <p:nvSpPr>
          <p:cNvPr id="9" name="Text 7"/>
          <p:cNvSpPr/>
          <p:nvPr/>
        </p:nvSpPr>
        <p:spPr>
          <a:xfrm>
            <a:off x="535781" y="1410109"/>
            <a:ext cx="8072438"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vad blir kvar efter att du betalat för råvarorna?</a:t>
            </a:r>
            <a:endParaRPr lang="en-US" sz="800" dirty="0"/>
          </a:p>
        </p:txBody>
      </p:sp>
      <p:sp>
        <p:nvSpPr>
          <p:cNvPr id="10" name="Text 8"/>
          <p:cNvSpPr/>
          <p:nvPr/>
        </p:nvSpPr>
        <p:spPr>
          <a:xfrm>
            <a:off x="428625" y="1733476"/>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9"/>
          <p:cNvSpPr/>
          <p:nvPr/>
        </p:nvSpPr>
        <p:spPr>
          <a:xfrm>
            <a:off x="439341" y="1733476"/>
            <a:ext cx="0" cy="1892424"/>
          </a:xfrm>
          <a:prstGeom prst="line">
            <a:avLst/>
          </a:prstGeom>
          <a:noFill/>
          <a:ln w="21431">
            <a:solidFill>
              <a:srgbClr val="2563EB"/>
            </a:solidFill>
            <a:prstDash val="solid"/>
          </a:ln>
        </p:spPr>
      </p:sp>
      <p:sp>
        <p:nvSpPr>
          <p:cNvPr id="12" name="Text 10"/>
          <p:cNvSpPr/>
          <p:nvPr/>
        </p:nvSpPr>
        <p:spPr>
          <a:xfrm>
            <a:off x="550069" y="1804913"/>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3" name="Text 11"/>
          <p:cNvSpPr/>
          <p:nvPr/>
        </p:nvSpPr>
        <p:spPr>
          <a:xfrm>
            <a:off x="550069" y="1989200"/>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Pizzan säljs för 100 SEK. Deg, ost, tomatsås kostar 29 SEK.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Bruttomarginal = 71%</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(71 SEK kvar). Hyra, personal och el kostar 60 SEK. Driftsvinst = 11 SEK.</a:t>
            </a:r>
            <a:endParaRPr lang="en-US" sz="816" dirty="0"/>
          </a:p>
        </p:txBody>
      </p:sp>
      <p:sp>
        <p:nvSpPr>
          <p:cNvPr id="14" name="Text 12"/>
          <p:cNvSpPr/>
          <p:nvPr/>
        </p:nvSpPr>
        <p:spPr>
          <a:xfrm>
            <a:off x="550069" y="2341922"/>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Bruttomarginal visar om själva pizzandet är lönsamt — INNAN vi räknar på lokalen. Hög bruttomarginal = bra priskraft eller låga råvarukostnader.</a:t>
            </a:r>
            <a:endParaRPr lang="en-US" sz="816" dirty="0"/>
          </a:p>
        </p:txBody>
      </p:sp>
      <p:sp>
        <p:nvSpPr>
          <p:cNvPr id="15" name="Shape 13"/>
          <p:cNvSpPr/>
          <p:nvPr/>
        </p:nvSpPr>
        <p:spPr>
          <a:xfrm>
            <a:off x="4629150" y="2042443"/>
            <a:ext cx="4086225" cy="0"/>
          </a:xfrm>
          <a:prstGeom prst="line">
            <a:avLst/>
          </a:prstGeom>
          <a:noFill/>
          <a:ln w="7144">
            <a:solidFill>
              <a:srgbClr val="E2E5EA"/>
            </a:solidFill>
            <a:prstDash val="solid"/>
          </a:ln>
        </p:spPr>
      </p:sp>
      <p:sp>
        <p:nvSpPr>
          <p:cNvPr id="16" name="Text 14"/>
          <p:cNvSpPr/>
          <p:nvPr/>
        </p:nvSpPr>
        <p:spPr>
          <a:xfrm>
            <a:off x="4629150" y="1833488"/>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 (SAAS)</a:t>
            </a:r>
            <a:endParaRPr lang="en-US" sz="844"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629150" y="2074590"/>
          <a:ext cx="4086225" cy="914400"/>
        </p:xfrm>
        <a:graphic>
          <a:graphicData uri="http://schemas.openxmlformats.org/drawingml/2006/table">
            <a:tbl>
              <a:tblPr/>
              <a:tblGrid>
                <a:gridCol w="676759"/>
                <a:gridCol w="1430313"/>
                <a:gridCol w="1979154"/>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Bruttomarginal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70%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Exceptionell (SaaS-standard)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60–70%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40–60%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20–40%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20%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låg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8" name="Text 15"/>
          <p:cNvSpPr/>
          <p:nvPr/>
        </p:nvSpPr>
        <p:spPr>
          <a:xfrm>
            <a:off x="432197" y="3715196"/>
            <a:ext cx="8279606" cy="504527"/>
          </a:xfrm>
          <a:prstGeom prst="roundRect">
            <a:avLst>
              <a:gd name="adj" fmla="val 1132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19" name="Text 16"/>
          <p:cNvSpPr/>
          <p:nvPr/>
        </p:nvSpPr>
        <p:spPr>
          <a:xfrm>
            <a:off x="535781" y="3790206"/>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0" name="Text 17"/>
          <p:cNvSpPr/>
          <p:nvPr/>
        </p:nvSpPr>
        <p:spPr>
          <a:xfrm>
            <a:off x="535781" y="3980408"/>
            <a:ext cx="8072438" cy="164306"/>
          </a:xfrm>
          <a:prstGeom prst="rect">
            <a:avLst/>
          </a:prstGeom>
          <a:noFill/>
          <a:ln/>
        </p:spPr>
        <p:txBody>
          <a:bodyPr wrap="square" lIns="0" tIns="0" rIns="0" bIns="0" rtlCol="0" anchor="t"/>
          <a:lstStyle/>
          <a:p>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Safestate: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Bruttomarginal 71%</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Poäng: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5</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(exceptionell). SaaS-bolag har hög brutto eftersom mjukvara är billigt att reproducera. Safestates brutto är över branschsnitt 65–70%.</a:t>
            </a:r>
            <a:endParaRPr lang="en-US" sz="788" dirty="0"/>
          </a:p>
        </p:txBody>
      </p:sp>
      <p:sp>
        <p:nvSpPr>
          <p:cNvPr id="21" name="Text 18"/>
          <p:cNvSpPr/>
          <p:nvPr/>
        </p:nvSpPr>
        <p:spPr>
          <a:xfrm>
            <a:off x="428625" y="4266158"/>
            <a:ext cx="8286750" cy="609674"/>
          </a:xfrm>
          <a:prstGeom prst="rect">
            <a:avLst/>
          </a:prstGeom>
          <a:solidFill>
            <a:srgbClr val="DC2626">
              <a:alpha val="8000"/>
            </a:srgbClr>
          </a:solidFill>
          <a:ln/>
        </p:spPr>
        <p:txBody>
          <a:bodyPr wrap="square" rtlCol="0" anchor="ctr"/>
          <a:lstStyle/>
          <a:p>
            <a:pPr indent="0" marL="0">
              <a:buNone/>
            </a:pPr>
            <a:endParaRPr lang="en-US" dirty="0"/>
          </a:p>
        </p:txBody>
      </p:sp>
      <p:sp>
        <p:nvSpPr>
          <p:cNvPr id="22" name="Shape 19"/>
          <p:cNvSpPr/>
          <p:nvPr/>
        </p:nvSpPr>
        <p:spPr>
          <a:xfrm>
            <a:off x="439341" y="4266158"/>
            <a:ext cx="0" cy="609674"/>
          </a:xfrm>
          <a:prstGeom prst="line">
            <a:avLst/>
          </a:prstGeom>
          <a:noFill/>
          <a:ln w="21431">
            <a:solidFill>
              <a:srgbClr val="DC2626"/>
            </a:solidFill>
            <a:prstDash val="solid"/>
          </a:ln>
        </p:spPr>
      </p:sp>
      <p:sp>
        <p:nvSpPr>
          <p:cNvPr id="23" name="Text 20"/>
          <p:cNvSpPr/>
          <p:nvPr/>
        </p:nvSpPr>
        <p:spPr>
          <a:xfrm>
            <a:off x="550069" y="4337596"/>
            <a:ext cx="8175022" cy="119015"/>
          </a:xfrm>
          <a:prstGeom prst="rect">
            <a:avLst/>
          </a:prstGeom>
          <a:noFill/>
          <a:ln/>
        </p:spPr>
        <p:txBody>
          <a:bodyPr wrap="square" lIns="0" tIns="0" rIns="0" bIns="0" rtlCol="0" anchor="t">
            <a:normAutofit/>
          </a:bodyPr>
          <a:lstStyle/>
          <a:p>
            <a:pPr algn="l" indent="0" marL="0">
              <a:lnSpc>
                <a:spcPts val="928"/>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KOPPLING TILL VARIABEL 19</a:t>
            </a:r>
            <a:endParaRPr lang="en-US" sz="800" dirty="0"/>
          </a:p>
        </p:txBody>
      </p:sp>
      <p:sp>
        <p:nvSpPr>
          <p:cNvPr id="24" name="Text 21"/>
          <p:cNvSpPr/>
          <p:nvPr/>
        </p:nvSpPr>
        <p:spPr>
          <a:xfrm>
            <a:off x="550069" y="4484043"/>
            <a:ext cx="8065294" cy="320353"/>
          </a:xfrm>
          <a:prstGeom prst="rect">
            <a:avLst/>
          </a:prstGeom>
          <a:noFill/>
          <a:ln/>
        </p:spPr>
        <p:txBody>
          <a:bodyPr wrap="square" lIns="0" tIns="0" rIns="0" bIns="0" rtlCol="0" anchor="t"/>
          <a:lstStyle/>
          <a:p>
            <a:pPr algn="l" indent="0" marL="0">
              <a:lnSpc>
                <a:spcPts val="1177"/>
              </a:lnSpc>
              <a:buNone/>
            </a:pPr>
            <a:r>
              <a:rPr lang="en-US" sz="800" dirty="0">
                <a:solidFill>
                  <a:srgbClr val="1A1F2E"/>
                </a:solidFill>
                <a:latin typeface="Carlito" pitchFamily="34" charset="0"/>
                <a:ea typeface="Carlito" pitchFamily="34" charset="-122"/>
                <a:cs typeface="Carlito" pitchFamily="34" charset="-120"/>
              </a:rPr>
              <a:t>Bruttomarginal är </a:t>
            </a:r>
            <a:pPr algn="l" indent="0" marL="0">
              <a:lnSpc>
                <a:spcPts val="1177"/>
              </a:lnSpc>
              <a:buNone/>
            </a:pPr>
            <a:r>
              <a:rPr lang="en-US" sz="800" b="1" dirty="0">
                <a:solidFill>
                  <a:srgbClr val="1A1F2E"/>
                </a:solidFill>
                <a:latin typeface="Carlito" pitchFamily="34" charset="0"/>
                <a:ea typeface="Carlito" pitchFamily="34" charset="-122"/>
                <a:cs typeface="Carlito" pitchFamily="34" charset="-120"/>
              </a:rPr>
              <a:t>KRITISK</a:t>
            </a:r>
            <a:pPr algn="l" indent="0" marL="0">
              <a:lnSpc>
                <a:spcPts val="1177"/>
              </a:lnSpc>
              <a:buNone/>
            </a:pPr>
            <a:r>
              <a:rPr lang="en-US" sz="800" dirty="0">
                <a:solidFill>
                  <a:srgbClr val="1A1F2E"/>
                </a:solidFill>
                <a:latin typeface="Carlito" pitchFamily="34" charset="0"/>
                <a:ea typeface="Carlito" pitchFamily="34" charset="-122"/>
                <a:cs typeface="Carlito" pitchFamily="34" charset="-120"/>
              </a:rPr>
              <a:t> för variabel 19 (kapital för bränning). Varför? Vid 71% brutto: varje extra 1 MSEK omsättning ger 0,71 MSEK att täcka fasta kostnader. När ARR når break-even (82 MSEK) stannar kapital förbränningen. </a:t>
            </a:r>
            <a:pPr algn="l" indent="0" marL="0">
              <a:lnSpc>
                <a:spcPts val="1177"/>
              </a:lnSpc>
              <a:buNone/>
            </a:pPr>
            <a:r>
              <a:rPr lang="en-US" sz="800" b="1" dirty="0">
                <a:solidFill>
                  <a:srgbClr val="1A1F2E"/>
                </a:solidFill>
                <a:latin typeface="Carlito" pitchFamily="34" charset="0"/>
                <a:ea typeface="Carlito" pitchFamily="34" charset="-122"/>
                <a:cs typeface="Carlito" pitchFamily="34" charset="-120"/>
              </a:rPr>
              <a:t>Brutto bestämmer hur snabbt bolag når break-even.</a:t>
            </a:r>
            <a:endParaRPr lang="en-US" sz="800" dirty="0"/>
          </a:p>
        </p:txBody>
      </p:sp>
      <p:sp>
        <p:nvSpPr>
          <p:cNvPr id="25" name="Shape 22"/>
          <p:cNvSpPr/>
          <p:nvPr/>
        </p:nvSpPr>
        <p:spPr>
          <a:xfrm>
            <a:off x="457200" y="4850606"/>
            <a:ext cx="8229600" cy="0"/>
          </a:xfrm>
          <a:prstGeom prst="line">
            <a:avLst/>
          </a:prstGeom>
          <a:noFill/>
          <a:ln w="7144">
            <a:solidFill>
              <a:srgbClr val="E2E5EA"/>
            </a:solidFill>
            <a:prstDash val="solid"/>
          </a:ln>
        </p:spPr>
      </p:sp>
      <p:sp>
        <p:nvSpPr>
          <p:cNvPr id="26" name="Text 23"/>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2 — Tillväxt</a:t>
            </a:r>
            <a:endParaRPr lang="en-US" sz="800" dirty="0"/>
          </a:p>
        </p:txBody>
      </p:sp>
      <p:sp>
        <p:nvSpPr>
          <p:cNvPr id="27" name="Text 24"/>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13 / 40</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6981788"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TILLVÄXT</a:t>
            </a:r>
            <a:endParaRPr lang="en-US" sz="800" dirty="0"/>
          </a:p>
        </p:txBody>
      </p:sp>
      <p:sp>
        <p:nvSpPr>
          <p:cNvPr id="4" name="Text 2"/>
          <p:cNvSpPr/>
          <p:nvPr/>
        </p:nvSpPr>
        <p:spPr>
          <a:xfrm>
            <a:off x="7424700" y="285750"/>
            <a:ext cx="1290675"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14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Tillväxt — sammanfattning</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3 VARIABLER SOM SVARAR PÅ: VÄXER BOLAGET?</a:t>
            </a:r>
            <a:endParaRPr lang="en-US" sz="844"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8625" y="1160078"/>
          <a:ext cx="8286750" cy="914400"/>
        </p:xfrm>
        <a:graphic>
          <a:graphicData uri="http://schemas.openxmlformats.org/drawingml/2006/table">
            <a:tbl>
              <a:tblPr/>
              <a:tblGrid>
                <a:gridCol w="285750"/>
                <a:gridCol w="2421396"/>
                <a:gridCol w="1948235"/>
                <a:gridCol w="571500"/>
                <a:gridCol w="3059869"/>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Intäktstillväxt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+25,4% YoY</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Växer exceptionellt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ARR-tillväxt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+25,4%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Stamkunder växer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6</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Bruttomarginal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71%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lönsam kärna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32197" y="2391259"/>
            <a:ext cx="4079081" cy="1630449"/>
          </a:xfrm>
          <a:prstGeom prst="roundRect">
            <a:avLst>
              <a:gd name="adj" fmla="val 3505"/>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535781" y="2466268"/>
            <a:ext cx="3871913"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535781" y="2642183"/>
            <a:ext cx="3871913" cy="442270"/>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Tillväxt är Safestates </a:t>
            </a:r>
            <a:pPr algn="l" indent="0" marL="0">
              <a:lnSpc>
                <a:spcPts val="1139"/>
              </a:lnSpc>
              <a:buNone/>
            </a:pPr>
            <a:r>
              <a:rPr lang="en-US" sz="800" b="1" dirty="0">
                <a:solidFill>
                  <a:srgbClr val="1A1F2E"/>
                </a:solidFill>
                <a:latin typeface="Carlito" pitchFamily="34" charset="0"/>
                <a:ea typeface="Carlito" pitchFamily="34" charset="-122"/>
                <a:cs typeface="Carlito" pitchFamily="34" charset="-120"/>
              </a:rPr>
              <a:t>STRUKTURELL STYRKA</a:t>
            </a:r>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 Alla 3 variabler = 5. Detta kompenserar för svag värdering (kategori 1). SaaS-bolag med hög tillväxt + hög bruttomarginal är attraktiva.</a:t>
            </a:r>
            <a:endParaRPr lang="en-US" sz="800" dirty="0"/>
          </a:p>
        </p:txBody>
      </p:sp>
      <p:sp>
        <p:nvSpPr>
          <p:cNvPr id="11" name="Text 8"/>
          <p:cNvSpPr/>
          <p:nvPr/>
        </p:nvSpPr>
        <p:spPr>
          <a:xfrm>
            <a:off x="535781" y="3111884"/>
            <a:ext cx="3871913" cy="329184"/>
          </a:xfrm>
          <a:prstGeom prst="rect">
            <a:avLst/>
          </a:prstGeom>
          <a:noFill/>
          <a:ln/>
        </p:spPr>
        <p:txBody>
          <a:bodyPr wrap="square" lIns="0" tIns="0" rIns="0" bIns="0" rtlCol="0" anchor="t"/>
          <a:lstStyle/>
          <a:p>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Bruttomarginal kopplar direkt till variabel 19 — den avgör hur snabbt bolag når break-even.</a:t>
            </a:r>
            <a:endParaRPr lang="en-US" sz="800" dirty="0"/>
          </a:p>
        </p:txBody>
      </p:sp>
      <p:sp>
        <p:nvSpPr>
          <p:cNvPr id="12" name="Text 9"/>
          <p:cNvSpPr/>
          <p:nvPr/>
        </p:nvSpPr>
        <p:spPr>
          <a:xfrm>
            <a:off x="4629150" y="2344824"/>
            <a:ext cx="4086225" cy="1723318"/>
          </a:xfrm>
          <a:prstGeom prst="rect">
            <a:avLst/>
          </a:prstGeom>
          <a:solidFill>
            <a:srgbClr val="2563EB">
              <a:alpha val="6000"/>
            </a:srgbClr>
          </a:solidFill>
          <a:ln/>
        </p:spPr>
        <p:txBody>
          <a:bodyPr wrap="square" rtlCol="0" anchor="ctr"/>
          <a:lstStyle/>
          <a:p>
            <a:pPr indent="0" marL="0">
              <a:buNone/>
            </a:pPr>
            <a:endParaRPr lang="en-US" dirty="0"/>
          </a:p>
        </p:txBody>
      </p:sp>
      <p:sp>
        <p:nvSpPr>
          <p:cNvPr id="13" name="Shape 10"/>
          <p:cNvSpPr/>
          <p:nvPr/>
        </p:nvSpPr>
        <p:spPr>
          <a:xfrm>
            <a:off x="4639866" y="2344824"/>
            <a:ext cx="0" cy="1723318"/>
          </a:xfrm>
          <a:prstGeom prst="line">
            <a:avLst/>
          </a:prstGeom>
          <a:noFill/>
          <a:ln w="21431">
            <a:solidFill>
              <a:srgbClr val="2563EB"/>
            </a:solidFill>
            <a:prstDash val="solid"/>
          </a:ln>
        </p:spPr>
      </p:sp>
      <p:sp>
        <p:nvSpPr>
          <p:cNvPr id="14" name="Text 11"/>
          <p:cNvSpPr/>
          <p:nvPr/>
        </p:nvSpPr>
        <p:spPr>
          <a:xfrm>
            <a:off x="4750594" y="2416262"/>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NYBÖRJARREGEL</a:t>
            </a:r>
            <a:endParaRPr lang="en-US" sz="800" dirty="0"/>
          </a:p>
        </p:txBody>
      </p:sp>
      <p:sp>
        <p:nvSpPr>
          <p:cNvPr id="15" name="Text 12"/>
          <p:cNvSpPr/>
          <p:nvPr/>
        </p:nvSpPr>
        <p:spPr>
          <a:xfrm>
            <a:off x="4750594" y="2600548"/>
            <a:ext cx="3974497" cy="173932"/>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Tillväxt är bra, men kolla kvaliteten:</a:t>
            </a:r>
            <a:endParaRPr lang="en-US" sz="816" dirty="0"/>
          </a:p>
        </p:txBody>
      </p:sp>
      <p:sp>
        <p:nvSpPr>
          <p:cNvPr id="16" name="Text 13"/>
          <p:cNvSpPr/>
          <p:nvPr/>
        </p:nvSpPr>
        <p:spPr>
          <a:xfrm>
            <a:off x="4750594" y="2801913"/>
            <a:ext cx="3864769" cy="550890"/>
          </a:xfrm>
          <a:prstGeom prst="rect">
            <a:avLst/>
          </a:prstGeom>
          <a:noFill/>
          <a:ln/>
        </p:spPr>
        <p:txBody>
          <a:bodyPr wrap="square" lIns="0" tIns="0" rIns="0" bIns="0" rtlCol="0" anchor="t"/>
          <a:lstStyle/>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Organisk</a:t>
            </a:r>
            <a:pPr algn="l" indent="0" marL="0">
              <a:lnSpc>
                <a:spcPts val="1139"/>
              </a:lnSpc>
              <a:buNone/>
            </a:pPr>
            <a:r>
              <a:rPr lang="en-US" sz="800" dirty="0">
                <a:solidFill>
                  <a:srgbClr val="3D4556"/>
                </a:solidFill>
                <a:latin typeface="Carlito" pitchFamily="34" charset="0"/>
                <a:ea typeface="Carlito" pitchFamily="34" charset="-122"/>
                <a:cs typeface="Carlito" pitchFamily="34" charset="-120"/>
              </a:rPr>
              <a:t> tillväxt (egna kunder) &gt; Förvärvstillväxt</a:t>
            </a:r>
            <a:endParaRPr lang="en-US" sz="800" dirty="0"/>
          </a:p>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ARR-tillväxt</a:t>
            </a:r>
            <a:pPr algn="l" indent="0" marL="0">
              <a:lnSpc>
                <a:spcPts val="1139"/>
              </a:lnSpc>
              <a:buNone/>
            </a:pPr>
            <a:r>
              <a:rPr lang="en-US" sz="800" dirty="0">
                <a:solidFill>
                  <a:srgbClr val="3D4556"/>
                </a:solidFill>
                <a:latin typeface="Carlito" pitchFamily="34" charset="0"/>
                <a:ea typeface="Carlito" pitchFamily="34" charset="-122"/>
                <a:cs typeface="Carlito" pitchFamily="34" charset="-120"/>
              </a:rPr>
              <a:t> &gt; Total tillväxt (mer SaaS-igt)</a:t>
            </a:r>
            <a:endParaRPr lang="en-US" sz="800" dirty="0"/>
          </a:p>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Bruttomarginal</a:t>
            </a:r>
            <a:pPr algn="l" indent="0" marL="0">
              <a:lnSpc>
                <a:spcPts val="113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&gt; 60% (SaaS) = bra</a:t>
            </a:r>
            <a:endParaRPr lang="en-US" sz="800" dirty="0"/>
          </a:p>
        </p:txBody>
      </p:sp>
      <p:sp>
        <p:nvSpPr>
          <p:cNvPr id="17" name="Text 14"/>
          <p:cNvSpPr/>
          <p:nvPr/>
        </p:nvSpPr>
        <p:spPr>
          <a:xfrm>
            <a:off x="4750594" y="3357339"/>
            <a:ext cx="3974497" cy="151162"/>
          </a:xfrm>
          <a:prstGeom prst="rect">
            <a:avLst/>
          </a:prstGeom>
          <a:noFill/>
          <a:ln/>
        </p:spPr>
        <p:txBody>
          <a:bodyPr wrap="square" lIns="0" tIns="0" rIns="0" bIns="0" rtlCol="0" anchor="t">
            <a:normAutofit/>
          </a:bodyPr>
          <a:lstStyle/>
          <a:p>
            <a:pPr algn="l" indent="0" marL="0">
              <a:lnSpc>
                <a:spcPts val="1125"/>
              </a:lnSpc>
              <a:buNone/>
            </a:pPr>
            <a:r>
              <a:rPr lang="en-US" sz="800" b="1" dirty="0">
                <a:solidFill>
                  <a:srgbClr val="3D4556"/>
                </a:solidFill>
                <a:latin typeface="Carlito" pitchFamily="34" charset="0"/>
                <a:ea typeface="Carlito" pitchFamily="34" charset="-122"/>
                <a:cs typeface="Carlito" pitchFamily="34" charset="-120"/>
              </a:rPr>
              <a:t>Tre vägar till hög tillväxt:</a:t>
            </a:r>
            <a:endParaRPr lang="en-US" sz="800" dirty="0"/>
          </a:p>
        </p:txBody>
      </p:sp>
      <p:sp>
        <p:nvSpPr>
          <p:cNvPr id="18" name="Text 15"/>
          <p:cNvSpPr/>
          <p:nvPr/>
        </p:nvSpPr>
        <p:spPr>
          <a:xfrm>
            <a:off x="4750594" y="3535933"/>
            <a:ext cx="3864769" cy="488418"/>
          </a:xfrm>
          <a:prstGeom prst="rect">
            <a:avLst/>
          </a:prstGeom>
          <a:noFill/>
          <a:ln/>
        </p:spPr>
        <p:txBody>
          <a:bodyPr wrap="square" lIns="0" tIns="0" rIns="0" bIns="0" rtlCol="0" anchor="t"/>
          <a:lstStyle/>
          <a:p>
            <a:pPr algn="l" marL="342900" indent="-342900">
              <a:lnSpc>
                <a:spcPts val="1097"/>
              </a:lnSpc>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Flera nya kunder</a:t>
            </a:r>
            <a:endParaRPr lang="en-US" sz="800" dirty="0"/>
          </a:p>
          <a:p>
            <a:pPr algn="l" marL="342900" indent="-342900">
              <a:lnSpc>
                <a:spcPts val="1097"/>
              </a:lnSpc>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Befintliga kunder betalar mer</a:t>
            </a:r>
            <a:endParaRPr lang="en-US" sz="800" dirty="0"/>
          </a:p>
          <a:p>
            <a:pPr algn="l" marL="342900" indent="-342900">
              <a:lnSpc>
                <a:spcPts val="1097"/>
              </a:lnSpc>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Högre pris (pris-kraft)</a:t>
            </a:r>
            <a:endParaRPr lang="en-US" sz="800" dirty="0"/>
          </a:p>
        </p:txBody>
      </p:sp>
      <p:sp>
        <p:nvSpPr>
          <p:cNvPr id="19" name="Text 16"/>
          <p:cNvSpPr/>
          <p:nvPr/>
        </p:nvSpPr>
        <p:spPr>
          <a:xfrm>
            <a:off x="428625" y="4153867"/>
            <a:ext cx="8286750" cy="492807"/>
          </a:xfrm>
          <a:prstGeom prst="rect">
            <a:avLst/>
          </a:prstGeom>
          <a:solidFill>
            <a:srgbClr val="B8942E">
              <a:alpha val="6000"/>
            </a:srgbClr>
          </a:solidFill>
          <a:ln/>
        </p:spPr>
        <p:txBody>
          <a:bodyPr wrap="square" rtlCol="0" anchor="ctr"/>
          <a:lstStyle/>
          <a:p>
            <a:pPr indent="0" marL="0">
              <a:buNone/>
            </a:pPr>
            <a:endParaRPr lang="en-US" dirty="0"/>
          </a:p>
        </p:txBody>
      </p:sp>
      <p:sp>
        <p:nvSpPr>
          <p:cNvPr id="20" name="Shape 17"/>
          <p:cNvSpPr/>
          <p:nvPr/>
        </p:nvSpPr>
        <p:spPr>
          <a:xfrm>
            <a:off x="439341" y="4153867"/>
            <a:ext cx="0" cy="492807"/>
          </a:xfrm>
          <a:prstGeom prst="line">
            <a:avLst/>
          </a:prstGeom>
          <a:noFill/>
          <a:ln w="21431">
            <a:solidFill>
              <a:srgbClr val="B8942E"/>
            </a:solidFill>
            <a:prstDash val="solid"/>
          </a:ln>
        </p:spPr>
      </p:sp>
      <p:sp>
        <p:nvSpPr>
          <p:cNvPr id="21" name="Text 18"/>
          <p:cNvSpPr/>
          <p:nvPr/>
        </p:nvSpPr>
        <p:spPr>
          <a:xfrm>
            <a:off x="550069" y="4225305"/>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2" name="Text 19"/>
          <p:cNvSpPr/>
          <p:nvPr/>
        </p:nvSpPr>
        <p:spPr>
          <a:xfrm>
            <a:off x="550069" y="4409591"/>
            <a:ext cx="8065294" cy="165646"/>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Lönsamhet — tjänar bolag pengar?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Safestate har hög tillväxt men negativ EBITDA. Detta är typiskt för SaaS i expansion — investerar i framtiden.</a:t>
            </a:r>
            <a:endParaRPr lang="en-US" sz="816" dirty="0"/>
          </a:p>
        </p:txBody>
      </p:sp>
      <p:sp>
        <p:nvSpPr>
          <p:cNvPr id="23" name="Shape 20"/>
          <p:cNvSpPr/>
          <p:nvPr/>
        </p:nvSpPr>
        <p:spPr>
          <a:xfrm>
            <a:off x="457200" y="4850606"/>
            <a:ext cx="8229600" cy="0"/>
          </a:xfrm>
          <a:prstGeom prst="line">
            <a:avLst/>
          </a:prstGeom>
          <a:noFill/>
          <a:ln w="7144">
            <a:solidFill>
              <a:srgbClr val="E2E5EA"/>
            </a:solidFill>
            <a:prstDash val="solid"/>
          </a:ln>
        </p:spPr>
      </p:sp>
      <p:sp>
        <p:nvSpPr>
          <p:cNvPr id="24" name="Text 21"/>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2 — Tillväxt</a:t>
            </a:r>
            <a:endParaRPr lang="en-US" sz="800" dirty="0"/>
          </a:p>
        </p:txBody>
      </p:sp>
      <p:sp>
        <p:nvSpPr>
          <p:cNvPr id="25" name="Text 22"/>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14 / 40</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571500"/>
            <a:ext cx="5968117" cy="3209544"/>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03</a:t>
            </a:r>
            <a:endParaRPr lang="en-US" sz="29250" dirty="0"/>
          </a:p>
        </p:txBody>
      </p:sp>
      <p:sp>
        <p:nvSpPr>
          <p:cNvPr id="5" name="Text 1"/>
          <p:cNvSpPr/>
          <p:nvPr/>
        </p:nvSpPr>
        <p:spPr>
          <a:xfrm>
            <a:off x="2408415" y="3457575"/>
            <a:ext cx="6735585" cy="1685925"/>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03</a:t>
            </a:r>
            <a:endParaRPr lang="en-US" sz="29250" dirty="0"/>
          </a:p>
        </p:txBody>
      </p:sp>
      <p:sp>
        <p:nvSpPr>
          <p:cNvPr id="6" name="Text 2"/>
          <p:cNvSpPr/>
          <p:nvPr/>
        </p:nvSpPr>
        <p:spPr>
          <a:xfrm>
            <a:off x="457200"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7" name="Text 3"/>
          <p:cNvSpPr/>
          <p:nvPr/>
        </p:nvSpPr>
        <p:spPr>
          <a:xfrm>
            <a:off x="7353374" y="342900"/>
            <a:ext cx="1748038" cy="181051"/>
          </a:xfrm>
          <a:prstGeom prst="rect">
            <a:avLst/>
          </a:prstGeom>
          <a:noFill/>
          <a:ln/>
        </p:spPr>
        <p:txBody>
          <a:bodyPr wrap="none" lIns="0" tIns="0" rIns="0" bIns="0" rtlCol="0" anchor="t"/>
          <a:lstStyle/>
          <a:p>
            <a:pPr algn="l" indent="0" marL="0">
              <a:lnSpc>
                <a:spcPts val="928"/>
              </a:lnSpc>
              <a:buNone/>
            </a:pPr>
            <a:r>
              <a:rPr lang="en-US" sz="800" spc="169" kern="0" dirty="0">
                <a:solidFill>
                  <a:srgbClr val="7A8498"/>
                </a:solidFill>
                <a:latin typeface="Liberation Sans Narrow" pitchFamily="34" charset="0"/>
                <a:ea typeface="Liberation Sans Narrow" pitchFamily="34" charset="-122"/>
                <a:cs typeface="Liberation Sans Narrow" pitchFamily="34" charset="-120"/>
              </a:rPr>
              <a:t>AK1A · KATEGORI 03 / 06</a:t>
            </a:r>
            <a:endParaRPr lang="en-US" sz="800" dirty="0"/>
          </a:p>
        </p:txBody>
      </p:sp>
      <p:sp>
        <p:nvSpPr>
          <p:cNvPr id="8" name="Text 4"/>
          <p:cNvSpPr/>
          <p:nvPr/>
        </p:nvSpPr>
        <p:spPr>
          <a:xfrm>
            <a:off x="914400" y="612688"/>
            <a:ext cx="82296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3 AV 6</a:t>
            </a:r>
            <a:endParaRPr lang="en-US" sz="800" dirty="0"/>
          </a:p>
        </p:txBody>
      </p:sp>
      <p:sp>
        <p:nvSpPr>
          <p:cNvPr id="9" name="Text 5"/>
          <p:cNvSpPr/>
          <p:nvPr/>
        </p:nvSpPr>
        <p:spPr>
          <a:xfrm>
            <a:off x="914400" y="865845"/>
            <a:ext cx="8229600" cy="1287018"/>
          </a:xfrm>
          <a:prstGeom prst="rect">
            <a:avLst/>
          </a:prstGeom>
          <a:noFill/>
          <a:ln/>
        </p:spPr>
        <p:txBody>
          <a:bodyPr wrap="none" lIns="0" tIns="0" rIns="0" bIns="0" rtlCol="0" anchor="t">
            <a:normAutofit/>
          </a:bodyPr>
          <a:lstStyle/>
          <a:p>
            <a:pPr algn="l" indent="0" marL="0">
              <a:lnSpc>
                <a:spcPts val="9563"/>
              </a:lnSpc>
              <a:buNone/>
            </a:pPr>
            <a:r>
              <a:rPr lang="en-US" sz="11250" b="1" spc="-337" kern="0" dirty="0">
                <a:solidFill>
                  <a:srgbClr val="D4A832">
                    <a:alpha val="92000"/>
                  </a:srgbClr>
                </a:solidFill>
                <a:latin typeface="Liberation Sans Narrow" pitchFamily="34" charset="0"/>
                <a:ea typeface="Liberation Sans Narrow" pitchFamily="34" charset="-122"/>
                <a:cs typeface="Liberation Sans Narrow" pitchFamily="34" charset="-120"/>
              </a:rPr>
              <a:t>03</a:t>
            </a:r>
            <a:endParaRPr lang="en-US" sz="11250" dirty="0"/>
          </a:p>
        </p:txBody>
      </p:sp>
      <p:sp>
        <p:nvSpPr>
          <p:cNvPr id="10" name="Text 6"/>
          <p:cNvSpPr/>
          <p:nvPr/>
        </p:nvSpPr>
        <p:spPr>
          <a:xfrm>
            <a:off x="914400" y="2180295"/>
            <a:ext cx="6789420" cy="407341"/>
          </a:xfrm>
          <a:prstGeom prst="rect">
            <a:avLst/>
          </a:prstGeom>
          <a:noFill/>
          <a:ln/>
        </p:spPr>
        <p:txBody>
          <a:bodyPr wrap="square" lIns="0" tIns="0" rIns="0" bIns="0" rtlCol="0" anchor="t"/>
          <a:lstStyle/>
          <a:p>
            <a:pPr algn="l" indent="0" marL="0">
              <a:lnSpc>
                <a:spcPts val="2970"/>
              </a:lnSpc>
              <a:buNone/>
            </a:pPr>
            <a:r>
              <a:rPr lang="en-US" sz="2700" b="1" spc="-45" kern="0" dirty="0">
                <a:solidFill>
                  <a:srgbClr val="FFFFFF"/>
                </a:solidFill>
                <a:latin typeface="Carlito" pitchFamily="34" charset="0"/>
                <a:ea typeface="Carlito" pitchFamily="34" charset="-122"/>
                <a:cs typeface="Carlito" pitchFamily="34" charset="-120"/>
              </a:rPr>
              <a:t>Lönsamhet — Tjänar bolaget pengar?</a:t>
            </a:r>
            <a:endParaRPr lang="en-US" sz="2700" dirty="0"/>
          </a:p>
        </p:txBody>
      </p:sp>
      <p:sp>
        <p:nvSpPr>
          <p:cNvPr id="11" name="Text 7"/>
          <p:cNvSpPr/>
          <p:nvPr/>
        </p:nvSpPr>
        <p:spPr>
          <a:xfrm>
            <a:off x="914400" y="2686050"/>
            <a:ext cx="5429250" cy="592387"/>
          </a:xfrm>
          <a:prstGeom prst="rect">
            <a:avLst/>
          </a:prstGeom>
          <a:noFill/>
          <a:ln/>
        </p:spPr>
        <p:txBody>
          <a:bodyPr wrap="square" lIns="0" tIns="0" rIns="0" bIns="0" rtlCol="0" anchor="t"/>
          <a:lstStyle/>
          <a:p>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3 variabler som mäter om bolaget är lönsamt.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EBITDA-marginal</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driftslönsamhet.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FCF/Intäkt</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fritt kassaflöde.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ROE</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avkastning på eget kapital. För SaaS i expansion ofta negativt — men trenden mot break-even är avgörande.</a:t>
            </a:r>
            <a:endParaRPr lang="en-US" sz="900" dirty="0"/>
          </a:p>
        </p:txBody>
      </p:sp>
      <p:sp>
        <p:nvSpPr>
          <p:cNvPr id="12" name="Text 8"/>
          <p:cNvSpPr/>
          <p:nvPr/>
        </p:nvSpPr>
        <p:spPr>
          <a:xfrm>
            <a:off x="917972" y="3366715"/>
            <a:ext cx="7308056" cy="208173"/>
          </a:xfrm>
          <a:prstGeom prst="roundRect">
            <a:avLst>
              <a:gd name="adj" fmla="val 18302"/>
            </a:avLst>
          </a:prstGeom>
          <a:solidFill>
            <a:srgbClr val="B8942E">
              <a:alpha val="12000"/>
            </a:srgbClr>
          </a:solidFill>
          <a:ln w="7144">
            <a:solidFill>
              <a:srgbClr val="B8942E"/>
            </a:solidFill>
            <a:prstDash val="solid"/>
          </a:ln>
        </p:spPr>
        <p:txBody>
          <a:bodyPr wrap="square" rtlCol="0" anchor="ctr"/>
          <a:lstStyle/>
          <a:p>
            <a:pPr indent="0" marL="0">
              <a:buNone/>
            </a:pPr>
            <a:endParaRPr lang="en-US" dirty="0"/>
          </a:p>
        </p:txBody>
      </p:sp>
      <p:sp>
        <p:nvSpPr>
          <p:cNvPr id="13" name="Text 9"/>
          <p:cNvSpPr/>
          <p:nvPr/>
        </p:nvSpPr>
        <p:spPr>
          <a:xfrm>
            <a:off x="914400" y="3363144"/>
            <a:ext cx="7315200" cy="215317"/>
          </a:xfrm>
          <a:prstGeom prst="rect">
            <a:avLst/>
          </a:prstGeom>
          <a:noFill/>
          <a:ln/>
        </p:spPr>
        <p:txBody>
          <a:bodyPr wrap="none" lIns="0" tIns="0" rIns="0" bIns="0" rtlCol="0" anchor="ctr"/>
          <a:lstStyle/>
          <a:p>
            <a:pPr algn="ctr" indent="0" marL="0">
              <a:lnSpc>
                <a:spcPts val="1021"/>
              </a:lnSpc>
              <a:buNone/>
            </a:pPr>
            <a:r>
              <a:rPr lang="en-US" sz="800" spc="84" kern="0" dirty="0">
                <a:solidFill>
                  <a:srgbClr val="D4A832"/>
                </a:solidFill>
                <a:latin typeface="Liberation Sans Narrow" pitchFamily="34" charset="0"/>
                <a:ea typeface="Liberation Sans Narrow" pitchFamily="34" charset="-122"/>
                <a:cs typeface="Liberation Sans Narrow" pitchFamily="34" charset="-120"/>
              </a:rPr>
              <a:t>VIKT 30 % · 3 VARIABLER</a:t>
            </a:r>
            <a:endParaRPr lang="en-US" sz="800" dirty="0"/>
          </a:p>
        </p:txBody>
      </p:sp>
      <p:sp>
        <p:nvSpPr>
          <p:cNvPr id="14" name="Text 10"/>
          <p:cNvSpPr/>
          <p:nvPr/>
        </p:nvSpPr>
        <p:spPr>
          <a:xfrm>
            <a:off x="917972" y="3767770"/>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5" name="Text 11"/>
          <p:cNvSpPr/>
          <p:nvPr/>
        </p:nvSpPr>
        <p:spPr>
          <a:xfrm>
            <a:off x="1021556" y="3857067"/>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7</a:t>
            </a:r>
            <a:endParaRPr lang="en-US" sz="800" dirty="0"/>
          </a:p>
        </p:txBody>
      </p:sp>
      <p:sp>
        <p:nvSpPr>
          <p:cNvPr id="16" name="Text 12"/>
          <p:cNvSpPr/>
          <p:nvPr/>
        </p:nvSpPr>
        <p:spPr>
          <a:xfrm>
            <a:off x="1021556" y="4024499"/>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EBITDA-marginal</a:t>
            </a:r>
            <a:endParaRPr lang="en-US" sz="800" dirty="0"/>
          </a:p>
        </p:txBody>
      </p:sp>
      <p:sp>
        <p:nvSpPr>
          <p:cNvPr id="17" name="Text 13"/>
          <p:cNvSpPr/>
          <p:nvPr/>
        </p:nvSpPr>
        <p:spPr>
          <a:xfrm>
            <a:off x="1021556" y="4218050"/>
            <a:ext cx="1909725"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Driftslönsamhet — vinst från verksamheten innan räntor, skatt, avskrivningar.</a:t>
            </a:r>
            <a:endParaRPr lang="en-US" sz="800" dirty="0"/>
          </a:p>
        </p:txBody>
      </p:sp>
      <p:sp>
        <p:nvSpPr>
          <p:cNvPr id="18" name="Text 14"/>
          <p:cNvSpPr/>
          <p:nvPr/>
        </p:nvSpPr>
        <p:spPr>
          <a:xfrm>
            <a:off x="3142022" y="3767770"/>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9" name="Text 15"/>
          <p:cNvSpPr/>
          <p:nvPr/>
        </p:nvSpPr>
        <p:spPr>
          <a:xfrm>
            <a:off x="3245607" y="3857067"/>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8</a:t>
            </a:r>
            <a:endParaRPr lang="en-US" sz="800" dirty="0"/>
          </a:p>
        </p:txBody>
      </p:sp>
      <p:sp>
        <p:nvSpPr>
          <p:cNvPr id="20" name="Text 16"/>
          <p:cNvSpPr/>
          <p:nvPr/>
        </p:nvSpPr>
        <p:spPr>
          <a:xfrm>
            <a:off x="3245607" y="4024499"/>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FCF/Intäkt</a:t>
            </a:r>
            <a:endParaRPr lang="en-US" sz="800" dirty="0"/>
          </a:p>
        </p:txBody>
      </p:sp>
      <p:sp>
        <p:nvSpPr>
          <p:cNvPr id="21" name="Text 17"/>
          <p:cNvSpPr/>
          <p:nvPr/>
        </p:nvSpPr>
        <p:spPr>
          <a:xfrm>
            <a:off x="3245607" y="4218050"/>
            <a:ext cx="1909725"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Fritt kassaflöde — pengarna som verkligen hamnar i kassan efter investeringar.</a:t>
            </a:r>
            <a:endParaRPr lang="en-US" sz="800" dirty="0"/>
          </a:p>
        </p:txBody>
      </p:sp>
      <p:sp>
        <p:nvSpPr>
          <p:cNvPr id="22" name="Text 18"/>
          <p:cNvSpPr/>
          <p:nvPr/>
        </p:nvSpPr>
        <p:spPr>
          <a:xfrm>
            <a:off x="5366072" y="3767770"/>
            <a:ext cx="2117006"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23" name="Text 19"/>
          <p:cNvSpPr/>
          <p:nvPr/>
        </p:nvSpPr>
        <p:spPr>
          <a:xfrm>
            <a:off x="5469657" y="3857067"/>
            <a:ext cx="1909837"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9</a:t>
            </a:r>
            <a:endParaRPr lang="en-US" sz="800" dirty="0"/>
          </a:p>
        </p:txBody>
      </p:sp>
      <p:sp>
        <p:nvSpPr>
          <p:cNvPr id="24" name="Text 20"/>
          <p:cNvSpPr/>
          <p:nvPr/>
        </p:nvSpPr>
        <p:spPr>
          <a:xfrm>
            <a:off x="5469657" y="4024499"/>
            <a:ext cx="1909837"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ROE</a:t>
            </a:r>
            <a:endParaRPr lang="en-US" sz="800" dirty="0"/>
          </a:p>
        </p:txBody>
      </p:sp>
      <p:sp>
        <p:nvSpPr>
          <p:cNvPr id="25" name="Text 21"/>
          <p:cNvSpPr/>
          <p:nvPr/>
        </p:nvSpPr>
        <p:spPr>
          <a:xfrm>
            <a:off x="5469657" y="4218050"/>
            <a:ext cx="1909837"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Avkastning på eget kapital — hur bra utdelas ägarnas pengar?</a:t>
            </a:r>
            <a:endParaRPr lang="en-US" sz="800" dirty="0"/>
          </a:p>
        </p:txBody>
      </p:sp>
      <p:sp>
        <p:nvSpPr>
          <p:cNvPr id="26" name="Shape 22"/>
          <p:cNvSpPr/>
          <p:nvPr/>
        </p:nvSpPr>
        <p:spPr>
          <a:xfrm>
            <a:off x="457200" y="4722019"/>
            <a:ext cx="8229600" cy="0"/>
          </a:xfrm>
          <a:prstGeom prst="line">
            <a:avLst/>
          </a:prstGeom>
          <a:noFill/>
          <a:ln w="7144">
            <a:solidFill>
              <a:srgbClr val="FFFFFF"/>
            </a:solidFill>
            <a:prstDash val="solid"/>
          </a:ln>
        </p:spPr>
      </p:sp>
      <p:sp>
        <p:nvSpPr>
          <p:cNvPr id="27" name="Text 23"/>
          <p:cNvSpPr/>
          <p:nvPr/>
        </p:nvSpPr>
        <p:spPr>
          <a:xfrm>
            <a:off x="457200" y="4797028"/>
            <a:ext cx="7896746" cy="117872"/>
          </a:xfrm>
          <a:prstGeom prst="rect">
            <a:avLst/>
          </a:prstGeom>
          <a:noFill/>
          <a:ln/>
        </p:spPr>
        <p:txBody>
          <a:bodyPr wrap="none" lIns="0" tIns="0" rIns="0" bIns="0" rtlCol="0" anchor="t"/>
          <a:lstStyle/>
          <a:p>
            <a:pPr algn="l" indent="0" marL="0">
              <a:lnSpc>
                <a:spcPts val="928"/>
              </a:lnSpc>
              <a:buNone/>
            </a:pPr>
            <a:r>
              <a:rPr lang="en-US" sz="800" spc="113" kern="0" dirty="0">
                <a:solidFill>
                  <a:srgbClr val="D4A832"/>
                </a:solidFill>
                <a:latin typeface="Liberation Sans Narrow" pitchFamily="34" charset="0"/>
                <a:ea typeface="Liberation Sans Narrow" pitchFamily="34" charset="-122"/>
                <a:cs typeface="Liberation Sans Narrow" pitchFamily="34" charset="-120"/>
              </a:rPr>
              <a:t>KATEGORI 03</a:t>
            </a:r>
            <a:pPr algn="l" indent="0" marL="0">
              <a:lnSpc>
                <a:spcPts val="928"/>
              </a:lnSpc>
              <a:buNone/>
            </a:pPr>
            <a:r>
              <a:rPr lang="en-US" sz="800" spc="113" kern="0" dirty="0">
                <a:solidFill>
                  <a:srgbClr val="5A6270"/>
                </a:solidFill>
                <a:latin typeface="Carlito" pitchFamily="34" charset="0"/>
                <a:ea typeface="Carlito" pitchFamily="34" charset="-122"/>
                <a:cs typeface="Carlito" pitchFamily="34" charset="-120"/>
              </a:rPr>
              <a:t> · LÖNSAMHET</a:t>
            </a:r>
            <a:endParaRPr lang="en-US" sz="800" dirty="0"/>
          </a:p>
        </p:txBody>
      </p:sp>
      <p:sp>
        <p:nvSpPr>
          <p:cNvPr id="28" name="Text 24"/>
          <p:cNvSpPr/>
          <p:nvPr/>
        </p:nvSpPr>
        <p:spPr>
          <a:xfrm>
            <a:off x="8357278" y="4797028"/>
            <a:ext cx="340477" cy="117872"/>
          </a:xfrm>
          <a:prstGeom prst="rect">
            <a:avLst/>
          </a:prstGeom>
          <a:noFill/>
          <a:ln/>
        </p:spPr>
        <p:txBody>
          <a:bodyPr wrap="none" lIns="0" tIns="0" rIns="0" bIns="0" rtlCol="0" anchor="t"/>
          <a:lstStyle/>
          <a:p>
            <a:pPr algn="l" indent="0" marL="0">
              <a:lnSpc>
                <a:spcPts val="928"/>
              </a:lnSpc>
              <a:buNone/>
            </a:pPr>
            <a:r>
              <a:rPr lang="en-US" sz="600" spc="113" kern="0" dirty="0">
                <a:solidFill>
                  <a:srgbClr val="5A6270"/>
                </a:solidFill>
                <a:latin typeface="Liberation Sans Narrow" pitchFamily="34" charset="0"/>
                <a:ea typeface="Liberation Sans Narrow" pitchFamily="34" charset="-122"/>
                <a:cs typeface="Liberation Sans Narrow" pitchFamily="34" charset="-120"/>
              </a:rPr>
              <a:t>15 / 40</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64169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LÖNSAMHET</a:t>
            </a:r>
            <a:endParaRPr lang="en-US" sz="800" dirty="0"/>
          </a:p>
        </p:txBody>
      </p:sp>
      <p:sp>
        <p:nvSpPr>
          <p:cNvPr id="4" name="Text 2"/>
          <p:cNvSpPr/>
          <p:nvPr/>
        </p:nvSpPr>
        <p:spPr>
          <a:xfrm>
            <a:off x="8049643" y="22860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7 · 16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7: EBITDA-marginal</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DRIFTSLÖNSAMHET — VINSTEN FRÅN SJÄLVA VERKSAMHETEN</a:t>
            </a:r>
            <a:endParaRPr lang="en-US" sz="800" dirty="0"/>
          </a:p>
        </p:txBody>
      </p:sp>
      <p:sp>
        <p:nvSpPr>
          <p:cNvPr id="7" name="Text 5"/>
          <p:cNvSpPr/>
          <p:nvPr/>
        </p:nvSpPr>
        <p:spPr>
          <a:xfrm>
            <a:off x="400050" y="976796"/>
            <a:ext cx="8343900" cy="756679"/>
          </a:xfrm>
          <a:prstGeom prst="roundRect">
            <a:avLst>
              <a:gd name="adj" fmla="val 7553"/>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756679"/>
          </a:xfrm>
          <a:prstGeom prst="line">
            <a:avLst/>
          </a:prstGeom>
          <a:noFill/>
          <a:ln w="7144">
            <a:solidFill>
              <a:srgbClr val="E2E5EA"/>
            </a:solidFill>
            <a:prstDash val="solid"/>
          </a:ln>
        </p:spPr>
      </p:sp>
      <p:sp>
        <p:nvSpPr>
          <p:cNvPr id="10" name="Shape 8"/>
          <p:cNvSpPr/>
          <p:nvPr/>
        </p:nvSpPr>
        <p:spPr>
          <a:xfrm>
            <a:off x="400050" y="1729904"/>
            <a:ext cx="8343900" cy="0"/>
          </a:xfrm>
          <a:prstGeom prst="line">
            <a:avLst/>
          </a:prstGeom>
          <a:noFill/>
          <a:ln w="7144">
            <a:solidFill>
              <a:srgbClr val="E2E5EA"/>
            </a:solidFill>
            <a:prstDash val="solid"/>
          </a:ln>
        </p:spPr>
      </p:sp>
      <p:sp>
        <p:nvSpPr>
          <p:cNvPr id="11" name="Shape 9"/>
          <p:cNvSpPr/>
          <p:nvPr/>
        </p:nvSpPr>
        <p:spPr>
          <a:xfrm>
            <a:off x="410766" y="976796"/>
            <a:ext cx="0" cy="75667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2431630"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EBITDA-marginal = EBITDA / Omsättning</a:t>
            </a:r>
            <a:endParaRPr lang="en-US" sz="956" dirty="0"/>
          </a:p>
        </p:txBody>
      </p:sp>
      <p:sp>
        <p:nvSpPr>
          <p:cNvPr id="14" name="Text 12"/>
          <p:cNvSpPr/>
          <p:nvPr/>
        </p:nvSpPr>
        <p:spPr>
          <a:xfrm>
            <a:off x="521494" y="1390687"/>
            <a:ext cx="8115300" cy="123926"/>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3D4556"/>
                </a:solidFill>
                <a:latin typeface="Courier New" pitchFamily="34" charset="0"/>
                <a:ea typeface="Courier New" pitchFamily="34" charset="-122"/>
                <a:cs typeface="Courier New" pitchFamily="34" charset="-120"/>
              </a:rPr>
              <a:t>EBITDA = Earnings Before Interest, Taxes, Depreciation, Amortization</a:t>
            </a:r>
            <a:endParaRPr lang="en-US" sz="800" dirty="0"/>
          </a:p>
        </p:txBody>
      </p:sp>
      <p:sp>
        <p:nvSpPr>
          <p:cNvPr id="15" name="Text 13"/>
          <p:cNvSpPr/>
          <p:nvPr/>
        </p:nvSpPr>
        <p:spPr>
          <a:xfrm>
            <a:off x="521494" y="154204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vad tjänar bolaget på verksamheten innan räntor, skatt och avskrivningar?)</a:t>
            </a:r>
            <a:endParaRPr lang="en-US" sz="800" dirty="0"/>
          </a:p>
        </p:txBody>
      </p:sp>
      <p:sp>
        <p:nvSpPr>
          <p:cNvPr id="16" name="Text 14"/>
          <p:cNvSpPr/>
          <p:nvPr/>
        </p:nvSpPr>
        <p:spPr>
          <a:xfrm>
            <a:off x="400050" y="1804913"/>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7" name="Shape 15"/>
          <p:cNvSpPr/>
          <p:nvPr/>
        </p:nvSpPr>
        <p:spPr>
          <a:xfrm>
            <a:off x="410766" y="1804913"/>
            <a:ext cx="0" cy="1746870"/>
          </a:xfrm>
          <a:prstGeom prst="line">
            <a:avLst/>
          </a:prstGeom>
          <a:noFill/>
          <a:ln w="21431">
            <a:solidFill>
              <a:srgbClr val="2563EB"/>
            </a:solidFill>
            <a:prstDash val="solid"/>
          </a:ln>
        </p:spPr>
      </p:sp>
      <p:sp>
        <p:nvSpPr>
          <p:cNvPr id="18" name="Text 16"/>
          <p:cNvSpPr/>
          <p:nvPr/>
        </p:nvSpPr>
        <p:spPr>
          <a:xfrm>
            <a:off x="507206" y="1869207"/>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9" name="Text 17"/>
          <p:cNvSpPr/>
          <p:nvPr/>
        </p:nvSpPr>
        <p:spPr>
          <a:xfrm>
            <a:off x="507206" y="2039206"/>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EBITDA = vad pizzerian tjänar efter hyra, personal, el — men INNAN skatt, banklån och avskrivning av ugnen. Visar om själva pizzandet är lönsamt.</a:t>
            </a:r>
            <a:endParaRPr lang="en-US" sz="816" dirty="0"/>
          </a:p>
        </p:txBody>
      </p:sp>
      <p:sp>
        <p:nvSpPr>
          <p:cNvPr id="20" name="Text 18"/>
          <p:cNvSpPr/>
          <p:nvPr/>
        </p:nvSpPr>
        <p:spPr>
          <a:xfrm>
            <a:off x="507206" y="239192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EBITDA positivt men nettoresultatet negativt: problemet är lån eller avskrivningar, inte pizzandet.</a:t>
            </a:r>
            <a:endParaRPr lang="en-US" sz="816" dirty="0"/>
          </a:p>
        </p:txBody>
      </p:sp>
      <p:sp>
        <p:nvSpPr>
          <p:cNvPr id="21" name="Shape 19"/>
          <p:cNvSpPr/>
          <p:nvPr/>
        </p:nvSpPr>
        <p:spPr>
          <a:xfrm>
            <a:off x="4622006" y="1990204"/>
            <a:ext cx="4121944" cy="0"/>
          </a:xfrm>
          <a:prstGeom prst="line">
            <a:avLst/>
          </a:prstGeom>
          <a:noFill/>
          <a:ln w="7144">
            <a:solidFill>
              <a:srgbClr val="E2E5EA"/>
            </a:solidFill>
            <a:prstDash val="solid"/>
          </a:ln>
        </p:spPr>
      </p:sp>
      <p:sp>
        <p:nvSpPr>
          <p:cNvPr id="22" name="Text 20"/>
          <p:cNvSpPr/>
          <p:nvPr/>
        </p:nvSpPr>
        <p:spPr>
          <a:xfrm>
            <a:off x="4622006" y="1804913"/>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622006" y="2029495"/>
          <a:ext cx="4121944" cy="914400"/>
        </p:xfrm>
        <a:graphic>
          <a:graphicData uri="http://schemas.openxmlformats.org/drawingml/2006/table">
            <a:tbl>
              <a:tblPr/>
              <a:tblGrid>
                <a:gridCol w="839949"/>
                <a:gridCol w="1767743"/>
                <a:gridCol w="151425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EBITDA-marginal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&gt; 25 %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10–25 %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Break-even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 till 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Expansion-förlust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&lt; −10 %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Stor förlust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4" name="Text 21"/>
          <p:cNvSpPr/>
          <p:nvPr/>
        </p:nvSpPr>
        <p:spPr>
          <a:xfrm>
            <a:off x="400050" y="3623221"/>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5" name="Shape 22"/>
          <p:cNvSpPr/>
          <p:nvPr/>
        </p:nvSpPr>
        <p:spPr>
          <a:xfrm>
            <a:off x="400050" y="3626793"/>
            <a:ext cx="8343900" cy="0"/>
          </a:xfrm>
          <a:prstGeom prst="line">
            <a:avLst/>
          </a:prstGeom>
          <a:noFill/>
          <a:ln w="7144">
            <a:solidFill>
              <a:srgbClr val="E2E5EA"/>
            </a:solidFill>
            <a:prstDash val="solid"/>
          </a:ln>
        </p:spPr>
      </p:sp>
      <p:sp>
        <p:nvSpPr>
          <p:cNvPr id="26" name="Shape 23"/>
          <p:cNvSpPr/>
          <p:nvPr/>
        </p:nvSpPr>
        <p:spPr>
          <a:xfrm>
            <a:off x="8740378" y="3623221"/>
            <a:ext cx="0" cy="418914"/>
          </a:xfrm>
          <a:prstGeom prst="line">
            <a:avLst/>
          </a:prstGeom>
          <a:noFill/>
          <a:ln w="7144">
            <a:solidFill>
              <a:srgbClr val="E2E5EA"/>
            </a:solidFill>
            <a:prstDash val="solid"/>
          </a:ln>
        </p:spPr>
      </p:sp>
      <p:sp>
        <p:nvSpPr>
          <p:cNvPr id="27" name="Shape 24"/>
          <p:cNvSpPr/>
          <p:nvPr/>
        </p:nvSpPr>
        <p:spPr>
          <a:xfrm>
            <a:off x="400050" y="4038563"/>
            <a:ext cx="8343900" cy="0"/>
          </a:xfrm>
          <a:prstGeom prst="line">
            <a:avLst/>
          </a:prstGeom>
          <a:noFill/>
          <a:ln w="7144">
            <a:solidFill>
              <a:srgbClr val="E2E5EA"/>
            </a:solidFill>
            <a:prstDash val="solid"/>
          </a:ln>
        </p:spPr>
      </p:sp>
      <p:sp>
        <p:nvSpPr>
          <p:cNvPr id="28" name="Shape 25"/>
          <p:cNvSpPr/>
          <p:nvPr/>
        </p:nvSpPr>
        <p:spPr>
          <a:xfrm>
            <a:off x="410766" y="3623221"/>
            <a:ext cx="0" cy="418914"/>
          </a:xfrm>
          <a:prstGeom prst="line">
            <a:avLst/>
          </a:prstGeom>
          <a:noFill/>
          <a:ln w="21431">
            <a:solidFill>
              <a:srgbClr val="B8942E"/>
            </a:solidFill>
            <a:prstDash val="solid"/>
          </a:ln>
        </p:spPr>
      </p:sp>
      <p:sp>
        <p:nvSpPr>
          <p:cNvPr id="29" name="Text 26"/>
          <p:cNvSpPr/>
          <p:nvPr/>
        </p:nvSpPr>
        <p:spPr>
          <a:xfrm>
            <a:off x="521494" y="368751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30" name="Text 27"/>
          <p:cNvSpPr/>
          <p:nvPr/>
        </p:nvSpPr>
        <p:spPr>
          <a:xfrm>
            <a:off x="2608473" y="3845682"/>
            <a:ext cx="939626" cy="132159"/>
          </a:xfrm>
          <a:prstGeom prst="roundRect">
            <a:avLst>
              <a:gd name="adj" fmla="val 21622"/>
            </a:avLst>
          </a:prstGeom>
          <a:solidFill>
            <a:srgbClr val="D97706">
              <a:alpha val="12000"/>
            </a:srgbClr>
          </a:solidFill>
          <a:ln/>
        </p:spPr>
        <p:txBody>
          <a:bodyPr wrap="square" rtlCol="0" anchor="ctr"/>
          <a:lstStyle/>
          <a:p>
            <a:pPr indent="0" marL="0">
              <a:buNone/>
            </a:pPr>
            <a:endParaRPr lang="en-US" dirty="0"/>
          </a:p>
        </p:txBody>
      </p:sp>
      <p:sp>
        <p:nvSpPr>
          <p:cNvPr id="31" name="Text 28"/>
          <p:cNvSpPr/>
          <p:nvPr/>
        </p:nvSpPr>
        <p:spPr>
          <a:xfrm>
            <a:off x="521494" y="3838538"/>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EBITDA-marginal </a:t>
            </a:r>
            <a:pPr algn="l" indent="0" marL="0">
              <a:lnSpc>
                <a:spcPts val="1097"/>
              </a:lnSpc>
              <a:buNone/>
            </a:pPr>
            <a:r>
              <a:rPr lang="en-US" sz="731" b="1" dirty="0">
                <a:solidFill>
                  <a:srgbClr val="DC2626"/>
                </a:solidFill>
                <a:latin typeface="Liberation Sans Narrow" pitchFamily="34" charset="0"/>
                <a:ea typeface="Liberation Sans Narrow" pitchFamily="34" charset="-122"/>
                <a:cs typeface="Liberation Sans Narrow" pitchFamily="34" charset="-120"/>
              </a:rPr>
              <a:t>−8 %</a:t>
            </a:r>
            <a:pPr algn="l" indent="0" marL="0">
              <a:lnSpc>
                <a:spcPts val="1097"/>
              </a:lnSpc>
              <a:buNone/>
            </a:pPr>
            <a:r>
              <a:rPr lang="en-US" sz="731" dirty="0">
                <a:solidFill>
                  <a:srgbClr val="3D4556"/>
                </a:solidFill>
                <a:latin typeface="Liberation Sans Narrow" pitchFamily="34" charset="0"/>
                <a:ea typeface="Liberation Sans Narrow" pitchFamily="34" charset="-122"/>
                <a:cs typeface="Liberation Sans Narrow" pitchFamily="34" charset="-120"/>
              </a:rPr>
              <a:t> (2025). Poäng: </a:t>
            </a:r>
            <a:pPr algn="l" indent="0" marL="0">
              <a:lnSpc>
                <a:spcPts val="1097"/>
              </a:lnSpc>
              <a:buNone/>
            </a:pPr>
            <a:r>
              <a:rPr lang="en-US" sz="731" b="1" dirty="0">
                <a:solidFill>
                  <a:srgbClr val="D97706"/>
                </a:solidFill>
                <a:highlight>
                  <a:srgbClr val="D97706"/>
                </a:highlight>
                <a:latin typeface="Liberation Sans Narrow" pitchFamily="34" charset="0"/>
                <a:ea typeface="Liberation Sans Narrow" pitchFamily="34" charset="-122"/>
                <a:cs typeface="Liberation Sans Narrow" pitchFamily="34" charset="-120"/>
              </a:rPr>
              <a:t>2 — expansion-förlust</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MEN: trenden mot break-even är positiv: −8 % → −1,6 % (2026E) → +3,6 % (2027E).</a:t>
            </a:r>
            <a:endParaRPr lang="en-US" sz="731" dirty="0"/>
          </a:p>
        </p:txBody>
      </p:sp>
      <p:sp>
        <p:nvSpPr>
          <p:cNvPr id="32" name="Text 29"/>
          <p:cNvSpPr/>
          <p:nvPr/>
        </p:nvSpPr>
        <p:spPr>
          <a:xfrm>
            <a:off x="400050" y="4113572"/>
            <a:ext cx="8343900" cy="838609"/>
          </a:xfrm>
          <a:prstGeom prst="rect">
            <a:avLst/>
          </a:prstGeom>
          <a:solidFill>
            <a:srgbClr val="DC2626">
              <a:alpha val="8000"/>
            </a:srgbClr>
          </a:solidFill>
          <a:ln/>
        </p:spPr>
        <p:txBody>
          <a:bodyPr wrap="square" rtlCol="0" anchor="ctr"/>
          <a:lstStyle/>
          <a:p>
            <a:pPr indent="0" marL="0">
              <a:buNone/>
            </a:pPr>
            <a:endParaRPr lang="en-US" dirty="0"/>
          </a:p>
        </p:txBody>
      </p:sp>
      <p:sp>
        <p:nvSpPr>
          <p:cNvPr id="33" name="Shape 30"/>
          <p:cNvSpPr/>
          <p:nvPr/>
        </p:nvSpPr>
        <p:spPr>
          <a:xfrm>
            <a:off x="410766" y="4113572"/>
            <a:ext cx="0" cy="838609"/>
          </a:xfrm>
          <a:prstGeom prst="line">
            <a:avLst/>
          </a:prstGeom>
          <a:noFill/>
          <a:ln w="21431">
            <a:solidFill>
              <a:srgbClr val="DC2626"/>
            </a:solidFill>
            <a:prstDash val="solid"/>
          </a:ln>
        </p:spPr>
      </p:sp>
      <p:sp>
        <p:nvSpPr>
          <p:cNvPr id="34" name="Text 31"/>
          <p:cNvSpPr/>
          <p:nvPr/>
        </p:nvSpPr>
        <p:spPr>
          <a:xfrm>
            <a:off x="507206" y="4170722"/>
            <a:ext cx="8260747" cy="123591"/>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KOPPLING TILL VARIABEL 19 — KRITISK</a:t>
            </a:r>
            <a:endParaRPr lang="en-US" sz="800" dirty="0"/>
          </a:p>
        </p:txBody>
      </p:sp>
      <p:sp>
        <p:nvSpPr>
          <p:cNvPr id="35" name="Text 32"/>
          <p:cNvSpPr/>
          <p:nvPr/>
        </p:nvSpPr>
        <p:spPr>
          <a:xfrm>
            <a:off x="507206" y="4321746"/>
            <a:ext cx="8151019" cy="123480"/>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EBITDA-marginal = DIRECT kopplad till variabel 19 (kapital för bränning).</a:t>
            </a:r>
            <a:endParaRPr lang="en-US" sz="800" dirty="0"/>
          </a:p>
        </p:txBody>
      </p:sp>
      <p:sp>
        <p:nvSpPr>
          <p:cNvPr id="36" name="Text 33"/>
          <p:cNvSpPr/>
          <p:nvPr/>
        </p:nvSpPr>
        <p:spPr>
          <a:xfrm>
            <a:off x="507206" y="4472657"/>
            <a:ext cx="8151019" cy="279749"/>
          </a:xfrm>
          <a:prstGeom prst="rect">
            <a:avLst/>
          </a:prstGeom>
          <a:noFill/>
          <a:ln/>
        </p:spPr>
        <p:txBody>
          <a:bodyPr wrap="square" lIns="64294" tIns="0" rIns="0" bIns="0" rtlCol="0" anchor="t"/>
          <a:lstStyle/>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Negativ EBITDA → bolag bränner kassa</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Positiv EBITDA → bolag genererar kassa → kapital förbränningen STANNAR</a:t>
            </a:r>
            <a:endParaRPr lang="en-US" sz="800" dirty="0"/>
          </a:p>
        </p:txBody>
      </p:sp>
      <p:sp>
        <p:nvSpPr>
          <p:cNvPr id="37" name="Text 34"/>
          <p:cNvSpPr/>
          <p:nvPr/>
        </p:nvSpPr>
        <p:spPr>
          <a:xfrm>
            <a:off x="507206" y="4751263"/>
            <a:ext cx="8151019" cy="143768"/>
          </a:xfrm>
          <a:prstGeom prst="rect">
            <a:avLst/>
          </a:prstGeom>
          <a:noFill/>
          <a:ln/>
        </p:spPr>
        <p:txBody>
          <a:bodyPr wrap="square" lIns="0" tIns="0" rIns="0" bIns="0" rtlCol="0" anchor="t"/>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När EBITDA-marginal blir positiv = variabel 19 risk går från HÖG till LÅG. Detta är </a:t>
            </a:r>
            <a:pPr algn="l" indent="0" marL="0">
              <a:lnSpc>
                <a:spcPts val="1020"/>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"Våg 3 — Lönsamhets-genombrott"</a:t>
            </a:r>
            <a:pPr algn="l" indent="0" marL="0">
              <a:lnSpc>
                <a:spcPts val="1020"/>
              </a:lnSpc>
              <a:buNone/>
            </a:pPr>
            <a:r>
              <a:rPr lang="en-US" sz="800" dirty="0">
                <a:solidFill>
                  <a:srgbClr val="1A1F2E"/>
                </a:solidFill>
                <a:latin typeface="Liberation Sans Narrow" pitchFamily="34" charset="0"/>
                <a:ea typeface="Liberation Sans Narrow" pitchFamily="34" charset="-122"/>
                <a:cs typeface="Liberation Sans Narrow" pitchFamily="34" charset="-120"/>
              </a:rPr>
              <a:t> i AKM1.</a:t>
            </a:r>
            <a:endParaRPr lang="en-US" sz="800" dirty="0"/>
          </a:p>
        </p:txBody>
      </p:sp>
      <p:sp>
        <p:nvSpPr>
          <p:cNvPr id="38" name="Shape 35"/>
          <p:cNvSpPr/>
          <p:nvPr/>
        </p:nvSpPr>
        <p:spPr>
          <a:xfrm>
            <a:off x="400050" y="4914900"/>
            <a:ext cx="8343900" cy="0"/>
          </a:xfrm>
          <a:prstGeom prst="line">
            <a:avLst/>
          </a:prstGeom>
          <a:noFill/>
          <a:ln w="7144">
            <a:solidFill>
              <a:srgbClr val="E2E5EA"/>
            </a:solidFill>
            <a:prstDash val="solid"/>
          </a:ln>
        </p:spPr>
      </p:sp>
      <p:sp>
        <p:nvSpPr>
          <p:cNvPr id="39" name="Text 36"/>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3 — Lönsamhet</a:t>
            </a:r>
            <a:endParaRPr lang="en-US" sz="800" dirty="0"/>
          </a:p>
        </p:txBody>
      </p:sp>
      <p:sp>
        <p:nvSpPr>
          <p:cNvPr id="40" name="Text 37"/>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16 / 40</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64169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LÖNSAMHET</a:t>
            </a:r>
            <a:endParaRPr lang="en-US" sz="800" dirty="0"/>
          </a:p>
        </p:txBody>
      </p:sp>
      <p:sp>
        <p:nvSpPr>
          <p:cNvPr id="4" name="Text 2"/>
          <p:cNvSpPr/>
          <p:nvPr/>
        </p:nvSpPr>
        <p:spPr>
          <a:xfrm>
            <a:off x="8049643" y="22860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8 · 17 / 40</a:t>
            </a:r>
            <a:endParaRPr lang="en-US" sz="619" dirty="0"/>
          </a:p>
        </p:txBody>
      </p:sp>
      <p:sp>
        <p:nvSpPr>
          <p:cNvPr id="5" name="Text 3"/>
          <p:cNvSpPr/>
          <p:nvPr/>
        </p:nvSpPr>
        <p:spPr>
          <a:xfrm>
            <a:off x="400050" y="479636"/>
            <a:ext cx="8636000" cy="233315"/>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8: FCF/Intäkt</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FRITT KASSAFLÖDE — PENGARNA SOM VERKLIGEN HAMNAR I KASSAN</a:t>
            </a:r>
            <a:endParaRPr lang="en-US" sz="800" dirty="0"/>
          </a:p>
        </p:txBody>
      </p:sp>
      <p:sp>
        <p:nvSpPr>
          <p:cNvPr id="7" name="Text 5"/>
          <p:cNvSpPr/>
          <p:nvPr/>
        </p:nvSpPr>
        <p:spPr>
          <a:xfrm>
            <a:off x="400050" y="976796"/>
            <a:ext cx="8343900" cy="756679"/>
          </a:xfrm>
          <a:prstGeom prst="roundRect">
            <a:avLst>
              <a:gd name="adj" fmla="val 7553"/>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756679"/>
          </a:xfrm>
          <a:prstGeom prst="line">
            <a:avLst/>
          </a:prstGeom>
          <a:noFill/>
          <a:ln w="7144">
            <a:solidFill>
              <a:srgbClr val="E2E5EA"/>
            </a:solidFill>
            <a:prstDash val="solid"/>
          </a:ln>
        </p:spPr>
      </p:sp>
      <p:sp>
        <p:nvSpPr>
          <p:cNvPr id="10" name="Shape 8"/>
          <p:cNvSpPr/>
          <p:nvPr/>
        </p:nvSpPr>
        <p:spPr>
          <a:xfrm>
            <a:off x="400050" y="1729904"/>
            <a:ext cx="8343900" cy="0"/>
          </a:xfrm>
          <a:prstGeom prst="line">
            <a:avLst/>
          </a:prstGeom>
          <a:noFill/>
          <a:ln w="7144">
            <a:solidFill>
              <a:srgbClr val="E2E5EA"/>
            </a:solidFill>
            <a:prstDash val="solid"/>
          </a:ln>
        </p:spPr>
      </p:sp>
      <p:sp>
        <p:nvSpPr>
          <p:cNvPr id="11" name="Shape 9"/>
          <p:cNvSpPr/>
          <p:nvPr/>
        </p:nvSpPr>
        <p:spPr>
          <a:xfrm>
            <a:off x="410766" y="976796"/>
            <a:ext cx="0" cy="75667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4511390"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FCF (Free Cash Flow) = CFO (kassaflöde från drift) − CapEx (investeringar)</a:t>
            </a:r>
            <a:endParaRPr lang="en-US" sz="956" dirty="0"/>
          </a:p>
        </p:txBody>
      </p:sp>
      <p:sp>
        <p:nvSpPr>
          <p:cNvPr id="14" name="Text 12"/>
          <p:cNvSpPr/>
          <p:nvPr/>
        </p:nvSpPr>
        <p:spPr>
          <a:xfrm>
            <a:off x="521494" y="1390687"/>
            <a:ext cx="8225028" cy="123926"/>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3D4556"/>
                </a:solidFill>
                <a:latin typeface="Courier New" pitchFamily="34" charset="0"/>
                <a:ea typeface="Courier New" pitchFamily="34" charset="-122"/>
                <a:cs typeface="Courier New" pitchFamily="34" charset="-120"/>
              </a:rPr>
              <a:t>FCF/Intäkt = FCF / Omsättning</a:t>
            </a:r>
            <a:endParaRPr lang="en-US" sz="800" dirty="0"/>
          </a:p>
        </p:txBody>
      </p:sp>
      <p:sp>
        <p:nvSpPr>
          <p:cNvPr id="15" name="Text 13"/>
          <p:cNvSpPr/>
          <p:nvPr/>
        </p:nvSpPr>
        <p:spPr>
          <a:xfrm>
            <a:off x="521494" y="154204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hur mycket kontanter blir kvar efter att allt är betalt — även investeringar?)</a:t>
            </a:r>
            <a:endParaRPr lang="en-US" sz="800" dirty="0"/>
          </a:p>
        </p:txBody>
      </p:sp>
      <p:sp>
        <p:nvSpPr>
          <p:cNvPr id="16" name="Text 14"/>
          <p:cNvSpPr/>
          <p:nvPr/>
        </p:nvSpPr>
        <p:spPr>
          <a:xfrm>
            <a:off x="400050" y="1804913"/>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7" name="Shape 15"/>
          <p:cNvSpPr/>
          <p:nvPr/>
        </p:nvSpPr>
        <p:spPr>
          <a:xfrm>
            <a:off x="410766" y="1804913"/>
            <a:ext cx="0" cy="1746870"/>
          </a:xfrm>
          <a:prstGeom prst="line">
            <a:avLst/>
          </a:prstGeom>
          <a:noFill/>
          <a:ln w="21431">
            <a:solidFill>
              <a:srgbClr val="2563EB"/>
            </a:solidFill>
            <a:prstDash val="solid"/>
          </a:ln>
        </p:spPr>
      </p:sp>
      <p:sp>
        <p:nvSpPr>
          <p:cNvPr id="18" name="Text 16"/>
          <p:cNvSpPr/>
          <p:nvPr/>
        </p:nvSpPr>
        <p:spPr>
          <a:xfrm>
            <a:off x="507206" y="1869207"/>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9" name="Text 17"/>
          <p:cNvSpPr/>
          <p:nvPr/>
        </p:nvSpPr>
        <p:spPr>
          <a:xfrm>
            <a:off x="507206" y="2039206"/>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FCF = vad som faktiskt blir kvar i kassan EFTER att du betalat allt — även investeringar i ny ugn och inventarier.</a:t>
            </a:r>
            <a:endParaRPr lang="en-US" sz="816" dirty="0"/>
          </a:p>
        </p:txBody>
      </p:sp>
      <p:sp>
        <p:nvSpPr>
          <p:cNvPr id="20" name="Text 18"/>
          <p:cNvSpPr/>
          <p:nvPr/>
        </p:nvSpPr>
        <p:spPr>
          <a:xfrm>
            <a:off x="507206" y="239192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Ett bolag kan visa vinst men ha negativt FCF (kunder betalar inte, inventarier byggs upp). FCF är "sanningen" — det kan inte sminkas.</a:t>
            </a:r>
            <a:endParaRPr lang="en-US" sz="816" dirty="0"/>
          </a:p>
        </p:txBody>
      </p:sp>
      <p:sp>
        <p:nvSpPr>
          <p:cNvPr id="21" name="Shape 19"/>
          <p:cNvSpPr/>
          <p:nvPr/>
        </p:nvSpPr>
        <p:spPr>
          <a:xfrm>
            <a:off x="4622006" y="1990204"/>
            <a:ext cx="4121944" cy="0"/>
          </a:xfrm>
          <a:prstGeom prst="line">
            <a:avLst/>
          </a:prstGeom>
          <a:noFill/>
          <a:ln w="7144">
            <a:solidFill>
              <a:srgbClr val="E2E5EA"/>
            </a:solidFill>
            <a:prstDash val="solid"/>
          </a:ln>
        </p:spPr>
      </p:sp>
      <p:sp>
        <p:nvSpPr>
          <p:cNvPr id="22" name="Text 20"/>
          <p:cNvSpPr/>
          <p:nvPr/>
        </p:nvSpPr>
        <p:spPr>
          <a:xfrm>
            <a:off x="4622006" y="1804913"/>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622006" y="2029495"/>
          <a:ext cx="4121944" cy="914400"/>
        </p:xfrm>
        <a:graphic>
          <a:graphicData uri="http://schemas.openxmlformats.org/drawingml/2006/table">
            <a:tbl>
              <a:tblPr/>
              <a:tblGrid>
                <a:gridCol w="859482"/>
                <a:gridCol w="1232297"/>
                <a:gridCol w="2030164"/>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FCF/Intäkt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&gt; 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Kassa-maskin (Apple)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Hälsosam</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 till 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Bränner lite kassa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&lt; −10 %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Bränner mycket kassa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4" name="Text 21"/>
          <p:cNvSpPr/>
          <p:nvPr/>
        </p:nvSpPr>
        <p:spPr>
          <a:xfrm>
            <a:off x="400050" y="3623221"/>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5" name="Shape 22"/>
          <p:cNvSpPr/>
          <p:nvPr/>
        </p:nvSpPr>
        <p:spPr>
          <a:xfrm>
            <a:off x="400050" y="3626793"/>
            <a:ext cx="8343900" cy="0"/>
          </a:xfrm>
          <a:prstGeom prst="line">
            <a:avLst/>
          </a:prstGeom>
          <a:noFill/>
          <a:ln w="7144">
            <a:solidFill>
              <a:srgbClr val="E2E5EA"/>
            </a:solidFill>
            <a:prstDash val="solid"/>
          </a:ln>
        </p:spPr>
      </p:sp>
      <p:sp>
        <p:nvSpPr>
          <p:cNvPr id="26" name="Shape 23"/>
          <p:cNvSpPr/>
          <p:nvPr/>
        </p:nvSpPr>
        <p:spPr>
          <a:xfrm>
            <a:off x="8740378" y="3623221"/>
            <a:ext cx="0" cy="418914"/>
          </a:xfrm>
          <a:prstGeom prst="line">
            <a:avLst/>
          </a:prstGeom>
          <a:noFill/>
          <a:ln w="7144">
            <a:solidFill>
              <a:srgbClr val="E2E5EA"/>
            </a:solidFill>
            <a:prstDash val="solid"/>
          </a:ln>
        </p:spPr>
      </p:sp>
      <p:sp>
        <p:nvSpPr>
          <p:cNvPr id="27" name="Shape 24"/>
          <p:cNvSpPr/>
          <p:nvPr/>
        </p:nvSpPr>
        <p:spPr>
          <a:xfrm>
            <a:off x="400050" y="4038563"/>
            <a:ext cx="8343900" cy="0"/>
          </a:xfrm>
          <a:prstGeom prst="line">
            <a:avLst/>
          </a:prstGeom>
          <a:noFill/>
          <a:ln w="7144">
            <a:solidFill>
              <a:srgbClr val="E2E5EA"/>
            </a:solidFill>
            <a:prstDash val="solid"/>
          </a:ln>
        </p:spPr>
      </p:sp>
      <p:sp>
        <p:nvSpPr>
          <p:cNvPr id="28" name="Shape 25"/>
          <p:cNvSpPr/>
          <p:nvPr/>
        </p:nvSpPr>
        <p:spPr>
          <a:xfrm>
            <a:off x="410766" y="3623221"/>
            <a:ext cx="0" cy="418914"/>
          </a:xfrm>
          <a:prstGeom prst="line">
            <a:avLst/>
          </a:prstGeom>
          <a:noFill/>
          <a:ln w="21431">
            <a:solidFill>
              <a:srgbClr val="B8942E"/>
            </a:solidFill>
            <a:prstDash val="solid"/>
          </a:ln>
        </p:spPr>
      </p:sp>
      <p:sp>
        <p:nvSpPr>
          <p:cNvPr id="29" name="Text 26"/>
          <p:cNvSpPr/>
          <p:nvPr/>
        </p:nvSpPr>
        <p:spPr>
          <a:xfrm>
            <a:off x="521494" y="368751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30" name="Text 27"/>
          <p:cNvSpPr/>
          <p:nvPr/>
        </p:nvSpPr>
        <p:spPr>
          <a:xfrm>
            <a:off x="3646215" y="3845682"/>
            <a:ext cx="1105942" cy="132159"/>
          </a:xfrm>
          <a:prstGeom prst="roundRect">
            <a:avLst>
              <a:gd name="adj" fmla="val 21622"/>
            </a:avLst>
          </a:prstGeom>
          <a:solidFill>
            <a:srgbClr val="D97706">
              <a:alpha val="12000"/>
            </a:srgbClr>
          </a:solidFill>
          <a:ln/>
        </p:spPr>
        <p:txBody>
          <a:bodyPr wrap="square" rtlCol="0" anchor="ctr"/>
          <a:lstStyle/>
          <a:p>
            <a:pPr indent="0" marL="0">
              <a:buNone/>
            </a:pPr>
            <a:endParaRPr lang="en-US" dirty="0"/>
          </a:p>
        </p:txBody>
      </p:sp>
      <p:sp>
        <p:nvSpPr>
          <p:cNvPr id="31" name="Text 28"/>
          <p:cNvSpPr/>
          <p:nvPr/>
        </p:nvSpPr>
        <p:spPr>
          <a:xfrm>
            <a:off x="521494" y="3838538"/>
            <a:ext cx="8115300" cy="139303"/>
          </a:xfrm>
          <a:prstGeom prst="rect">
            <a:avLst/>
          </a:prstGeom>
          <a:noFill/>
          <a:ln/>
        </p:spPr>
        <p:txBody>
          <a:bodyPr wrap="square" lIns="0" tIns="0" rIns="0" bIns="0" rtlCol="0" anchor="t"/>
          <a:lstStyle/>
          <a:p>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Safestate: FCF </a:t>
            </a:r>
            <a:pPr algn="l" indent="0" marL="0">
              <a:lnSpc>
                <a:spcPts val="1097"/>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−12 MSEK</a:t>
            </a:r>
            <a:pPr algn="l" indent="0" marL="0">
              <a:lnSpc>
                <a:spcPts val="1097"/>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(2025) / Omsättning 73 MSEK = </a:t>
            </a:r>
            <a:pPr algn="l" indent="0" marL="0">
              <a:lnSpc>
                <a:spcPts val="1097"/>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−16 %</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Poäng: </a:t>
            </a:r>
            <a:pPr algn="l" indent="0" marL="0">
              <a:lnSpc>
                <a:spcPts val="1097"/>
              </a:lnSpc>
              <a:buNone/>
            </a:pPr>
            <a:r>
              <a:rPr lang="en-US" sz="800" b="1" dirty="0">
                <a:solidFill>
                  <a:srgbClr val="D97706"/>
                </a:solidFill>
                <a:highlight>
                  <a:srgbClr val="D97706"/>
                </a:highlight>
                <a:latin typeface="Liberation Sans Narrow" pitchFamily="34" charset="0"/>
                <a:ea typeface="Liberation Sans Narrow" pitchFamily="34" charset="-122"/>
                <a:cs typeface="Liberation Sans Narrow" pitchFamily="34" charset="-120"/>
              </a:rPr>
              <a:t>2 — bränner mycket kassa</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Trenden: −16 % → −8 % (2026E) → +3 % (2028E).</a:t>
            </a:r>
            <a:endParaRPr lang="en-US" sz="800" dirty="0"/>
          </a:p>
        </p:txBody>
      </p:sp>
      <p:sp>
        <p:nvSpPr>
          <p:cNvPr id="32" name="Text 29"/>
          <p:cNvSpPr/>
          <p:nvPr/>
        </p:nvSpPr>
        <p:spPr>
          <a:xfrm>
            <a:off x="400050" y="4113572"/>
            <a:ext cx="8343900" cy="970769"/>
          </a:xfrm>
          <a:prstGeom prst="rect">
            <a:avLst/>
          </a:prstGeom>
          <a:solidFill>
            <a:srgbClr val="DC2626">
              <a:alpha val="8000"/>
            </a:srgbClr>
          </a:solidFill>
          <a:ln/>
        </p:spPr>
        <p:txBody>
          <a:bodyPr wrap="square" rtlCol="0" anchor="ctr"/>
          <a:lstStyle/>
          <a:p>
            <a:pPr indent="0" marL="0">
              <a:buNone/>
            </a:pPr>
            <a:endParaRPr lang="en-US" dirty="0"/>
          </a:p>
        </p:txBody>
      </p:sp>
      <p:sp>
        <p:nvSpPr>
          <p:cNvPr id="33" name="Shape 30"/>
          <p:cNvSpPr/>
          <p:nvPr/>
        </p:nvSpPr>
        <p:spPr>
          <a:xfrm>
            <a:off x="410766" y="4113572"/>
            <a:ext cx="0" cy="970769"/>
          </a:xfrm>
          <a:prstGeom prst="line">
            <a:avLst/>
          </a:prstGeom>
          <a:noFill/>
          <a:ln w="21431">
            <a:solidFill>
              <a:srgbClr val="DC2626"/>
            </a:solidFill>
            <a:prstDash val="solid"/>
          </a:ln>
        </p:spPr>
      </p:sp>
      <p:sp>
        <p:nvSpPr>
          <p:cNvPr id="34" name="Text 31"/>
          <p:cNvSpPr/>
          <p:nvPr/>
        </p:nvSpPr>
        <p:spPr>
          <a:xfrm>
            <a:off x="507206" y="4170722"/>
            <a:ext cx="8151019" cy="123591"/>
          </a:xfrm>
          <a:prstGeom prst="rect">
            <a:avLst/>
          </a:prstGeom>
          <a:noFill/>
          <a:ln/>
        </p:spPr>
        <p:txBody>
          <a:bodyPr wrap="none" lIns="0" tIns="0" rIns="0" bIns="0" rtlCol="0" anchor="t">
            <a:normAutofit/>
          </a:bodyPr>
          <a:lstStyle/>
          <a:p>
            <a:pPr algn="l" indent="0" marL="0">
              <a:lnSpc>
                <a:spcPts val="1021"/>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FCF = VARIABEL 19-INPUT ⚠</a:t>
            </a:r>
            <a:endParaRPr lang="en-US" sz="800" dirty="0"/>
          </a:p>
        </p:txBody>
      </p:sp>
      <p:sp>
        <p:nvSpPr>
          <p:cNvPr id="35" name="Text 32"/>
          <p:cNvSpPr/>
          <p:nvPr/>
        </p:nvSpPr>
        <p:spPr>
          <a:xfrm>
            <a:off x="507206" y="4321746"/>
            <a:ext cx="8151019" cy="123480"/>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FCF/Intäkt är DIRECT INPUT till variabel 19. Om FCF/Intäkt negativt → bolag bränner kassa → HÖG emission-risk.</a:t>
            </a:r>
            <a:endParaRPr lang="en-US" sz="800" dirty="0"/>
          </a:p>
        </p:txBody>
      </p:sp>
      <p:sp>
        <p:nvSpPr>
          <p:cNvPr id="36" name="Text 33"/>
          <p:cNvSpPr/>
          <p:nvPr/>
        </p:nvSpPr>
        <p:spPr>
          <a:xfrm>
            <a:off x="507206" y="4472657"/>
            <a:ext cx="8151019" cy="419838"/>
          </a:xfrm>
          <a:prstGeom prst="rect">
            <a:avLst/>
          </a:prstGeom>
          <a:noFill/>
          <a:ln/>
        </p:spPr>
        <p:txBody>
          <a:bodyPr wrap="square" lIns="64294" tIns="0" rIns="0" bIns="0" rtlCol="0" anchor="t"/>
          <a:lstStyle/>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FCF/Intäkt &gt; 0 → bolag genererar kassa → låg emission-risk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FCF/Intäkt &lt; 0 → bolag bränner kassa → HÖG emission-risk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|FCF| / 12 = månatlig kapital förbränning (Net burn)</a:t>
            </a:r>
            <a:endParaRPr lang="en-US" sz="800" dirty="0"/>
          </a:p>
        </p:txBody>
      </p:sp>
      <p:sp>
        <p:nvSpPr>
          <p:cNvPr id="37" name="Text 34"/>
          <p:cNvSpPr/>
          <p:nvPr/>
        </p:nvSpPr>
        <p:spPr>
          <a:xfrm>
            <a:off x="507206" y="4883423"/>
            <a:ext cx="8151019" cy="143768"/>
          </a:xfrm>
          <a:prstGeom prst="rect">
            <a:avLst/>
          </a:prstGeom>
          <a:noFill/>
          <a:ln/>
        </p:spPr>
        <p:txBody>
          <a:bodyPr wrap="square" lIns="0" tIns="0" rIns="0" bIns="0" rtlCol="0" anchor="t"/>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Som nybörjare: ALLTID kolla FCF/Intäkt — det visar om bolag tjänar PENNAR eller bara omsättning.</a:t>
            </a:r>
            <a:endParaRPr lang="en-US" sz="800" dirty="0"/>
          </a:p>
        </p:txBody>
      </p:sp>
      <p:sp>
        <p:nvSpPr>
          <p:cNvPr id="38" name="Shape 35"/>
          <p:cNvSpPr/>
          <p:nvPr/>
        </p:nvSpPr>
        <p:spPr>
          <a:xfrm>
            <a:off x="400050" y="4914900"/>
            <a:ext cx="8343900" cy="0"/>
          </a:xfrm>
          <a:prstGeom prst="line">
            <a:avLst/>
          </a:prstGeom>
          <a:noFill/>
          <a:ln w="7144">
            <a:solidFill>
              <a:srgbClr val="E2E5EA"/>
            </a:solidFill>
            <a:prstDash val="solid"/>
          </a:ln>
        </p:spPr>
      </p:sp>
      <p:sp>
        <p:nvSpPr>
          <p:cNvPr id="39" name="Text 36"/>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3 — Lönsamhet</a:t>
            </a:r>
            <a:endParaRPr lang="en-US" sz="800" dirty="0"/>
          </a:p>
        </p:txBody>
      </p:sp>
      <p:sp>
        <p:nvSpPr>
          <p:cNvPr id="40" name="Text 37"/>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17 / 40</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64169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LÖNSAMHET</a:t>
            </a:r>
            <a:endParaRPr lang="en-US" sz="800" dirty="0"/>
          </a:p>
        </p:txBody>
      </p:sp>
      <p:sp>
        <p:nvSpPr>
          <p:cNvPr id="4" name="Text 2"/>
          <p:cNvSpPr/>
          <p:nvPr/>
        </p:nvSpPr>
        <p:spPr>
          <a:xfrm>
            <a:off x="8049643" y="22860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9 · 18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9: ROE — Return on Equity</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AVKASTNING PÅ EGET KAPITAL — HUR BRA UTDELAS ÄGARNAS PENGAR?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2229707"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ROE = Nettoresultat / Eget kapital</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hur mycket vinst gör bolaget per krona som ägarna har investerat?)</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Du investerar 100 000 i pizzerian (eget kapital). Pizzerian gör 15 000 i vinst. ROE = 15 %. För varje 100 SEK du investerat får du 15 SEK tillbaka varje år.</a:t>
            </a:r>
            <a:endParaRPr lang="en-US" sz="816" dirty="0"/>
          </a:p>
        </p:txBody>
      </p:sp>
      <p:sp>
        <p:nvSpPr>
          <p:cNvPr id="19" name="Text 17"/>
          <p:cNvSpPr/>
          <p:nvPr/>
        </p:nvSpPr>
        <p:spPr>
          <a:xfrm>
            <a:off x="507206" y="225485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Hög ROE = bra. Men: ROE kan blåsas upp med skulder. Pizzeria med 100 000 eget + 200 000 lån = hävstång. Samma vinst men högre ROE — men också högre risk.</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865845"/>
                <a:gridCol w="1444377"/>
                <a:gridCol w="181172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ROE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&gt; 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Exceptionell (moat)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8–15 %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0–8 %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&lt; 0 % (negativ)</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Förstör värde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558217"/>
          </a:xfrm>
          <a:prstGeom prst="roundRect">
            <a:avLst>
              <a:gd name="adj" fmla="val 10238"/>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558217"/>
          </a:xfrm>
          <a:prstGeom prst="line">
            <a:avLst/>
          </a:prstGeom>
          <a:noFill/>
          <a:ln w="7144">
            <a:solidFill>
              <a:srgbClr val="E2E5EA"/>
            </a:solidFill>
            <a:prstDash val="solid"/>
          </a:ln>
        </p:spPr>
      </p:sp>
      <p:sp>
        <p:nvSpPr>
          <p:cNvPr id="26" name="Shape 23"/>
          <p:cNvSpPr/>
          <p:nvPr/>
        </p:nvSpPr>
        <p:spPr>
          <a:xfrm>
            <a:off x="400050" y="4040795"/>
            <a:ext cx="8343900" cy="0"/>
          </a:xfrm>
          <a:prstGeom prst="line">
            <a:avLst/>
          </a:prstGeom>
          <a:noFill/>
          <a:ln w="7144">
            <a:solidFill>
              <a:srgbClr val="E2E5EA"/>
            </a:solidFill>
            <a:prstDash val="solid"/>
          </a:ln>
        </p:spPr>
      </p:sp>
      <p:sp>
        <p:nvSpPr>
          <p:cNvPr id="27" name="Shape 24"/>
          <p:cNvSpPr/>
          <p:nvPr/>
        </p:nvSpPr>
        <p:spPr>
          <a:xfrm>
            <a:off x="410766" y="3486150"/>
            <a:ext cx="0" cy="558217"/>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2489932" y="3708611"/>
            <a:ext cx="765051" cy="132159"/>
          </a:xfrm>
          <a:prstGeom prst="roundRect">
            <a:avLst>
              <a:gd name="adj" fmla="val 21622"/>
            </a:avLst>
          </a:prstGeom>
          <a:solidFill>
            <a:srgbClr val="DC2626">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278606"/>
          </a:xfrm>
          <a:prstGeom prst="rect">
            <a:avLst/>
          </a:prstGeom>
          <a:noFill/>
          <a:ln/>
        </p:spPr>
        <p:txBody>
          <a:bodyPr wrap="square" lIns="0" tIns="0" rIns="0" bIns="0" rtlCol="0" anchor="t"/>
          <a:lstStyle/>
          <a:p>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Safestate: ROE negativt (</a:t>
            </a:r>
            <a:pPr algn="l" indent="0" marL="0">
              <a:lnSpc>
                <a:spcPts val="1097"/>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−30 %</a:t>
            </a:r>
            <a:pPr algn="l" indent="0" marL="0">
              <a:lnSpc>
                <a:spcPts val="1097"/>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2025). Poäng: </a:t>
            </a:r>
            <a:pPr algn="l" indent="0" marL="0">
              <a:lnSpc>
                <a:spcPts val="1097"/>
              </a:lnSpc>
              <a:buNone/>
            </a:pPr>
            <a:r>
              <a:rPr lang="en-US" sz="800" b="1" dirty="0">
                <a:solidFill>
                  <a:srgbClr val="DC2626"/>
                </a:solidFill>
                <a:highlight>
                  <a:srgbClr val="DC2626"/>
                </a:highlight>
                <a:latin typeface="Liberation Sans Narrow" pitchFamily="34" charset="0"/>
                <a:ea typeface="Liberation Sans Narrow" pitchFamily="34" charset="-122"/>
                <a:cs typeface="Liberation Sans Narrow" pitchFamily="34" charset="-120"/>
              </a:rPr>
              <a:t>1 — förstör värde</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Men: typiskt för SaaS i expansion. Amazon hade negativ ROE i 15 år — sedan blev det moat. Vid 2028E: ROE förväntas +15 % (poäng 4).</a:t>
            </a:r>
            <a:endParaRPr lang="en-US" sz="800" dirty="0"/>
          </a:p>
        </p:txBody>
      </p:sp>
      <p:sp>
        <p:nvSpPr>
          <p:cNvPr id="31" name="Text 28"/>
          <p:cNvSpPr/>
          <p:nvPr/>
        </p:nvSpPr>
        <p:spPr>
          <a:xfrm>
            <a:off x="400050" y="4115805"/>
            <a:ext cx="8343900" cy="622734"/>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4115805"/>
            <a:ext cx="0" cy="622734"/>
          </a:xfrm>
          <a:prstGeom prst="line">
            <a:avLst/>
          </a:prstGeom>
          <a:noFill/>
          <a:ln w="21431">
            <a:solidFill>
              <a:srgbClr val="B8942E"/>
            </a:solidFill>
            <a:prstDash val="solid"/>
          </a:ln>
        </p:spPr>
      </p:sp>
      <p:sp>
        <p:nvSpPr>
          <p:cNvPr id="33" name="Text 30"/>
          <p:cNvSpPr/>
          <p:nvPr/>
        </p:nvSpPr>
        <p:spPr>
          <a:xfrm>
            <a:off x="507206" y="4172955"/>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335810"/>
            <a:ext cx="8151019" cy="345579"/>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ROE är bra för mogna bolag (H&amp;M, Volvo). För SaaS med negativt resultat är ROE meningslöst. Använd FCF/Intäkt istället. ROE kan manipuleras genom skuldsättning — alltid kolla också skuldsättningsgrad (variabel 10).</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3 — Lönsamhet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18 / 40</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038938"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LÖNSAMHET</a:t>
            </a:r>
            <a:endParaRPr lang="en-US" sz="800" dirty="0"/>
          </a:p>
        </p:txBody>
      </p:sp>
      <p:sp>
        <p:nvSpPr>
          <p:cNvPr id="4" name="Text 2"/>
          <p:cNvSpPr/>
          <p:nvPr/>
        </p:nvSpPr>
        <p:spPr>
          <a:xfrm>
            <a:off x="7453275" y="228600"/>
            <a:ext cx="1290675"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19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Lönsamhet — sammanfattning</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3 VARIABLER SOM SVARAR PÅ: TJÄNAR BOLAG PENGAR?</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00050" y="976796"/>
          <a:ext cx="8343900" cy="914400"/>
        </p:xfrm>
        <a:graphic>
          <a:graphicData uri="http://schemas.openxmlformats.org/drawingml/2006/table">
            <a:tbl>
              <a:tblPr/>
              <a:tblGrid>
                <a:gridCol w="428625"/>
                <a:gridCol w="2536478"/>
                <a:gridCol w="1000125"/>
                <a:gridCol w="571500"/>
                <a:gridCol w="380717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7</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EBITDA-marginal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−8 %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Förlust (men förbättras)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8</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FCF/Intäkt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−16 %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Bränner kassa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9</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ROE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negativ</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Förstör värde (typiskt SaaS)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03622" y="2097584"/>
            <a:ext cx="4114800" cy="1155613"/>
          </a:xfrm>
          <a:prstGeom prst="roundRect">
            <a:avLst>
              <a:gd name="adj" fmla="val 4945"/>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492919" y="2165449"/>
            <a:ext cx="3936206" cy="130735"/>
          </a:xfrm>
          <a:prstGeom prst="rect">
            <a:avLst/>
          </a:prstGeom>
          <a:noFill/>
          <a:ln/>
        </p:spPr>
        <p:txBody>
          <a:bodyPr wrap="none" lIns="0" tIns="0" rIns="0" bIns="0" rtlCol="0" anchor="t">
            <a:normAutofit/>
          </a:bodyPr>
          <a:lstStyle/>
          <a:p>
            <a:pPr algn="l" indent="0" marL="0">
              <a:lnSpc>
                <a:spcPts val="1021"/>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492919" y="2323616"/>
            <a:ext cx="3936206" cy="261890"/>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Lönsamhet är Safestates </a:t>
            </a:r>
            <a:pPr algn="l" indent="0" marL="0">
              <a:lnSpc>
                <a:spcPts val="1055"/>
              </a:lnSpc>
              <a:buNone/>
            </a:pPr>
            <a:r>
              <a:rPr lang="en-US" sz="800" b="1" dirty="0">
                <a:solidFill>
                  <a:srgbClr val="3D4556"/>
                </a:solidFill>
                <a:latin typeface="Carlito" pitchFamily="34" charset="0"/>
                <a:ea typeface="Carlito" pitchFamily="34" charset="-122"/>
                <a:cs typeface="Carlito" pitchFamily="34" charset="-120"/>
              </a:rPr>
              <a:t>SVAGHET</a:t>
            </a:r>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 — typiskt för SaaS i expansion. Alla 3 variabler under 3. MEN: trenden är positiv:</a:t>
            </a:r>
            <a:endParaRPr lang="en-US" sz="800" dirty="0"/>
          </a:p>
        </p:txBody>
      </p:sp>
      <p:sp>
        <p:nvSpPr>
          <p:cNvPr id="11" name="Text 8"/>
          <p:cNvSpPr/>
          <p:nvPr/>
        </p:nvSpPr>
        <p:spPr>
          <a:xfrm>
            <a:off x="492919" y="2612938"/>
            <a:ext cx="3936206" cy="434036"/>
          </a:xfrm>
          <a:prstGeom prst="rect">
            <a:avLst/>
          </a:prstGeom>
          <a:noFill/>
          <a:ln/>
        </p:spPr>
        <p:txBody>
          <a:bodyPr wrap="square" lIns="64294" tIns="0" rIns="0" bIns="0" rtlCol="0" anchor="t"/>
          <a:lstStyle/>
          <a:p>
            <a:pPr algn="l" marL="64294" indent="-64294">
              <a:lnSpc>
                <a:spcPts val="1020"/>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EBITDA: </a:t>
            </a:r>
            <a:pPr algn="l" indent="0" marL="0">
              <a:lnSpc>
                <a:spcPts val="1020"/>
              </a:lnSpc>
              <a:spcAft>
                <a:spcPts val="56"/>
              </a:spcAft>
              <a:buNone/>
            </a:pPr>
            <a:r>
              <a:rPr lang="en-US" sz="800" b="1" dirty="0">
                <a:solidFill>
                  <a:srgbClr val="DC2626"/>
                </a:solidFill>
                <a:latin typeface="Liberation Sans Narrow" pitchFamily="34" charset="0"/>
                <a:ea typeface="Liberation Sans Narrow" pitchFamily="34" charset="-122"/>
                <a:cs typeface="Liberation Sans Narrow" pitchFamily="34" charset="-120"/>
              </a:rPr>
              <a:t>−8 %</a:t>
            </a:r>
            <a:pPr algn="l" indent="0" marL="0">
              <a:lnSpc>
                <a:spcPts val="1020"/>
              </a:lnSpc>
              <a:spcAft>
                <a:spcPts val="56"/>
              </a:spcAft>
              <a:buNone/>
            </a:pPr>
            <a:r>
              <a:rPr lang="en-US" sz="800" dirty="0">
                <a:solidFill>
                  <a:srgbClr val="3D4556"/>
                </a:solidFill>
                <a:latin typeface="Carlito" pitchFamily="34" charset="0"/>
                <a:ea typeface="Carlito" pitchFamily="34" charset="-122"/>
                <a:cs typeface="Carlito" pitchFamily="34" charset="-120"/>
              </a:rPr>
              <a:t> → </a:t>
            </a:r>
            <a:pPr algn="l" indent="0" marL="0">
              <a:lnSpc>
                <a:spcPts val="1020"/>
              </a:lnSpc>
              <a:spcAft>
                <a:spcPts val="56"/>
              </a:spcAft>
              <a:buNone/>
            </a:pPr>
            <a:r>
              <a:rPr lang="en-US" sz="800" b="1" dirty="0">
                <a:solidFill>
                  <a:srgbClr val="059669"/>
                </a:solidFill>
                <a:latin typeface="Liberation Sans Narrow" pitchFamily="34" charset="0"/>
                <a:ea typeface="Liberation Sans Narrow" pitchFamily="34" charset="-122"/>
                <a:cs typeface="Liberation Sans Narrow" pitchFamily="34" charset="-120"/>
              </a:rPr>
              <a:t>+3,6 %</a:t>
            </a:r>
            <a:pPr algn="l" indent="0" marL="0">
              <a:lnSpc>
                <a:spcPts val="1020"/>
              </a:lnSpc>
              <a:spcAft>
                <a:spcPts val="56"/>
              </a:spcAft>
              <a:buNone/>
            </a:pPr>
            <a:r>
              <a:rPr lang="en-US" sz="800" dirty="0">
                <a:solidFill>
                  <a:srgbClr val="3D4556"/>
                </a:solidFill>
                <a:latin typeface="Liberation Sans Narrow" pitchFamily="34" charset="0"/>
                <a:ea typeface="Liberation Sans Narrow" pitchFamily="34" charset="-122"/>
                <a:cs typeface="Liberation Sans Narrow" pitchFamily="34" charset="-120"/>
              </a:rPr>
              <a:t> (2027E)</a:t>
            </a:r>
            <a:endParaRPr lang="en-US" sz="800" dirty="0"/>
          </a:p>
          <a:p>
            <a:pPr algn="l" marL="64294" indent="-64294">
              <a:lnSpc>
                <a:spcPts val="1020"/>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FCF: </a:t>
            </a:r>
            <a:pPr algn="l" indent="0" marL="0">
              <a:lnSpc>
                <a:spcPts val="1020"/>
              </a:lnSpc>
              <a:spcAft>
                <a:spcPts val="56"/>
              </a:spcAft>
              <a:buNone/>
            </a:pPr>
            <a:r>
              <a:rPr lang="en-US" sz="800" b="1" dirty="0">
                <a:solidFill>
                  <a:srgbClr val="DC2626"/>
                </a:solidFill>
                <a:latin typeface="Liberation Sans Narrow" pitchFamily="34" charset="0"/>
                <a:ea typeface="Liberation Sans Narrow" pitchFamily="34" charset="-122"/>
                <a:cs typeface="Liberation Sans Narrow" pitchFamily="34" charset="-120"/>
              </a:rPr>
              <a:t>−16 %</a:t>
            </a:r>
            <a:pPr algn="l" indent="0" marL="0">
              <a:lnSpc>
                <a:spcPts val="1020"/>
              </a:lnSpc>
              <a:spcAft>
                <a:spcPts val="56"/>
              </a:spcAft>
              <a:buNone/>
            </a:pPr>
            <a:r>
              <a:rPr lang="en-US" sz="800" dirty="0">
                <a:solidFill>
                  <a:srgbClr val="3D4556"/>
                </a:solidFill>
                <a:latin typeface="Carlito" pitchFamily="34" charset="0"/>
                <a:ea typeface="Carlito" pitchFamily="34" charset="-122"/>
                <a:cs typeface="Carlito" pitchFamily="34" charset="-120"/>
              </a:rPr>
              <a:t> → </a:t>
            </a:r>
            <a:pPr algn="l" indent="0" marL="0">
              <a:lnSpc>
                <a:spcPts val="1020"/>
              </a:lnSpc>
              <a:spcAft>
                <a:spcPts val="56"/>
              </a:spcAft>
              <a:buNone/>
            </a:pPr>
            <a:r>
              <a:rPr lang="en-US" sz="800" b="1" dirty="0">
                <a:solidFill>
                  <a:srgbClr val="059669"/>
                </a:solidFill>
                <a:latin typeface="Liberation Sans Narrow" pitchFamily="34" charset="0"/>
                <a:ea typeface="Liberation Sans Narrow" pitchFamily="34" charset="-122"/>
                <a:cs typeface="Liberation Sans Narrow" pitchFamily="34" charset="-120"/>
              </a:rPr>
              <a:t>+3 %</a:t>
            </a:r>
            <a:pPr algn="l" indent="0" marL="0">
              <a:lnSpc>
                <a:spcPts val="1020"/>
              </a:lnSpc>
              <a:spcAft>
                <a:spcPts val="56"/>
              </a:spcAft>
              <a:buNone/>
            </a:pPr>
            <a:r>
              <a:rPr lang="en-US" sz="800" dirty="0">
                <a:solidFill>
                  <a:srgbClr val="3D4556"/>
                </a:solidFill>
                <a:latin typeface="Liberation Sans Narrow" pitchFamily="34" charset="0"/>
                <a:ea typeface="Liberation Sans Narrow" pitchFamily="34" charset="-122"/>
                <a:cs typeface="Liberation Sans Narrow" pitchFamily="34" charset="-120"/>
              </a:rPr>
              <a:t> (2028E)</a:t>
            </a:r>
            <a:endParaRPr lang="en-US" sz="800" dirty="0"/>
          </a:p>
          <a:p>
            <a:pPr algn="l" marL="64294" indent="-64294">
              <a:lnSpc>
                <a:spcPts val="1020"/>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ROE: </a:t>
            </a:r>
            <a:pPr algn="l" indent="0" marL="0">
              <a:lnSpc>
                <a:spcPts val="1020"/>
              </a:lnSpc>
              <a:spcAft>
                <a:spcPts val="56"/>
              </a:spcAft>
              <a:buNone/>
            </a:pPr>
            <a:r>
              <a:rPr lang="en-US" sz="800" b="1" dirty="0">
                <a:solidFill>
                  <a:srgbClr val="DC2626"/>
                </a:solidFill>
                <a:latin typeface="Carlito" pitchFamily="34" charset="0"/>
                <a:ea typeface="Carlito" pitchFamily="34" charset="-122"/>
                <a:cs typeface="Carlito" pitchFamily="34" charset="-120"/>
              </a:rPr>
              <a:t>negativt</a:t>
            </a:r>
            <a:pPr algn="l" indent="0" marL="0">
              <a:lnSpc>
                <a:spcPts val="1020"/>
              </a:lnSpc>
              <a:spcAft>
                <a:spcPts val="56"/>
              </a:spcAft>
              <a:buNone/>
            </a:pPr>
            <a:r>
              <a:rPr lang="en-US" sz="800" dirty="0">
                <a:solidFill>
                  <a:srgbClr val="3D4556"/>
                </a:solidFill>
                <a:latin typeface="Carlito" pitchFamily="34" charset="0"/>
                <a:ea typeface="Carlito" pitchFamily="34" charset="-122"/>
                <a:cs typeface="Carlito" pitchFamily="34" charset="-120"/>
              </a:rPr>
              <a:t> → </a:t>
            </a:r>
            <a:pPr algn="l" indent="0" marL="0">
              <a:lnSpc>
                <a:spcPts val="1020"/>
              </a:lnSpc>
              <a:spcAft>
                <a:spcPts val="56"/>
              </a:spcAft>
              <a:buNone/>
            </a:pPr>
            <a:r>
              <a:rPr lang="en-US" sz="800" b="1" dirty="0">
                <a:solidFill>
                  <a:srgbClr val="059669"/>
                </a:solidFill>
                <a:latin typeface="Liberation Sans Narrow" pitchFamily="34" charset="0"/>
                <a:ea typeface="Liberation Sans Narrow" pitchFamily="34" charset="-122"/>
                <a:cs typeface="Liberation Sans Narrow" pitchFamily="34" charset="-120"/>
              </a:rPr>
              <a:t>+15 %</a:t>
            </a:r>
            <a:pPr algn="l" indent="0" marL="0">
              <a:lnSpc>
                <a:spcPts val="1020"/>
              </a:lnSpc>
              <a:spcAft>
                <a:spcPts val="56"/>
              </a:spcAft>
              <a:buNone/>
            </a:pPr>
            <a:r>
              <a:rPr lang="en-US" sz="800" dirty="0">
                <a:solidFill>
                  <a:srgbClr val="3D4556"/>
                </a:solidFill>
                <a:latin typeface="Liberation Sans Narrow" pitchFamily="34" charset="0"/>
                <a:ea typeface="Liberation Sans Narrow" pitchFamily="34" charset="-122"/>
                <a:cs typeface="Liberation Sans Narrow" pitchFamily="34" charset="-120"/>
              </a:rPr>
              <a:t> (2028E)</a:t>
            </a:r>
            <a:endParaRPr lang="en-US" sz="800" dirty="0"/>
          </a:p>
        </p:txBody>
      </p:sp>
      <p:sp>
        <p:nvSpPr>
          <p:cNvPr id="12" name="Text 9"/>
          <p:cNvSpPr/>
          <p:nvPr/>
        </p:nvSpPr>
        <p:spPr>
          <a:xfrm>
            <a:off x="492919" y="3037098"/>
            <a:ext cx="3936206" cy="148233"/>
          </a:xfrm>
          <a:prstGeom prst="rect">
            <a:avLst/>
          </a:prstGeom>
          <a:noFill/>
          <a:ln/>
        </p:spPr>
        <p:txBody>
          <a:bodyPr wrap="square" lIns="0" tIns="0" rIns="0" bIns="0" rtlCol="0" anchor="t"/>
          <a:lstStyle/>
          <a:p>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När EBITDA blir positivt = variabel 19 risk blir LÅG.</a:t>
            </a:r>
            <a:endParaRPr lang="en-US" sz="800" dirty="0"/>
          </a:p>
        </p:txBody>
      </p:sp>
      <p:sp>
        <p:nvSpPr>
          <p:cNvPr id="13" name="Text 10"/>
          <p:cNvSpPr/>
          <p:nvPr/>
        </p:nvSpPr>
        <p:spPr>
          <a:xfrm>
            <a:off x="4622006" y="2094012"/>
            <a:ext cx="4121944" cy="1162757"/>
          </a:xfrm>
          <a:prstGeom prst="rect">
            <a:avLst/>
          </a:prstGeom>
          <a:solidFill>
            <a:srgbClr val="DC2626">
              <a:alpha val="8000"/>
            </a:srgbClr>
          </a:solidFill>
          <a:ln/>
        </p:spPr>
        <p:txBody>
          <a:bodyPr wrap="square" rtlCol="0" anchor="ctr"/>
          <a:lstStyle/>
          <a:p>
            <a:pPr indent="0" marL="0">
              <a:buNone/>
            </a:pPr>
            <a:endParaRPr lang="en-US" dirty="0"/>
          </a:p>
        </p:txBody>
      </p:sp>
      <p:sp>
        <p:nvSpPr>
          <p:cNvPr id="14" name="Shape 11"/>
          <p:cNvSpPr/>
          <p:nvPr/>
        </p:nvSpPr>
        <p:spPr>
          <a:xfrm>
            <a:off x="4632722" y="2094012"/>
            <a:ext cx="0" cy="1162757"/>
          </a:xfrm>
          <a:prstGeom prst="line">
            <a:avLst/>
          </a:prstGeom>
          <a:noFill/>
          <a:ln w="21431">
            <a:solidFill>
              <a:srgbClr val="DC2626"/>
            </a:solidFill>
            <a:prstDash val="solid"/>
          </a:ln>
        </p:spPr>
      </p:sp>
      <p:sp>
        <p:nvSpPr>
          <p:cNvPr id="15" name="Text 12"/>
          <p:cNvSpPr/>
          <p:nvPr/>
        </p:nvSpPr>
        <p:spPr>
          <a:xfrm>
            <a:off x="4729163" y="2158305"/>
            <a:ext cx="4038790" cy="123591"/>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KOPPLING TILL VARIABEL 19 — SVAR HÄR</a:t>
            </a:r>
            <a:endParaRPr lang="en-US" sz="800" dirty="0"/>
          </a:p>
        </p:txBody>
      </p:sp>
      <p:sp>
        <p:nvSpPr>
          <p:cNvPr id="16" name="Text 13"/>
          <p:cNvSpPr/>
          <p:nvPr/>
        </p:nvSpPr>
        <p:spPr>
          <a:xfrm>
            <a:off x="4729163" y="2309329"/>
            <a:ext cx="3929063" cy="123480"/>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Lönsamhet kategori 3 = DIRECT kopplad till variabel 19:</a:t>
            </a:r>
            <a:endParaRPr lang="en-US" sz="800" dirty="0"/>
          </a:p>
        </p:txBody>
      </p:sp>
      <p:sp>
        <p:nvSpPr>
          <p:cNvPr id="17" name="Text 14"/>
          <p:cNvSpPr/>
          <p:nvPr/>
        </p:nvSpPr>
        <p:spPr>
          <a:xfrm>
            <a:off x="4729163" y="2460241"/>
            <a:ext cx="3929063" cy="419838"/>
          </a:xfrm>
          <a:prstGeom prst="rect">
            <a:avLst/>
          </a:prstGeom>
          <a:noFill/>
          <a:ln/>
        </p:spPr>
        <p:txBody>
          <a:bodyPr wrap="square" lIns="64294" tIns="0" rIns="0" bIns="0" rtlCol="0" anchor="t"/>
          <a:lstStyle/>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Negativ EBITDA → kapital förbränning → HÖG emission-risk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Negativ FCF → bolag bränner kassa → HÖG emission-risk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Positiv EBITDA + FCF → emission-risk försvinner</a:t>
            </a:r>
            <a:endParaRPr lang="en-US" sz="800" dirty="0"/>
          </a:p>
        </p:txBody>
      </p:sp>
      <p:sp>
        <p:nvSpPr>
          <p:cNvPr id="18" name="Text 15"/>
          <p:cNvSpPr/>
          <p:nvPr/>
        </p:nvSpPr>
        <p:spPr>
          <a:xfrm>
            <a:off x="4729163" y="2871006"/>
            <a:ext cx="3929063" cy="318211"/>
          </a:xfrm>
          <a:prstGeom prst="rect">
            <a:avLst/>
          </a:prstGeom>
          <a:noFill/>
          <a:ln/>
        </p:spPr>
        <p:txBody>
          <a:bodyPr wrap="square" lIns="0" tIns="0" rIns="0" bIns="0" rtlCol="0" anchor="t"/>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Som nybörjare: kategori 3 visar om bolag bränner kassa. Variabel 19 bygger på FCF/Intäkt (variabel 8). De hör ihop.</a:t>
            </a:r>
            <a:endParaRPr lang="en-US" sz="800" dirty="0"/>
          </a:p>
        </p:txBody>
      </p:sp>
      <p:sp>
        <p:nvSpPr>
          <p:cNvPr id="19" name="Text 16"/>
          <p:cNvSpPr/>
          <p:nvPr/>
        </p:nvSpPr>
        <p:spPr>
          <a:xfrm>
            <a:off x="400050" y="3328206"/>
            <a:ext cx="8343900" cy="442801"/>
          </a:xfrm>
          <a:prstGeom prst="rect">
            <a:avLst/>
          </a:prstGeom>
          <a:solidFill>
            <a:srgbClr val="B8942E">
              <a:alpha val="6000"/>
            </a:srgbClr>
          </a:solidFill>
          <a:ln/>
        </p:spPr>
        <p:txBody>
          <a:bodyPr wrap="square" rtlCol="0" anchor="ctr"/>
          <a:lstStyle/>
          <a:p>
            <a:pPr indent="0" marL="0">
              <a:buNone/>
            </a:pPr>
            <a:endParaRPr lang="en-US" dirty="0"/>
          </a:p>
        </p:txBody>
      </p:sp>
      <p:sp>
        <p:nvSpPr>
          <p:cNvPr id="20" name="Shape 17"/>
          <p:cNvSpPr/>
          <p:nvPr/>
        </p:nvSpPr>
        <p:spPr>
          <a:xfrm>
            <a:off x="410766" y="3328206"/>
            <a:ext cx="0" cy="442801"/>
          </a:xfrm>
          <a:prstGeom prst="line">
            <a:avLst/>
          </a:prstGeom>
          <a:noFill/>
          <a:ln w="21431">
            <a:solidFill>
              <a:srgbClr val="B8942E"/>
            </a:solidFill>
            <a:prstDash val="solid"/>
          </a:ln>
        </p:spPr>
      </p:sp>
      <p:sp>
        <p:nvSpPr>
          <p:cNvPr id="21" name="Text 18"/>
          <p:cNvSpPr/>
          <p:nvPr/>
        </p:nvSpPr>
        <p:spPr>
          <a:xfrm>
            <a:off x="507206" y="3385356"/>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2" name="Text 19"/>
          <p:cNvSpPr/>
          <p:nvPr/>
        </p:nvSpPr>
        <p:spPr>
          <a:xfrm>
            <a:off x="507206" y="3548211"/>
            <a:ext cx="8151019" cy="165646"/>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Stabilitet — överlever bolaget kriser?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Detta är också kopplat till variabel 19 — stabil balans = lägre emission-risk.</a:t>
            </a:r>
            <a:endParaRPr lang="en-US" sz="816" dirty="0"/>
          </a:p>
        </p:txBody>
      </p:sp>
      <p:sp>
        <p:nvSpPr>
          <p:cNvPr id="23" name="Shape 20"/>
          <p:cNvSpPr/>
          <p:nvPr/>
        </p:nvSpPr>
        <p:spPr>
          <a:xfrm>
            <a:off x="400050" y="4914900"/>
            <a:ext cx="8343900" cy="0"/>
          </a:xfrm>
          <a:prstGeom prst="line">
            <a:avLst/>
          </a:prstGeom>
          <a:noFill/>
          <a:ln w="7144">
            <a:solidFill>
              <a:srgbClr val="E2E5EA"/>
            </a:solidFill>
            <a:prstDash val="solid"/>
          </a:ln>
        </p:spPr>
      </p:sp>
      <p:sp>
        <p:nvSpPr>
          <p:cNvPr id="24" name="Text 21"/>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3 — Lönsamhet</a:t>
            </a:r>
            <a:endParaRPr lang="en-US" sz="800" dirty="0"/>
          </a:p>
        </p:txBody>
      </p:sp>
      <p:sp>
        <p:nvSpPr>
          <p:cNvPr id="25" name="Text 22"/>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19 / 40</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571500"/>
            <a:ext cx="5968117" cy="3209544"/>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04</a:t>
            </a:r>
            <a:endParaRPr lang="en-US" sz="29250" dirty="0"/>
          </a:p>
        </p:txBody>
      </p:sp>
      <p:sp>
        <p:nvSpPr>
          <p:cNvPr id="5" name="Text 1"/>
          <p:cNvSpPr/>
          <p:nvPr/>
        </p:nvSpPr>
        <p:spPr>
          <a:xfrm>
            <a:off x="2408415" y="3457575"/>
            <a:ext cx="6735585" cy="1685925"/>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04</a:t>
            </a:r>
            <a:endParaRPr lang="en-US" sz="29250" dirty="0"/>
          </a:p>
        </p:txBody>
      </p:sp>
      <p:sp>
        <p:nvSpPr>
          <p:cNvPr id="6" name="Text 2"/>
          <p:cNvSpPr/>
          <p:nvPr/>
        </p:nvSpPr>
        <p:spPr>
          <a:xfrm>
            <a:off x="457200"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7" name="Text 3"/>
          <p:cNvSpPr/>
          <p:nvPr/>
        </p:nvSpPr>
        <p:spPr>
          <a:xfrm>
            <a:off x="7353374" y="342900"/>
            <a:ext cx="1748038" cy="181051"/>
          </a:xfrm>
          <a:prstGeom prst="rect">
            <a:avLst/>
          </a:prstGeom>
          <a:noFill/>
          <a:ln/>
        </p:spPr>
        <p:txBody>
          <a:bodyPr wrap="none" lIns="0" tIns="0" rIns="0" bIns="0" rtlCol="0" anchor="t"/>
          <a:lstStyle/>
          <a:p>
            <a:pPr algn="l" indent="0" marL="0">
              <a:lnSpc>
                <a:spcPts val="928"/>
              </a:lnSpc>
              <a:buNone/>
            </a:pPr>
            <a:r>
              <a:rPr lang="en-US" sz="800" spc="169" kern="0" dirty="0">
                <a:solidFill>
                  <a:srgbClr val="7A8498"/>
                </a:solidFill>
                <a:latin typeface="Liberation Sans Narrow" pitchFamily="34" charset="0"/>
                <a:ea typeface="Liberation Sans Narrow" pitchFamily="34" charset="-122"/>
                <a:cs typeface="Liberation Sans Narrow" pitchFamily="34" charset="-120"/>
              </a:rPr>
              <a:t>AK1A · KATEGORI 04 / 06</a:t>
            </a:r>
            <a:endParaRPr lang="en-US" sz="800" dirty="0"/>
          </a:p>
        </p:txBody>
      </p:sp>
      <p:sp>
        <p:nvSpPr>
          <p:cNvPr id="8" name="Text 4"/>
          <p:cNvSpPr/>
          <p:nvPr/>
        </p:nvSpPr>
        <p:spPr>
          <a:xfrm>
            <a:off x="914400" y="612688"/>
            <a:ext cx="82296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4 AV 6</a:t>
            </a:r>
            <a:endParaRPr lang="en-US" sz="800" dirty="0"/>
          </a:p>
        </p:txBody>
      </p:sp>
      <p:sp>
        <p:nvSpPr>
          <p:cNvPr id="9" name="Text 5"/>
          <p:cNvSpPr/>
          <p:nvPr/>
        </p:nvSpPr>
        <p:spPr>
          <a:xfrm>
            <a:off x="914400" y="865845"/>
            <a:ext cx="8229600" cy="1287018"/>
          </a:xfrm>
          <a:prstGeom prst="rect">
            <a:avLst/>
          </a:prstGeom>
          <a:noFill/>
          <a:ln/>
        </p:spPr>
        <p:txBody>
          <a:bodyPr wrap="none" lIns="0" tIns="0" rIns="0" bIns="0" rtlCol="0" anchor="t">
            <a:normAutofit/>
          </a:bodyPr>
          <a:lstStyle/>
          <a:p>
            <a:pPr algn="l" indent="0" marL="0">
              <a:lnSpc>
                <a:spcPts val="9563"/>
              </a:lnSpc>
              <a:buNone/>
            </a:pPr>
            <a:r>
              <a:rPr lang="en-US" sz="11250" b="1" spc="-337" kern="0" dirty="0">
                <a:solidFill>
                  <a:srgbClr val="D4A832">
                    <a:alpha val="92000"/>
                  </a:srgbClr>
                </a:solidFill>
                <a:latin typeface="Liberation Sans Narrow" pitchFamily="34" charset="0"/>
                <a:ea typeface="Liberation Sans Narrow" pitchFamily="34" charset="-122"/>
                <a:cs typeface="Liberation Sans Narrow" pitchFamily="34" charset="-120"/>
              </a:rPr>
              <a:t>04</a:t>
            </a:r>
            <a:endParaRPr lang="en-US" sz="11250" dirty="0"/>
          </a:p>
        </p:txBody>
      </p:sp>
      <p:sp>
        <p:nvSpPr>
          <p:cNvPr id="10" name="Text 6"/>
          <p:cNvSpPr/>
          <p:nvPr/>
        </p:nvSpPr>
        <p:spPr>
          <a:xfrm>
            <a:off x="914400" y="2180295"/>
            <a:ext cx="6789420" cy="407341"/>
          </a:xfrm>
          <a:prstGeom prst="rect">
            <a:avLst/>
          </a:prstGeom>
          <a:noFill/>
          <a:ln/>
        </p:spPr>
        <p:txBody>
          <a:bodyPr wrap="square" lIns="0" tIns="0" rIns="0" bIns="0" rtlCol="0" anchor="t"/>
          <a:lstStyle/>
          <a:p>
            <a:pPr algn="l" indent="0" marL="0">
              <a:lnSpc>
                <a:spcPts val="2970"/>
              </a:lnSpc>
              <a:buNone/>
            </a:pPr>
            <a:r>
              <a:rPr lang="en-US" sz="2700" b="1" spc="-45" kern="0" dirty="0">
                <a:solidFill>
                  <a:srgbClr val="FFFFFF"/>
                </a:solidFill>
                <a:latin typeface="Carlito" pitchFamily="34" charset="0"/>
                <a:ea typeface="Carlito" pitchFamily="34" charset="-122"/>
                <a:cs typeface="Carlito" pitchFamily="34" charset="-120"/>
              </a:rPr>
              <a:t>Stabilitet — Överlever bolaget kriser?</a:t>
            </a:r>
            <a:endParaRPr lang="en-US" sz="2700" dirty="0"/>
          </a:p>
        </p:txBody>
      </p:sp>
      <p:sp>
        <p:nvSpPr>
          <p:cNvPr id="11" name="Text 7"/>
          <p:cNvSpPr/>
          <p:nvPr/>
        </p:nvSpPr>
        <p:spPr>
          <a:xfrm>
            <a:off x="914400" y="2686050"/>
            <a:ext cx="5572125" cy="592387"/>
          </a:xfrm>
          <a:prstGeom prst="rect">
            <a:avLst/>
          </a:prstGeom>
          <a:noFill/>
          <a:ln/>
        </p:spPr>
        <p:txBody>
          <a:bodyPr wrap="square" lIns="0" tIns="0" rIns="0" bIns="0" rtlCol="0" anchor="t"/>
          <a:lstStyle/>
          <a:p>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3 variabler som mäter bolagets motståndskraft.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Skuldsättningsgrad</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hur mycket lån.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Likviditet</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kan bolag betala kortfristiga skulder.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Intäktsdiversifiering</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beroende av få kunder. Stabilitet + variabel 19 = komplett riskbedömning.</a:t>
            </a:r>
            <a:endParaRPr lang="en-US" sz="900" dirty="0"/>
          </a:p>
        </p:txBody>
      </p:sp>
      <p:sp>
        <p:nvSpPr>
          <p:cNvPr id="12" name="Text 8"/>
          <p:cNvSpPr/>
          <p:nvPr/>
        </p:nvSpPr>
        <p:spPr>
          <a:xfrm>
            <a:off x="917972" y="3366715"/>
            <a:ext cx="7308056" cy="208173"/>
          </a:xfrm>
          <a:prstGeom prst="roundRect">
            <a:avLst>
              <a:gd name="adj" fmla="val 18302"/>
            </a:avLst>
          </a:prstGeom>
          <a:solidFill>
            <a:srgbClr val="B8942E">
              <a:alpha val="12000"/>
            </a:srgbClr>
          </a:solidFill>
          <a:ln w="7144">
            <a:solidFill>
              <a:srgbClr val="B8942E"/>
            </a:solidFill>
            <a:prstDash val="solid"/>
          </a:ln>
        </p:spPr>
        <p:txBody>
          <a:bodyPr wrap="square" rtlCol="0" anchor="ctr"/>
          <a:lstStyle/>
          <a:p>
            <a:pPr indent="0" marL="0">
              <a:buNone/>
            </a:pPr>
            <a:endParaRPr lang="en-US" dirty="0"/>
          </a:p>
        </p:txBody>
      </p:sp>
      <p:sp>
        <p:nvSpPr>
          <p:cNvPr id="13" name="Text 9"/>
          <p:cNvSpPr/>
          <p:nvPr/>
        </p:nvSpPr>
        <p:spPr>
          <a:xfrm>
            <a:off x="914400" y="3363144"/>
            <a:ext cx="7315200" cy="215317"/>
          </a:xfrm>
          <a:prstGeom prst="rect">
            <a:avLst/>
          </a:prstGeom>
          <a:noFill/>
          <a:ln/>
        </p:spPr>
        <p:txBody>
          <a:bodyPr wrap="none" lIns="0" tIns="0" rIns="0" bIns="0" rtlCol="0" anchor="ctr"/>
          <a:lstStyle/>
          <a:p>
            <a:pPr algn="ctr" indent="0" marL="0">
              <a:lnSpc>
                <a:spcPts val="1021"/>
              </a:lnSpc>
              <a:buNone/>
            </a:pPr>
            <a:r>
              <a:rPr lang="en-US" sz="800" spc="84" kern="0" dirty="0">
                <a:solidFill>
                  <a:srgbClr val="D4A832"/>
                </a:solidFill>
                <a:latin typeface="Liberation Sans Narrow" pitchFamily="34" charset="0"/>
                <a:ea typeface="Liberation Sans Narrow" pitchFamily="34" charset="-122"/>
                <a:cs typeface="Liberation Sans Narrow" pitchFamily="34" charset="-120"/>
              </a:rPr>
              <a:t>VIKT 15 % · 3 VARIABLER</a:t>
            </a:r>
            <a:endParaRPr lang="en-US" sz="800" dirty="0"/>
          </a:p>
        </p:txBody>
      </p:sp>
      <p:sp>
        <p:nvSpPr>
          <p:cNvPr id="14" name="Text 10"/>
          <p:cNvSpPr/>
          <p:nvPr/>
        </p:nvSpPr>
        <p:spPr>
          <a:xfrm>
            <a:off x="917972" y="3767770"/>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5" name="Text 11"/>
          <p:cNvSpPr/>
          <p:nvPr/>
        </p:nvSpPr>
        <p:spPr>
          <a:xfrm>
            <a:off x="1021556" y="3857067"/>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10</a:t>
            </a:r>
            <a:endParaRPr lang="en-US" sz="800" dirty="0"/>
          </a:p>
        </p:txBody>
      </p:sp>
      <p:sp>
        <p:nvSpPr>
          <p:cNvPr id="16" name="Text 12"/>
          <p:cNvSpPr/>
          <p:nvPr/>
        </p:nvSpPr>
        <p:spPr>
          <a:xfrm>
            <a:off x="1021556" y="4024499"/>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Skuldsättningsgrad</a:t>
            </a:r>
            <a:endParaRPr lang="en-US" sz="800" dirty="0"/>
          </a:p>
        </p:txBody>
      </p:sp>
      <p:sp>
        <p:nvSpPr>
          <p:cNvPr id="17" name="Text 13"/>
          <p:cNvSpPr/>
          <p:nvPr/>
        </p:nvSpPr>
        <p:spPr>
          <a:xfrm>
            <a:off x="1021556" y="4218050"/>
            <a:ext cx="2019453" cy="153526"/>
          </a:xfrm>
          <a:prstGeom prst="rect">
            <a:avLst/>
          </a:prstGeom>
          <a:noFill/>
          <a:ln/>
        </p:spPr>
        <p:txBody>
          <a:bodyPr wrap="square" lIns="0" tIns="0" rIns="0" bIns="0" rtlCol="0" anchor="t"/>
          <a:lstStyle/>
          <a:p>
            <a:pPr algn="l" indent="0" marL="0">
              <a:lnSpc>
                <a:spcPts val="866"/>
              </a:lnSpc>
              <a:buNone/>
            </a:pPr>
            <a:r>
              <a:rPr lang="en-US" sz="619" dirty="0">
                <a:solidFill>
                  <a:srgbClr val="B8C4D4"/>
                </a:solidFill>
                <a:latin typeface="Carlito" pitchFamily="34" charset="0"/>
                <a:ea typeface="Carlito" pitchFamily="34" charset="-122"/>
                <a:cs typeface="Carlito" pitchFamily="34" charset="-120"/>
              </a:rPr>
              <a:t>Hur mycket lån har bolaget per krona ägarkapital?</a:t>
            </a:r>
            <a:endParaRPr lang="en-US" sz="619" dirty="0"/>
          </a:p>
        </p:txBody>
      </p:sp>
      <p:sp>
        <p:nvSpPr>
          <p:cNvPr id="18" name="Text 14"/>
          <p:cNvSpPr/>
          <p:nvPr/>
        </p:nvSpPr>
        <p:spPr>
          <a:xfrm>
            <a:off x="3142022" y="3767770"/>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9" name="Text 15"/>
          <p:cNvSpPr/>
          <p:nvPr/>
        </p:nvSpPr>
        <p:spPr>
          <a:xfrm>
            <a:off x="3245607" y="3857067"/>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11</a:t>
            </a:r>
            <a:endParaRPr lang="en-US" sz="800" dirty="0"/>
          </a:p>
        </p:txBody>
      </p:sp>
      <p:sp>
        <p:nvSpPr>
          <p:cNvPr id="20" name="Text 16"/>
          <p:cNvSpPr/>
          <p:nvPr/>
        </p:nvSpPr>
        <p:spPr>
          <a:xfrm>
            <a:off x="3245607" y="4024499"/>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Likviditet</a:t>
            </a:r>
            <a:endParaRPr lang="en-US" sz="800" dirty="0"/>
          </a:p>
        </p:txBody>
      </p:sp>
      <p:sp>
        <p:nvSpPr>
          <p:cNvPr id="21" name="Text 17"/>
          <p:cNvSpPr/>
          <p:nvPr/>
        </p:nvSpPr>
        <p:spPr>
          <a:xfrm>
            <a:off x="3245607" y="4218050"/>
            <a:ext cx="1909725"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Kan bolag betala kortfristiga skulder inom 12 månader?</a:t>
            </a:r>
            <a:endParaRPr lang="en-US" sz="800" dirty="0"/>
          </a:p>
        </p:txBody>
      </p:sp>
      <p:sp>
        <p:nvSpPr>
          <p:cNvPr id="22" name="Text 18"/>
          <p:cNvSpPr/>
          <p:nvPr/>
        </p:nvSpPr>
        <p:spPr>
          <a:xfrm>
            <a:off x="5366072" y="3767770"/>
            <a:ext cx="2117006"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23" name="Text 19"/>
          <p:cNvSpPr/>
          <p:nvPr/>
        </p:nvSpPr>
        <p:spPr>
          <a:xfrm>
            <a:off x="5469657" y="3857067"/>
            <a:ext cx="1909837"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12</a:t>
            </a:r>
            <a:endParaRPr lang="en-US" sz="800" dirty="0"/>
          </a:p>
        </p:txBody>
      </p:sp>
      <p:sp>
        <p:nvSpPr>
          <p:cNvPr id="24" name="Text 20"/>
          <p:cNvSpPr/>
          <p:nvPr/>
        </p:nvSpPr>
        <p:spPr>
          <a:xfrm>
            <a:off x="5469657" y="4024499"/>
            <a:ext cx="1909837"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Intäktsdiversifiering</a:t>
            </a:r>
            <a:endParaRPr lang="en-US" sz="800" dirty="0"/>
          </a:p>
        </p:txBody>
      </p:sp>
      <p:sp>
        <p:nvSpPr>
          <p:cNvPr id="25" name="Text 21"/>
          <p:cNvSpPr/>
          <p:nvPr/>
        </p:nvSpPr>
        <p:spPr>
          <a:xfrm>
            <a:off x="5469657" y="4218050"/>
            <a:ext cx="1909837"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Beroende av få kunder eller produkter — koncentrationsrisk.</a:t>
            </a:r>
            <a:endParaRPr lang="en-US" sz="800" dirty="0"/>
          </a:p>
        </p:txBody>
      </p:sp>
      <p:sp>
        <p:nvSpPr>
          <p:cNvPr id="26" name="Shape 22"/>
          <p:cNvSpPr/>
          <p:nvPr/>
        </p:nvSpPr>
        <p:spPr>
          <a:xfrm>
            <a:off x="457200" y="4722019"/>
            <a:ext cx="8229600" cy="0"/>
          </a:xfrm>
          <a:prstGeom prst="line">
            <a:avLst/>
          </a:prstGeom>
          <a:noFill/>
          <a:ln w="7144">
            <a:solidFill>
              <a:srgbClr val="FFFFFF"/>
            </a:solidFill>
            <a:prstDash val="solid"/>
          </a:ln>
        </p:spPr>
      </p:sp>
      <p:sp>
        <p:nvSpPr>
          <p:cNvPr id="27" name="Text 23"/>
          <p:cNvSpPr/>
          <p:nvPr/>
        </p:nvSpPr>
        <p:spPr>
          <a:xfrm>
            <a:off x="457200" y="4797028"/>
            <a:ext cx="7896746" cy="117872"/>
          </a:xfrm>
          <a:prstGeom prst="rect">
            <a:avLst/>
          </a:prstGeom>
          <a:noFill/>
          <a:ln/>
        </p:spPr>
        <p:txBody>
          <a:bodyPr wrap="none" lIns="0" tIns="0" rIns="0" bIns="0" rtlCol="0" anchor="t"/>
          <a:lstStyle/>
          <a:p>
            <a:pPr algn="l" indent="0" marL="0">
              <a:lnSpc>
                <a:spcPts val="928"/>
              </a:lnSpc>
              <a:buNone/>
            </a:pPr>
            <a:r>
              <a:rPr lang="en-US" sz="800" spc="113" kern="0" dirty="0">
                <a:solidFill>
                  <a:srgbClr val="D4A832"/>
                </a:solidFill>
                <a:latin typeface="Liberation Sans Narrow" pitchFamily="34" charset="0"/>
                <a:ea typeface="Liberation Sans Narrow" pitchFamily="34" charset="-122"/>
                <a:cs typeface="Liberation Sans Narrow" pitchFamily="34" charset="-120"/>
              </a:rPr>
              <a:t>KATEGORI 04</a:t>
            </a:r>
            <a:pPr algn="l" indent="0" marL="0">
              <a:lnSpc>
                <a:spcPts val="928"/>
              </a:lnSpc>
              <a:buNone/>
            </a:pPr>
            <a:r>
              <a:rPr lang="en-US" sz="800" spc="113" kern="0" dirty="0">
                <a:solidFill>
                  <a:srgbClr val="5A6270"/>
                </a:solidFill>
                <a:latin typeface="Carlito" pitchFamily="34" charset="0"/>
                <a:ea typeface="Carlito" pitchFamily="34" charset="-122"/>
                <a:cs typeface="Carlito" pitchFamily="34" charset="-120"/>
              </a:rPr>
              <a:t> · STABILITET</a:t>
            </a:r>
            <a:endParaRPr lang="en-US" sz="800" dirty="0"/>
          </a:p>
        </p:txBody>
      </p:sp>
      <p:sp>
        <p:nvSpPr>
          <p:cNvPr id="28" name="Text 24"/>
          <p:cNvSpPr/>
          <p:nvPr/>
        </p:nvSpPr>
        <p:spPr>
          <a:xfrm>
            <a:off x="8357278" y="4797028"/>
            <a:ext cx="340477" cy="117872"/>
          </a:xfrm>
          <a:prstGeom prst="rect">
            <a:avLst/>
          </a:prstGeom>
          <a:noFill/>
          <a:ln/>
        </p:spPr>
        <p:txBody>
          <a:bodyPr wrap="none" lIns="0" tIns="0" rIns="0" bIns="0" rtlCol="0" anchor="t"/>
          <a:lstStyle/>
          <a:p>
            <a:pPr algn="l" indent="0" marL="0">
              <a:lnSpc>
                <a:spcPts val="928"/>
              </a:lnSpc>
              <a:buNone/>
            </a:pPr>
            <a:r>
              <a:rPr lang="en-US" sz="600" spc="113" kern="0" dirty="0">
                <a:solidFill>
                  <a:srgbClr val="5A6270"/>
                </a:solidFill>
                <a:latin typeface="Liberation Sans Narrow" pitchFamily="34" charset="0"/>
                <a:ea typeface="Liberation Sans Narrow" pitchFamily="34" charset="-122"/>
                <a:cs typeface="Liberation Sans Narrow" pitchFamily="34" charset="-120"/>
              </a:rPr>
              <a:t>20 / 40</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STABILITET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10 · 21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Variabel 10: Skuldsättningsgrad (D/E)</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HUR MYCKET LÅN HAR BOLAGET?</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414713"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Skuldsättningsgrad = Räntebärande skulder / Eget kapital</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hur mycket skuld per krona ägarkapital?)</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är värd 1 miljon. Du har 300 000 eget kapital och 700 000 lån. Skuldsättningsgrad = 700/300 = 2,3x. Banken vill oftast max 0,8 (80 % belåning).</a:t>
            </a:r>
            <a:endParaRPr lang="en-US" sz="816" dirty="0"/>
          </a:p>
        </p:txBody>
      </p:sp>
      <p:sp>
        <p:nvSpPr>
          <p:cNvPr id="19" name="Text 17"/>
          <p:cNvSpPr/>
          <p:nvPr/>
        </p:nvSpPr>
        <p:spPr>
          <a:xfrm>
            <a:off x="507206" y="225485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Hög skuldsättning = högre risk (räntekostnader, amorteringskrav). Låg = stabil. För SaaS: ofta låg eftersom banker inte lånar till bolag med negativ EBITDA.</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1010506"/>
                <a:gridCol w="964406"/>
                <a:gridCol w="214703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D/E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&lt; 0,3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låg skuld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0,3–0,8</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Låg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0,8–1,5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1,5–3,0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Hög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&gt; 3,0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Mycket hög (kritisk)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558217"/>
          </a:xfrm>
          <a:prstGeom prst="roundRect">
            <a:avLst>
              <a:gd name="adj" fmla="val 10238"/>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558217"/>
          </a:xfrm>
          <a:prstGeom prst="line">
            <a:avLst/>
          </a:prstGeom>
          <a:noFill/>
          <a:ln w="7144">
            <a:solidFill>
              <a:srgbClr val="E2E5EA"/>
            </a:solidFill>
            <a:prstDash val="solid"/>
          </a:ln>
        </p:spPr>
      </p:sp>
      <p:sp>
        <p:nvSpPr>
          <p:cNvPr id="26" name="Shape 23"/>
          <p:cNvSpPr/>
          <p:nvPr/>
        </p:nvSpPr>
        <p:spPr>
          <a:xfrm>
            <a:off x="400050" y="4040795"/>
            <a:ext cx="8343900" cy="0"/>
          </a:xfrm>
          <a:prstGeom prst="line">
            <a:avLst/>
          </a:prstGeom>
          <a:noFill/>
          <a:ln w="7144">
            <a:solidFill>
              <a:srgbClr val="E2E5EA"/>
            </a:solidFill>
            <a:prstDash val="solid"/>
          </a:ln>
        </p:spPr>
      </p:sp>
      <p:sp>
        <p:nvSpPr>
          <p:cNvPr id="27" name="Shape 24"/>
          <p:cNvSpPr/>
          <p:nvPr/>
        </p:nvSpPr>
        <p:spPr>
          <a:xfrm>
            <a:off x="410766" y="3486150"/>
            <a:ext cx="0" cy="558217"/>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2348173" y="3708611"/>
            <a:ext cx="620948" cy="132159"/>
          </a:xfrm>
          <a:prstGeom prst="roundRect">
            <a:avLst>
              <a:gd name="adj" fmla="val 21622"/>
            </a:avLst>
          </a:prstGeom>
          <a:solidFill>
            <a:srgbClr val="059669">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278606"/>
          </a:xfrm>
          <a:prstGeom prst="rect">
            <a:avLst/>
          </a:prstGeom>
          <a:noFill/>
          <a:ln/>
        </p:spPr>
        <p:txBody>
          <a:bodyPr wrap="square" lIns="0" tIns="0" rIns="0" bIns="0" rtlCol="0" anchor="t"/>
          <a:lstStyle/>
          <a:p>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Safestate: Skuldsättningsgrad </a:t>
            </a:r>
            <a:pPr algn="l" indent="0" marL="0">
              <a:lnSpc>
                <a:spcPts val="1097"/>
              </a:lnSpc>
              <a:buNone/>
            </a:pPr>
            <a:r>
              <a:rPr lang="en-US" sz="800" b="1" dirty="0">
                <a:solidFill>
                  <a:srgbClr val="059669"/>
                </a:solidFill>
                <a:latin typeface="Liberation Sans Narrow" pitchFamily="34" charset="0"/>
                <a:ea typeface="Liberation Sans Narrow" pitchFamily="34" charset="-122"/>
                <a:cs typeface="Liberation Sans Narrow" pitchFamily="34" charset="-120"/>
              </a:rPr>
              <a:t>0,5x</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Poäng: </a:t>
            </a:r>
            <a:pPr algn="l" indent="0" marL="0">
              <a:lnSpc>
                <a:spcPts val="1097"/>
              </a:lnSpc>
              <a:buNone/>
            </a:pPr>
            <a:r>
              <a:rPr lang="en-US" sz="800" b="1" dirty="0">
                <a:solidFill>
                  <a:srgbClr val="059669"/>
                </a:solidFill>
                <a:highlight>
                  <a:srgbClr val="059669"/>
                </a:highlight>
                <a:latin typeface="Liberation Sans Narrow" pitchFamily="34" charset="0"/>
                <a:ea typeface="Liberation Sans Narrow" pitchFamily="34" charset="-122"/>
                <a:cs typeface="Liberation Sans Narrow" pitchFamily="34" charset="-120"/>
              </a:rPr>
              <a:t>4 — låg skuld</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Trenden förbättras mot 0,14x (2028E). Safestate har liten banklåneexponering — skulderna är främst leverantörsskulder och upplupna kostnader.</a:t>
            </a:r>
            <a:endParaRPr lang="en-US" sz="800" dirty="0"/>
          </a:p>
        </p:txBody>
      </p:sp>
      <p:sp>
        <p:nvSpPr>
          <p:cNvPr id="31" name="Text 28"/>
          <p:cNvSpPr/>
          <p:nvPr/>
        </p:nvSpPr>
        <p:spPr>
          <a:xfrm>
            <a:off x="400050" y="4115805"/>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4115805"/>
            <a:ext cx="0" cy="608447"/>
          </a:xfrm>
          <a:prstGeom prst="line">
            <a:avLst/>
          </a:prstGeom>
          <a:noFill/>
          <a:ln w="21431">
            <a:solidFill>
              <a:srgbClr val="B8942E"/>
            </a:solidFill>
            <a:prstDash val="solid"/>
          </a:ln>
        </p:spPr>
      </p:sp>
      <p:sp>
        <p:nvSpPr>
          <p:cNvPr id="33" name="Text 30"/>
          <p:cNvSpPr/>
          <p:nvPr/>
        </p:nvSpPr>
        <p:spPr>
          <a:xfrm>
            <a:off x="507206" y="4172955"/>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335810"/>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Låg skuldsättningsgrad betyder INTE automatiskt låg emission-risk. Safestate har D/E 0,5x (bra) men emission-risk pga negativt FCF. Varför? Bolag behöver inte emission för att betala ränta — utan för att betala löner och R&amp;D. D/E mäter bara skuld-risk, inte kassa-bränning.</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4 — Stabilitet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21 / 40</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STABILITET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11 · 22 / 40</a:t>
            </a:r>
            <a:endParaRPr lang="en-US" sz="619" dirty="0"/>
          </a:p>
        </p:txBody>
      </p:sp>
      <p:sp>
        <p:nvSpPr>
          <p:cNvPr id="5" name="Text 3"/>
          <p:cNvSpPr/>
          <p:nvPr/>
        </p:nvSpPr>
        <p:spPr>
          <a:xfrm>
            <a:off x="400050" y="479636"/>
            <a:ext cx="8636000" cy="233315"/>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11: Likviditet</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KAN BOLAGET BETALA KORTFRISTIGA SKULDER?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4558940"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Likviditet (Current Ratio) = Kortfristiga tillgångar / Kortfristiga skulder</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kan bolag betala skulder som förfaller inom 12 månader?)</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490936"/>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har 50 000 i kassa + 30 000 i kundfordringar + 20 000 i varulager = 100 000 kortfristiga tillgångar. Kortfristiga skulder (leverantörer, skatt) = 60 000. Likviditet = 100/60 = 1,67.</a:t>
            </a:r>
            <a:endParaRPr lang="en-US" sz="816" dirty="0"/>
          </a:p>
        </p:txBody>
      </p:sp>
      <p:sp>
        <p:nvSpPr>
          <p:cNvPr id="19" name="Text 17"/>
          <p:cNvSpPr/>
          <p:nvPr/>
        </p:nvSpPr>
        <p:spPr>
          <a:xfrm>
            <a:off x="507206" y="2420503"/>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Över 1 = bra — kan betala skulderna. Under 1 = problem — måste låna eller sälja tillgångar.</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894308"/>
                <a:gridCol w="1211759"/>
                <a:gridCol w="2015877"/>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Likviditet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&gt; 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säker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Säker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1–1,5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Gråzon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&lt; 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Kritisk (kan ej betala)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418914"/>
          </a:xfrm>
          <a:prstGeom prst="line">
            <a:avLst/>
          </a:prstGeom>
          <a:noFill/>
          <a:ln w="7144">
            <a:solidFill>
              <a:srgbClr val="E2E5EA"/>
            </a:solidFill>
            <a:prstDash val="solid"/>
          </a:ln>
        </p:spPr>
      </p:sp>
      <p:sp>
        <p:nvSpPr>
          <p:cNvPr id="26" name="Shape 23"/>
          <p:cNvSpPr/>
          <p:nvPr/>
        </p:nvSpPr>
        <p:spPr>
          <a:xfrm>
            <a:off x="400050" y="3901492"/>
            <a:ext cx="8343900" cy="0"/>
          </a:xfrm>
          <a:prstGeom prst="line">
            <a:avLst/>
          </a:prstGeom>
          <a:noFill/>
          <a:ln w="7144">
            <a:solidFill>
              <a:srgbClr val="E2E5EA"/>
            </a:solidFill>
            <a:prstDash val="solid"/>
          </a:ln>
        </p:spPr>
      </p:sp>
      <p:sp>
        <p:nvSpPr>
          <p:cNvPr id="27" name="Shape 24"/>
          <p:cNvSpPr/>
          <p:nvPr/>
        </p:nvSpPr>
        <p:spPr>
          <a:xfrm>
            <a:off x="410766" y="3486150"/>
            <a:ext cx="0" cy="418914"/>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1919548" y="3708611"/>
            <a:ext cx="402617" cy="132159"/>
          </a:xfrm>
          <a:prstGeom prst="roundRect">
            <a:avLst>
              <a:gd name="adj" fmla="val 21622"/>
            </a:avLst>
          </a:prstGeom>
          <a:solidFill>
            <a:srgbClr val="B8942E">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Likviditet </a:t>
            </a:r>
            <a:pPr algn="l" indent="0" marL="0">
              <a:lnSpc>
                <a:spcPts val="1097"/>
              </a:lnSpc>
              <a:buNone/>
            </a:pPr>
            <a:r>
              <a:rPr lang="en-US" sz="731" b="1" dirty="0">
                <a:solidFill>
                  <a:srgbClr val="B8942E"/>
                </a:solidFill>
                <a:latin typeface="Liberation Sans Narrow" pitchFamily="34" charset="0"/>
                <a:ea typeface="Liberation Sans Narrow" pitchFamily="34" charset="-122"/>
                <a:cs typeface="Liberation Sans Narrow" pitchFamily="34" charset="-120"/>
              </a:rPr>
              <a:t>1,8x</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Poäng: </a:t>
            </a:r>
            <a:pPr algn="l" indent="0" marL="0">
              <a:lnSpc>
                <a:spcPts val="1097"/>
              </a:lnSpc>
              <a:buNone/>
            </a:pPr>
            <a:r>
              <a:rPr lang="en-US" sz="731" b="1" dirty="0">
                <a:solidFill>
                  <a:srgbClr val="B8942E"/>
                </a:solidFill>
                <a:highlight>
                  <a:srgbClr val="B8942E"/>
                </a:highlight>
                <a:latin typeface="Liberation Sans Narrow" pitchFamily="34" charset="0"/>
                <a:ea typeface="Liberation Sans Narrow" pitchFamily="34" charset="-122"/>
                <a:cs typeface="Liberation Sans Narrow" pitchFamily="34" charset="-120"/>
              </a:rPr>
              <a:t>3 — bra</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Kassa 22 MSEK + kundfordringar 21 MSEK = 43 MSEK kortfristiga tillgångar. Kortfristiga skulder 24 MSEK. Likviditet 1,8x — kan betala skulderna.</a:t>
            </a:r>
            <a:endParaRPr lang="en-US" sz="731" dirty="0"/>
          </a:p>
        </p:txBody>
      </p:sp>
      <p:sp>
        <p:nvSpPr>
          <p:cNvPr id="31" name="Text 28"/>
          <p:cNvSpPr/>
          <p:nvPr/>
        </p:nvSpPr>
        <p:spPr>
          <a:xfrm>
            <a:off x="400050" y="3976501"/>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3976501"/>
            <a:ext cx="0" cy="608447"/>
          </a:xfrm>
          <a:prstGeom prst="line">
            <a:avLst/>
          </a:prstGeom>
          <a:noFill/>
          <a:ln w="21431">
            <a:solidFill>
              <a:srgbClr val="B8942E"/>
            </a:solidFill>
            <a:prstDash val="solid"/>
          </a:ln>
        </p:spPr>
      </p:sp>
      <p:sp>
        <p:nvSpPr>
          <p:cNvPr id="33" name="Text 30"/>
          <p:cNvSpPr/>
          <p:nvPr/>
        </p:nvSpPr>
        <p:spPr>
          <a:xfrm>
            <a:off x="507206" y="4033651"/>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196507"/>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Likviditet visar kortsiktig överlevnad. Men för variabel 19 (kapital förbränning) behöver du också kolla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kassa-löptid</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kassa / månatlig bränning. Likviditet &gt; 1 är bra men säger inte hur länge kassan räcker om intäkter stoppar.</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4 — Stabilitet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22 / 40</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STABILITET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12 · 23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12: Intäktsdiversifiering</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BEROENDE AV FÅ KUNDER ELLER PRODUKTER?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040893"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Intäktsdiversifiering = kund- och produktspridning</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vad händer om den största kunden lämnar?)</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 A: 1 stor kund (företaget runt hörnet) står för 80 % av omsättningen. Om de byter leverantör = pizzerian går under.</a:t>
            </a:r>
            <a:endParaRPr lang="en-US" sz="816" dirty="0"/>
          </a:p>
        </p:txBody>
      </p:sp>
      <p:sp>
        <p:nvSpPr>
          <p:cNvPr id="19" name="Text 17"/>
          <p:cNvSpPr/>
          <p:nvPr/>
        </p:nvSpPr>
        <p:spPr>
          <a:xfrm>
            <a:off x="507206" y="225485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 B: 1000 stamkunder, ingen över 1 % av omsättningen. Om en lämnar = ingen märkbar skillnad. Pizzeria B har hög intäktsdiversifiering = lägre risk.</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795635"/>
                <a:gridCol w="1533116"/>
                <a:gridCol w="1793193"/>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Diversifiering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Ingen kund &gt; 5 %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bra spridning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Ingen kund &gt; 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 spridning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Ingen kund &gt; 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Acceptabelt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En kund 20–50 %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Koncentrerad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En kund &gt; 50 %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Mycket hög risk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558217"/>
          </a:xfrm>
          <a:prstGeom prst="roundRect">
            <a:avLst>
              <a:gd name="adj" fmla="val 10238"/>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558217"/>
          </a:xfrm>
          <a:prstGeom prst="line">
            <a:avLst/>
          </a:prstGeom>
          <a:noFill/>
          <a:ln w="7144">
            <a:solidFill>
              <a:srgbClr val="E2E5EA"/>
            </a:solidFill>
            <a:prstDash val="solid"/>
          </a:ln>
        </p:spPr>
      </p:sp>
      <p:sp>
        <p:nvSpPr>
          <p:cNvPr id="26" name="Shape 23"/>
          <p:cNvSpPr/>
          <p:nvPr/>
        </p:nvSpPr>
        <p:spPr>
          <a:xfrm>
            <a:off x="400050" y="4040795"/>
            <a:ext cx="8343900" cy="0"/>
          </a:xfrm>
          <a:prstGeom prst="line">
            <a:avLst/>
          </a:prstGeom>
          <a:noFill/>
          <a:ln w="7144">
            <a:solidFill>
              <a:srgbClr val="E2E5EA"/>
            </a:solidFill>
            <a:prstDash val="solid"/>
          </a:ln>
        </p:spPr>
      </p:sp>
      <p:sp>
        <p:nvSpPr>
          <p:cNvPr id="27" name="Shape 24"/>
          <p:cNvSpPr/>
          <p:nvPr/>
        </p:nvSpPr>
        <p:spPr>
          <a:xfrm>
            <a:off x="410766" y="3486150"/>
            <a:ext cx="0" cy="558217"/>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4030861" y="3708611"/>
            <a:ext cx="1075023" cy="132159"/>
          </a:xfrm>
          <a:prstGeom prst="roundRect">
            <a:avLst>
              <a:gd name="adj" fmla="val 21622"/>
            </a:avLst>
          </a:prstGeom>
          <a:solidFill>
            <a:srgbClr val="059669">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278606"/>
          </a:xfrm>
          <a:prstGeom prst="rect">
            <a:avLst/>
          </a:prstGeom>
          <a:noFill/>
          <a:ln/>
        </p:spPr>
        <p:txBody>
          <a:bodyPr wrap="square" lIns="0" tIns="0" rIns="0" bIns="0" rtlCol="0" anchor="t"/>
          <a:lstStyle/>
          <a:p>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Safestate: </a:t>
            </a:r>
            <a:pPr algn="l" indent="0" marL="0">
              <a:lnSpc>
                <a:spcPts val="1097"/>
              </a:lnSpc>
              <a:buNone/>
            </a:pPr>
            <a:r>
              <a:rPr lang="en-US" sz="800" b="1" dirty="0">
                <a:solidFill>
                  <a:srgbClr val="059669"/>
                </a:solidFill>
                <a:latin typeface="Liberation Sans Narrow" pitchFamily="34" charset="0"/>
                <a:ea typeface="Liberation Sans Narrow" pitchFamily="34" charset="-122"/>
                <a:cs typeface="Liberation Sans Narrow" pitchFamily="34" charset="-120"/>
              </a:rPr>
              <a:t>12 000+ SME-kunder</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Ingen enskild kund &gt; 0,1 % av omsättning. Poäng: </a:t>
            </a:r>
            <a:pPr algn="l" indent="0" marL="0">
              <a:lnSpc>
                <a:spcPts val="1097"/>
              </a:lnSpc>
              <a:buNone/>
            </a:pPr>
            <a:r>
              <a:rPr lang="en-US" sz="800" b="1" dirty="0">
                <a:solidFill>
                  <a:srgbClr val="059669"/>
                </a:solidFill>
                <a:highlight>
                  <a:srgbClr val="059669"/>
                </a:highlight>
                <a:latin typeface="Liberation Sans Narrow" pitchFamily="34" charset="0"/>
                <a:ea typeface="Liberation Sans Narrow" pitchFamily="34" charset="-122"/>
                <a:cs typeface="Liberation Sans Narrow" pitchFamily="34" charset="-120"/>
              </a:rPr>
              <a:t>5 — mycket bra spridning</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Låg koncentrationsrisk. Modul-strategi: 5 produkter, ingen modul &gt; 30 % av omsättning.</a:t>
            </a:r>
            <a:endParaRPr lang="en-US" sz="800" dirty="0"/>
          </a:p>
        </p:txBody>
      </p:sp>
      <p:sp>
        <p:nvSpPr>
          <p:cNvPr id="31" name="Text 28"/>
          <p:cNvSpPr/>
          <p:nvPr/>
        </p:nvSpPr>
        <p:spPr>
          <a:xfrm>
            <a:off x="400050" y="4115805"/>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4115805"/>
            <a:ext cx="0" cy="608447"/>
          </a:xfrm>
          <a:prstGeom prst="line">
            <a:avLst/>
          </a:prstGeom>
          <a:noFill/>
          <a:ln w="21431">
            <a:solidFill>
              <a:srgbClr val="B8942E"/>
            </a:solidFill>
            <a:prstDash val="solid"/>
          </a:ln>
        </p:spPr>
      </p:sp>
      <p:sp>
        <p:nvSpPr>
          <p:cNvPr id="33" name="Text 30"/>
          <p:cNvSpPr/>
          <p:nvPr/>
        </p:nvSpPr>
        <p:spPr>
          <a:xfrm>
            <a:off x="507206" y="4172955"/>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335810"/>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Intäktsdiversifiering påverkar variabel 19 indirekt. Om bolag har 1 stor kund som lämnar → kassaflödet kraschar → emission-risk ökar dramatiskt. Många små kunder = stabilare kassaflöde = lägre emission-risk.</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4 — Stabilitet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23 / 40</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038938"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STABILITET</a:t>
            </a:r>
            <a:endParaRPr lang="en-US" sz="800" dirty="0"/>
          </a:p>
        </p:txBody>
      </p:sp>
      <p:sp>
        <p:nvSpPr>
          <p:cNvPr id="4" name="Text 2"/>
          <p:cNvSpPr/>
          <p:nvPr/>
        </p:nvSpPr>
        <p:spPr>
          <a:xfrm>
            <a:off x="7453275" y="228600"/>
            <a:ext cx="1290675"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24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Stabilitet — sammanfattning</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3 VARIABLER SOM SVARAR PÅ: ÖVERLEVER BOLAGET KRISER?</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00050" y="976796"/>
          <a:ext cx="8343900" cy="914400"/>
        </p:xfrm>
        <a:graphic>
          <a:graphicData uri="http://schemas.openxmlformats.org/drawingml/2006/table">
            <a:tbl>
              <a:tblPr/>
              <a:tblGrid>
                <a:gridCol w="428625"/>
                <a:gridCol w="3001156"/>
                <a:gridCol w="1143000"/>
                <a:gridCol w="571500"/>
                <a:gridCol w="3199619"/>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10</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Skuldsättningsgrad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0,5x</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Låg skuld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11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Likviditet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1,8x</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Kan betala skulder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12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Intäktsdiversifiering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12 000+ SME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bra spridning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03622" y="2097584"/>
            <a:ext cx="4114800" cy="992200"/>
          </a:xfrm>
          <a:prstGeom prst="roundRect">
            <a:avLst>
              <a:gd name="adj" fmla="val 5760"/>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492919" y="2165449"/>
            <a:ext cx="3936206" cy="130735"/>
          </a:xfrm>
          <a:prstGeom prst="rect">
            <a:avLst/>
          </a:prstGeom>
          <a:noFill/>
          <a:ln/>
        </p:spPr>
        <p:txBody>
          <a:bodyPr wrap="none" lIns="0" tIns="0" rIns="0" bIns="0" rtlCol="0" anchor="t">
            <a:normAutofit/>
          </a:bodyPr>
          <a:lstStyle/>
          <a:p>
            <a:pPr algn="l" indent="0" marL="0">
              <a:lnSpc>
                <a:spcPts val="1021"/>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492919" y="2323616"/>
            <a:ext cx="3936206" cy="254746"/>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Stabilitet är Safestates </a:t>
            </a:r>
            <a:pPr algn="l" indent="0" marL="0">
              <a:lnSpc>
                <a:spcPts val="1055"/>
              </a:lnSpc>
              <a:buNone/>
            </a:pPr>
            <a:r>
              <a:rPr lang="en-US" sz="800" b="1" dirty="0">
                <a:solidFill>
                  <a:srgbClr val="3D4556"/>
                </a:solidFill>
                <a:latin typeface="Carlito" pitchFamily="34" charset="0"/>
                <a:ea typeface="Carlito" pitchFamily="34" charset="-122"/>
                <a:cs typeface="Carlito" pitchFamily="34" charset="-120"/>
              </a:rPr>
              <a:t>STYRKA</a:t>
            </a:r>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 Snitt: </a:t>
            </a:r>
            <a:pPr algn="l" indent="0" marL="0">
              <a:lnSpc>
                <a:spcPts val="1055"/>
              </a:lnSpc>
              <a:buNone/>
            </a:pPr>
            <a:r>
              <a:rPr lang="en-US" sz="800" b="1" dirty="0">
                <a:solidFill>
                  <a:srgbClr val="059669"/>
                </a:solidFill>
                <a:latin typeface="Liberation Sans Narrow" pitchFamily="34" charset="0"/>
                <a:ea typeface="Liberation Sans Narrow" pitchFamily="34" charset="-122"/>
                <a:cs typeface="Liberation Sans Narrow" pitchFamily="34" charset="-120"/>
              </a:rPr>
              <a:t>4 (bra)</a:t>
            </a:r>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 Låg skuld (D/E 0,5x), bra likviditet (1,8x), mycket bra kundspridning.</a:t>
            </a:r>
            <a:endParaRPr lang="en-US" sz="800" dirty="0"/>
          </a:p>
        </p:txBody>
      </p:sp>
      <p:sp>
        <p:nvSpPr>
          <p:cNvPr id="11" name="Text 8"/>
          <p:cNvSpPr/>
          <p:nvPr/>
        </p:nvSpPr>
        <p:spPr>
          <a:xfrm>
            <a:off x="492919" y="2605794"/>
            <a:ext cx="3936206" cy="416123"/>
          </a:xfrm>
          <a:prstGeom prst="rect">
            <a:avLst/>
          </a:prstGeom>
          <a:noFill/>
          <a:ln/>
        </p:spPr>
        <p:txBody>
          <a:bodyPr wrap="square" lIns="0" tIns="0" rIns="0" bIns="0" rtlCol="0" anchor="t"/>
          <a:lstStyle/>
          <a:p>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MEN: låg skuldsättning betyder INTE låg emission-risk. Safestate har låg skuld men HÖG emission-risk pga negativt FCF. Stabilitet mäter strukturell risk. Variabel 19 mäter dynamisk risk (kassa-bränning).</a:t>
            </a:r>
            <a:endParaRPr lang="en-US" sz="800" dirty="0"/>
          </a:p>
        </p:txBody>
      </p:sp>
      <p:sp>
        <p:nvSpPr>
          <p:cNvPr id="12" name="Text 9"/>
          <p:cNvSpPr/>
          <p:nvPr/>
        </p:nvSpPr>
        <p:spPr>
          <a:xfrm>
            <a:off x="4622006" y="2094012"/>
            <a:ext cx="4121944" cy="999344"/>
          </a:xfrm>
          <a:prstGeom prst="rect">
            <a:avLst/>
          </a:prstGeom>
          <a:solidFill>
            <a:srgbClr val="DC2626">
              <a:alpha val="8000"/>
            </a:srgbClr>
          </a:solidFill>
          <a:ln/>
        </p:spPr>
        <p:txBody>
          <a:bodyPr wrap="square" rtlCol="0" anchor="ctr"/>
          <a:lstStyle/>
          <a:p>
            <a:pPr indent="0" marL="0">
              <a:buNone/>
            </a:pPr>
            <a:endParaRPr lang="en-US" dirty="0"/>
          </a:p>
        </p:txBody>
      </p:sp>
      <p:sp>
        <p:nvSpPr>
          <p:cNvPr id="13" name="Shape 10"/>
          <p:cNvSpPr/>
          <p:nvPr/>
        </p:nvSpPr>
        <p:spPr>
          <a:xfrm>
            <a:off x="4632722" y="2094012"/>
            <a:ext cx="0" cy="999344"/>
          </a:xfrm>
          <a:prstGeom prst="line">
            <a:avLst/>
          </a:prstGeom>
          <a:noFill/>
          <a:ln w="21431">
            <a:solidFill>
              <a:srgbClr val="DC2626"/>
            </a:solidFill>
            <a:prstDash val="solid"/>
          </a:ln>
        </p:spPr>
      </p:sp>
      <p:sp>
        <p:nvSpPr>
          <p:cNvPr id="14" name="Text 11"/>
          <p:cNvSpPr/>
          <p:nvPr/>
        </p:nvSpPr>
        <p:spPr>
          <a:xfrm>
            <a:off x="4729163" y="2158305"/>
            <a:ext cx="4038790" cy="123591"/>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STABILITET + VARIABEL 19 = KOMPLETT RISK</a:t>
            </a:r>
            <a:endParaRPr lang="en-US" sz="800" dirty="0"/>
          </a:p>
        </p:txBody>
      </p:sp>
      <p:sp>
        <p:nvSpPr>
          <p:cNvPr id="15" name="Text 12"/>
          <p:cNvSpPr/>
          <p:nvPr/>
        </p:nvSpPr>
        <p:spPr>
          <a:xfrm>
            <a:off x="4729163" y="2309329"/>
            <a:ext cx="3929063" cy="123480"/>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För att bedömma total emission-risk behöver du BÅDA:</a:t>
            </a:r>
            <a:endParaRPr lang="en-US" sz="800" dirty="0"/>
          </a:p>
        </p:txBody>
      </p:sp>
      <p:sp>
        <p:nvSpPr>
          <p:cNvPr id="16" name="Text 13"/>
          <p:cNvSpPr/>
          <p:nvPr/>
        </p:nvSpPr>
        <p:spPr>
          <a:xfrm>
            <a:off x="4729163" y="2460241"/>
            <a:ext cx="3929063" cy="279749"/>
          </a:xfrm>
          <a:prstGeom prst="rect">
            <a:avLst/>
          </a:prstGeom>
          <a:noFill/>
          <a:ln/>
        </p:spPr>
        <p:txBody>
          <a:bodyPr wrap="square" lIns="64294" tIns="0" rIns="0" bIns="0" rtlCol="0" anchor="t"/>
          <a:lstStyle/>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Stabilitet (variabel 10–12) = strukturell 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Variabel 19 = dynamisk risk (kassa-löptid)</a:t>
            </a:r>
            <a:endParaRPr lang="en-US" sz="800" dirty="0"/>
          </a:p>
        </p:txBody>
      </p:sp>
      <p:sp>
        <p:nvSpPr>
          <p:cNvPr id="17" name="Text 14"/>
          <p:cNvSpPr/>
          <p:nvPr/>
        </p:nvSpPr>
        <p:spPr>
          <a:xfrm>
            <a:off x="4729163" y="2738847"/>
            <a:ext cx="3929063" cy="159106"/>
          </a:xfrm>
          <a:prstGeom prst="rect">
            <a:avLst/>
          </a:prstGeom>
          <a:noFill/>
          <a:ln/>
        </p:spPr>
        <p:txBody>
          <a:bodyPr wrap="square" lIns="0" tIns="0" rIns="0" bIns="0" rtlCol="0" anchor="t"/>
          <a:lstStyle/>
          <a:p>
            <a:pPr algn="l" indent="0" marL="0">
              <a:lnSpc>
                <a:spcPts val="1020"/>
              </a:lnSpc>
              <a:buNone/>
            </a:pPr>
            <a:r>
              <a:rPr lang="en-US" sz="703" dirty="0">
                <a:solidFill>
                  <a:srgbClr val="1A1F2E"/>
                </a:solidFill>
                <a:latin typeface="Carlito" pitchFamily="34" charset="0"/>
                <a:ea typeface="Carlito" pitchFamily="34" charset="-122"/>
                <a:cs typeface="Carlito" pitchFamily="34" charset="-120"/>
              </a:rPr>
              <a:t>Safestate: Stabilitet bra (4/5) + Variabel 19 svag (2/5) = sammanlagd risk </a:t>
            </a:r>
            <a:pPr algn="l" indent="0" marL="0">
              <a:lnSpc>
                <a:spcPts val="1020"/>
              </a:lnSpc>
              <a:buNone/>
            </a:pPr>
            <a:r>
              <a:rPr lang="en-US" sz="703" b="1" dirty="0">
                <a:solidFill>
                  <a:srgbClr val="1A1F2E"/>
                </a:solidFill>
                <a:latin typeface="Carlito" pitchFamily="34" charset="0"/>
                <a:ea typeface="Carlito" pitchFamily="34" charset="-122"/>
                <a:cs typeface="Carlito" pitchFamily="34" charset="-120"/>
              </a:rPr>
              <a:t>MEDEL-HÖG</a:t>
            </a:r>
            <a:pPr algn="l" indent="0" marL="0">
              <a:lnSpc>
                <a:spcPts val="1020"/>
              </a:lnSpc>
              <a:buNone/>
            </a:pPr>
            <a:r>
              <a:rPr lang="en-US" sz="703" dirty="0">
                <a:solidFill>
                  <a:srgbClr val="1A1F2E"/>
                </a:solidFill>
                <a:latin typeface="Carlito" pitchFamily="34" charset="0"/>
                <a:ea typeface="Carlito" pitchFamily="34" charset="-122"/>
                <a:cs typeface="Carlito" pitchFamily="34" charset="-120"/>
              </a:rPr>
              <a:t>.</a:t>
            </a:r>
            <a:endParaRPr lang="en-US" sz="703" dirty="0"/>
          </a:p>
        </p:txBody>
      </p:sp>
      <p:sp>
        <p:nvSpPr>
          <p:cNvPr id="18" name="Text 15"/>
          <p:cNvSpPr/>
          <p:nvPr/>
        </p:nvSpPr>
        <p:spPr>
          <a:xfrm>
            <a:off x="400050" y="3164793"/>
            <a:ext cx="8343900" cy="442801"/>
          </a:xfrm>
          <a:prstGeom prst="rect">
            <a:avLst/>
          </a:prstGeom>
          <a:solidFill>
            <a:srgbClr val="B8942E">
              <a:alpha val="6000"/>
            </a:srgbClr>
          </a:solidFill>
          <a:ln/>
        </p:spPr>
        <p:txBody>
          <a:bodyPr wrap="square" rtlCol="0" anchor="ctr"/>
          <a:lstStyle/>
          <a:p>
            <a:pPr indent="0" marL="0">
              <a:buNone/>
            </a:pPr>
            <a:endParaRPr lang="en-US" dirty="0"/>
          </a:p>
        </p:txBody>
      </p:sp>
      <p:sp>
        <p:nvSpPr>
          <p:cNvPr id="19" name="Shape 16"/>
          <p:cNvSpPr/>
          <p:nvPr/>
        </p:nvSpPr>
        <p:spPr>
          <a:xfrm>
            <a:off x="410766" y="3164793"/>
            <a:ext cx="0" cy="442801"/>
          </a:xfrm>
          <a:prstGeom prst="line">
            <a:avLst/>
          </a:prstGeom>
          <a:noFill/>
          <a:ln w="21431">
            <a:solidFill>
              <a:srgbClr val="B8942E"/>
            </a:solidFill>
            <a:prstDash val="solid"/>
          </a:ln>
        </p:spPr>
      </p:sp>
      <p:sp>
        <p:nvSpPr>
          <p:cNvPr id="20" name="Text 17"/>
          <p:cNvSpPr/>
          <p:nvPr/>
        </p:nvSpPr>
        <p:spPr>
          <a:xfrm>
            <a:off x="507206" y="3221943"/>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1" name="Text 18"/>
          <p:cNvSpPr/>
          <p:nvPr/>
        </p:nvSpPr>
        <p:spPr>
          <a:xfrm>
            <a:off x="507206" y="3384798"/>
            <a:ext cx="8151019" cy="165646"/>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Moat — har bolaget konkurrensfördelar?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Moat bestämmer hur länge bolag kan behålla kunder och priser — vilket påverkar långsiktig överlevnad.</a:t>
            </a:r>
            <a:endParaRPr lang="en-US" sz="816" dirty="0"/>
          </a:p>
        </p:txBody>
      </p:sp>
      <p:sp>
        <p:nvSpPr>
          <p:cNvPr id="22" name="Shape 19"/>
          <p:cNvSpPr/>
          <p:nvPr/>
        </p:nvSpPr>
        <p:spPr>
          <a:xfrm>
            <a:off x="400050" y="4914900"/>
            <a:ext cx="8343900" cy="0"/>
          </a:xfrm>
          <a:prstGeom prst="line">
            <a:avLst/>
          </a:prstGeom>
          <a:noFill/>
          <a:ln w="7144">
            <a:solidFill>
              <a:srgbClr val="E2E5EA"/>
            </a:solidFill>
            <a:prstDash val="solid"/>
          </a:ln>
        </p:spPr>
      </p:sp>
      <p:sp>
        <p:nvSpPr>
          <p:cNvPr id="23" name="Text 20"/>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4 — Stabilitet</a:t>
            </a:r>
            <a:endParaRPr lang="en-US" sz="800" dirty="0"/>
          </a:p>
        </p:txBody>
      </p:sp>
      <p:sp>
        <p:nvSpPr>
          <p:cNvPr id="24" name="Text 21"/>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24 / 40</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571500"/>
            <a:ext cx="5968117" cy="3209544"/>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05</a:t>
            </a:r>
            <a:endParaRPr lang="en-US" sz="29250" dirty="0"/>
          </a:p>
        </p:txBody>
      </p:sp>
      <p:sp>
        <p:nvSpPr>
          <p:cNvPr id="5" name="Text 1"/>
          <p:cNvSpPr/>
          <p:nvPr/>
        </p:nvSpPr>
        <p:spPr>
          <a:xfrm>
            <a:off x="2408415" y="3457575"/>
            <a:ext cx="6735585" cy="1685925"/>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05</a:t>
            </a:r>
            <a:endParaRPr lang="en-US" sz="29250" dirty="0"/>
          </a:p>
        </p:txBody>
      </p:sp>
      <p:sp>
        <p:nvSpPr>
          <p:cNvPr id="6" name="Text 2"/>
          <p:cNvSpPr/>
          <p:nvPr/>
        </p:nvSpPr>
        <p:spPr>
          <a:xfrm>
            <a:off x="457200"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7" name="Text 3"/>
          <p:cNvSpPr/>
          <p:nvPr/>
        </p:nvSpPr>
        <p:spPr>
          <a:xfrm>
            <a:off x="7353374" y="342900"/>
            <a:ext cx="1748038" cy="181051"/>
          </a:xfrm>
          <a:prstGeom prst="rect">
            <a:avLst/>
          </a:prstGeom>
          <a:noFill/>
          <a:ln/>
        </p:spPr>
        <p:txBody>
          <a:bodyPr wrap="none" lIns="0" tIns="0" rIns="0" bIns="0" rtlCol="0" anchor="t"/>
          <a:lstStyle/>
          <a:p>
            <a:pPr algn="l" indent="0" marL="0">
              <a:lnSpc>
                <a:spcPts val="928"/>
              </a:lnSpc>
              <a:buNone/>
            </a:pPr>
            <a:r>
              <a:rPr lang="en-US" sz="800" spc="169" kern="0" dirty="0">
                <a:solidFill>
                  <a:srgbClr val="7A8498"/>
                </a:solidFill>
                <a:latin typeface="Liberation Sans Narrow" pitchFamily="34" charset="0"/>
                <a:ea typeface="Liberation Sans Narrow" pitchFamily="34" charset="-122"/>
                <a:cs typeface="Liberation Sans Narrow" pitchFamily="34" charset="-120"/>
              </a:rPr>
              <a:t>AK1A · KATEGORI 05 / 06</a:t>
            </a:r>
            <a:endParaRPr lang="en-US" sz="800" dirty="0"/>
          </a:p>
        </p:txBody>
      </p:sp>
      <p:sp>
        <p:nvSpPr>
          <p:cNvPr id="8" name="Text 4"/>
          <p:cNvSpPr/>
          <p:nvPr/>
        </p:nvSpPr>
        <p:spPr>
          <a:xfrm>
            <a:off x="914400" y="424049"/>
            <a:ext cx="82296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5 AV 6</a:t>
            </a:r>
            <a:endParaRPr lang="en-US" sz="800" dirty="0"/>
          </a:p>
        </p:txBody>
      </p:sp>
      <p:sp>
        <p:nvSpPr>
          <p:cNvPr id="9" name="Text 5"/>
          <p:cNvSpPr/>
          <p:nvPr/>
        </p:nvSpPr>
        <p:spPr>
          <a:xfrm>
            <a:off x="914400" y="677205"/>
            <a:ext cx="8229600" cy="1287018"/>
          </a:xfrm>
          <a:prstGeom prst="rect">
            <a:avLst/>
          </a:prstGeom>
          <a:noFill/>
          <a:ln/>
        </p:spPr>
        <p:txBody>
          <a:bodyPr wrap="none" lIns="0" tIns="0" rIns="0" bIns="0" rtlCol="0" anchor="t">
            <a:normAutofit/>
          </a:bodyPr>
          <a:lstStyle/>
          <a:p>
            <a:pPr algn="l" indent="0" marL="0">
              <a:lnSpc>
                <a:spcPts val="9563"/>
              </a:lnSpc>
              <a:buNone/>
            </a:pPr>
            <a:r>
              <a:rPr lang="en-US" sz="11250" b="1" spc="-337" kern="0" dirty="0">
                <a:solidFill>
                  <a:srgbClr val="D4A832">
                    <a:alpha val="92000"/>
                  </a:srgbClr>
                </a:solidFill>
                <a:latin typeface="Liberation Sans Narrow" pitchFamily="34" charset="0"/>
                <a:ea typeface="Liberation Sans Narrow" pitchFamily="34" charset="-122"/>
                <a:cs typeface="Liberation Sans Narrow" pitchFamily="34" charset="-120"/>
              </a:rPr>
              <a:t>05</a:t>
            </a:r>
            <a:endParaRPr lang="en-US" sz="11250" dirty="0"/>
          </a:p>
        </p:txBody>
      </p:sp>
      <p:sp>
        <p:nvSpPr>
          <p:cNvPr id="10" name="Text 6"/>
          <p:cNvSpPr/>
          <p:nvPr/>
        </p:nvSpPr>
        <p:spPr>
          <a:xfrm>
            <a:off x="914400" y="1991655"/>
            <a:ext cx="6789420" cy="814682"/>
          </a:xfrm>
          <a:prstGeom prst="rect">
            <a:avLst/>
          </a:prstGeom>
          <a:noFill/>
          <a:ln/>
        </p:spPr>
        <p:txBody>
          <a:bodyPr wrap="square" lIns="0" tIns="0" rIns="0" bIns="0" rtlCol="0" anchor="t"/>
          <a:lstStyle/>
          <a:p>
            <a:pPr algn="l" indent="0" marL="0">
              <a:lnSpc>
                <a:spcPts val="2970"/>
              </a:lnSpc>
              <a:buNone/>
            </a:pPr>
            <a:r>
              <a:rPr lang="en-US" sz="2700" b="1" spc="-45" kern="0" dirty="0">
                <a:solidFill>
                  <a:srgbClr val="FFFFFF"/>
                </a:solidFill>
                <a:latin typeface="Carlito" pitchFamily="34" charset="0"/>
                <a:ea typeface="Carlito" pitchFamily="34" charset="-122"/>
                <a:cs typeface="Carlito" pitchFamily="34" charset="-120"/>
              </a:rPr>
              <a:t>Moat — Har bolaget konkurrensfördelar?</a:t>
            </a:r>
            <a:endParaRPr lang="en-US" sz="2700" dirty="0"/>
          </a:p>
        </p:txBody>
      </p:sp>
      <p:sp>
        <p:nvSpPr>
          <p:cNvPr id="11" name="Text 7"/>
          <p:cNvSpPr/>
          <p:nvPr/>
        </p:nvSpPr>
        <p:spPr>
          <a:xfrm>
            <a:off x="914400" y="2874578"/>
            <a:ext cx="5572125" cy="592387"/>
          </a:xfrm>
          <a:prstGeom prst="rect">
            <a:avLst/>
          </a:prstGeom>
          <a:noFill/>
          <a:ln/>
        </p:spPr>
        <p:txBody>
          <a:bodyPr wrap="square" lIns="0" tIns="0" rIns="0" bIns="0" rtlCol="0" anchor="t"/>
          <a:lstStyle/>
          <a:p>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3 variabler som mäter varaktiga fördelar.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Patent/IP</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immaterialrättsligt skydd.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Switching costs</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kostnad att byta leverantör.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Nätverkseffekter</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växande värde med fler användare. Stark moat = bolag kan behålla kunder = stabilare kassaflöde = lägre emission-risk.</a:t>
            </a:r>
            <a:endParaRPr lang="en-US" sz="900" dirty="0"/>
          </a:p>
        </p:txBody>
      </p:sp>
      <p:sp>
        <p:nvSpPr>
          <p:cNvPr id="12" name="Text 8"/>
          <p:cNvSpPr/>
          <p:nvPr/>
        </p:nvSpPr>
        <p:spPr>
          <a:xfrm>
            <a:off x="917972" y="3555243"/>
            <a:ext cx="7308056" cy="208173"/>
          </a:xfrm>
          <a:prstGeom prst="roundRect">
            <a:avLst>
              <a:gd name="adj" fmla="val 18302"/>
            </a:avLst>
          </a:prstGeom>
          <a:solidFill>
            <a:srgbClr val="B8942E">
              <a:alpha val="12000"/>
            </a:srgbClr>
          </a:solidFill>
          <a:ln w="7144">
            <a:solidFill>
              <a:srgbClr val="B8942E"/>
            </a:solidFill>
            <a:prstDash val="solid"/>
          </a:ln>
        </p:spPr>
        <p:txBody>
          <a:bodyPr wrap="square" rtlCol="0" anchor="ctr"/>
          <a:lstStyle/>
          <a:p>
            <a:pPr indent="0" marL="0">
              <a:buNone/>
            </a:pPr>
            <a:endParaRPr lang="en-US" dirty="0"/>
          </a:p>
        </p:txBody>
      </p:sp>
      <p:sp>
        <p:nvSpPr>
          <p:cNvPr id="13" name="Text 9"/>
          <p:cNvSpPr/>
          <p:nvPr/>
        </p:nvSpPr>
        <p:spPr>
          <a:xfrm>
            <a:off x="914400" y="3551672"/>
            <a:ext cx="7315200" cy="215317"/>
          </a:xfrm>
          <a:prstGeom prst="rect">
            <a:avLst/>
          </a:prstGeom>
          <a:noFill/>
          <a:ln/>
        </p:spPr>
        <p:txBody>
          <a:bodyPr wrap="none" lIns="0" tIns="0" rIns="0" bIns="0" rtlCol="0" anchor="ctr"/>
          <a:lstStyle/>
          <a:p>
            <a:pPr algn="ctr" indent="0" marL="0">
              <a:lnSpc>
                <a:spcPts val="1021"/>
              </a:lnSpc>
              <a:buNone/>
            </a:pPr>
            <a:r>
              <a:rPr lang="en-US" sz="800" spc="84" kern="0" dirty="0">
                <a:solidFill>
                  <a:srgbClr val="D4A832"/>
                </a:solidFill>
                <a:latin typeface="Liberation Sans Narrow" pitchFamily="34" charset="0"/>
                <a:ea typeface="Liberation Sans Narrow" pitchFamily="34" charset="-122"/>
                <a:cs typeface="Liberation Sans Narrow" pitchFamily="34" charset="-120"/>
              </a:rPr>
              <a:t>VIKT 17 % · 3 VARIABLER</a:t>
            </a:r>
            <a:endParaRPr lang="en-US" sz="800" dirty="0"/>
          </a:p>
        </p:txBody>
      </p:sp>
      <p:sp>
        <p:nvSpPr>
          <p:cNvPr id="14" name="Text 10"/>
          <p:cNvSpPr/>
          <p:nvPr/>
        </p:nvSpPr>
        <p:spPr>
          <a:xfrm>
            <a:off x="917972" y="3956298"/>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5" name="Text 11"/>
          <p:cNvSpPr/>
          <p:nvPr/>
        </p:nvSpPr>
        <p:spPr>
          <a:xfrm>
            <a:off x="1021556" y="4045595"/>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13</a:t>
            </a:r>
            <a:endParaRPr lang="en-US" sz="800" dirty="0"/>
          </a:p>
        </p:txBody>
      </p:sp>
      <p:sp>
        <p:nvSpPr>
          <p:cNvPr id="16" name="Text 12"/>
          <p:cNvSpPr/>
          <p:nvPr/>
        </p:nvSpPr>
        <p:spPr>
          <a:xfrm>
            <a:off x="1021556" y="4213027"/>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Patent/IP</a:t>
            </a:r>
            <a:endParaRPr lang="en-US" sz="800" dirty="0"/>
          </a:p>
        </p:txBody>
      </p:sp>
      <p:sp>
        <p:nvSpPr>
          <p:cNvPr id="17" name="Text 13"/>
          <p:cNvSpPr/>
          <p:nvPr/>
        </p:nvSpPr>
        <p:spPr>
          <a:xfrm>
            <a:off x="1021556" y="4406578"/>
            <a:ext cx="1909725"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Immaterialrättsligt skydd — bolagets hemligheter och patent.</a:t>
            </a:r>
            <a:endParaRPr lang="en-US" sz="800" dirty="0"/>
          </a:p>
        </p:txBody>
      </p:sp>
      <p:sp>
        <p:nvSpPr>
          <p:cNvPr id="18" name="Text 14"/>
          <p:cNvSpPr/>
          <p:nvPr/>
        </p:nvSpPr>
        <p:spPr>
          <a:xfrm>
            <a:off x="3142022" y="3956298"/>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9" name="Text 15"/>
          <p:cNvSpPr/>
          <p:nvPr/>
        </p:nvSpPr>
        <p:spPr>
          <a:xfrm>
            <a:off x="3245607" y="4045595"/>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14</a:t>
            </a:r>
            <a:endParaRPr lang="en-US" sz="800" dirty="0"/>
          </a:p>
        </p:txBody>
      </p:sp>
      <p:sp>
        <p:nvSpPr>
          <p:cNvPr id="20" name="Text 16"/>
          <p:cNvSpPr/>
          <p:nvPr/>
        </p:nvSpPr>
        <p:spPr>
          <a:xfrm>
            <a:off x="3245607" y="4213027"/>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Switching costs</a:t>
            </a:r>
            <a:endParaRPr lang="en-US" sz="800" dirty="0"/>
          </a:p>
        </p:txBody>
      </p:sp>
      <p:sp>
        <p:nvSpPr>
          <p:cNvPr id="21" name="Text 17"/>
          <p:cNvSpPr/>
          <p:nvPr/>
        </p:nvSpPr>
        <p:spPr>
          <a:xfrm>
            <a:off x="3245607" y="4406578"/>
            <a:ext cx="2019453" cy="153526"/>
          </a:xfrm>
          <a:prstGeom prst="rect">
            <a:avLst/>
          </a:prstGeom>
          <a:noFill/>
          <a:ln/>
        </p:spPr>
        <p:txBody>
          <a:bodyPr wrap="square" lIns="0" tIns="0" rIns="0" bIns="0" rtlCol="0" anchor="t"/>
          <a:lstStyle/>
          <a:p>
            <a:pPr algn="l" indent="0" marL="0">
              <a:lnSpc>
                <a:spcPts val="866"/>
              </a:lnSpc>
              <a:buNone/>
            </a:pPr>
            <a:r>
              <a:rPr lang="en-US" sz="619" dirty="0">
                <a:solidFill>
                  <a:srgbClr val="B8C4D4"/>
                </a:solidFill>
                <a:latin typeface="Carlito" pitchFamily="34" charset="0"/>
                <a:ea typeface="Carlito" pitchFamily="34" charset="-122"/>
                <a:cs typeface="Carlito" pitchFamily="34" charset="-120"/>
              </a:rPr>
              <a:t>Hur dyrt är det för kunden att byta leverantör?</a:t>
            </a:r>
            <a:endParaRPr lang="en-US" sz="619" dirty="0"/>
          </a:p>
        </p:txBody>
      </p:sp>
      <p:sp>
        <p:nvSpPr>
          <p:cNvPr id="22" name="Text 18"/>
          <p:cNvSpPr/>
          <p:nvPr/>
        </p:nvSpPr>
        <p:spPr>
          <a:xfrm>
            <a:off x="5366072" y="3956298"/>
            <a:ext cx="2117006"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23" name="Text 19"/>
          <p:cNvSpPr/>
          <p:nvPr/>
        </p:nvSpPr>
        <p:spPr>
          <a:xfrm>
            <a:off x="5469657" y="4045595"/>
            <a:ext cx="1909837"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15</a:t>
            </a:r>
            <a:endParaRPr lang="en-US" sz="800" dirty="0"/>
          </a:p>
        </p:txBody>
      </p:sp>
      <p:sp>
        <p:nvSpPr>
          <p:cNvPr id="24" name="Text 20"/>
          <p:cNvSpPr/>
          <p:nvPr/>
        </p:nvSpPr>
        <p:spPr>
          <a:xfrm>
            <a:off x="5469657" y="4213027"/>
            <a:ext cx="1909837"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Nätverkseffekter</a:t>
            </a:r>
            <a:endParaRPr lang="en-US" sz="800" dirty="0"/>
          </a:p>
        </p:txBody>
      </p:sp>
      <p:sp>
        <p:nvSpPr>
          <p:cNvPr id="25" name="Text 21"/>
          <p:cNvSpPr/>
          <p:nvPr/>
        </p:nvSpPr>
        <p:spPr>
          <a:xfrm>
            <a:off x="5469657" y="4406578"/>
            <a:ext cx="1909837" cy="153526"/>
          </a:xfrm>
          <a:prstGeom prst="rect">
            <a:avLst/>
          </a:prstGeom>
          <a:noFill/>
          <a:ln/>
        </p:spPr>
        <p:txBody>
          <a:bodyPr wrap="square" lIns="0" tIns="0" rIns="0" bIns="0" rtlCol="0" anchor="t"/>
          <a:lstStyle/>
          <a:p>
            <a:pPr algn="l" indent="0" marL="0">
              <a:lnSpc>
                <a:spcPts val="866"/>
              </a:lnSpc>
              <a:buNone/>
            </a:pPr>
            <a:r>
              <a:rPr lang="en-US" sz="619" dirty="0">
                <a:solidFill>
                  <a:srgbClr val="B8C4D4"/>
                </a:solidFill>
                <a:latin typeface="Carlito" pitchFamily="34" charset="0"/>
                <a:ea typeface="Carlito" pitchFamily="34" charset="-122"/>
                <a:cs typeface="Carlito" pitchFamily="34" charset="-120"/>
              </a:rPr>
              <a:t>Växande värde med fler användare — Metcalfe's Law.</a:t>
            </a:r>
            <a:endParaRPr lang="en-US" sz="619" dirty="0"/>
          </a:p>
        </p:txBody>
      </p:sp>
      <p:sp>
        <p:nvSpPr>
          <p:cNvPr id="26" name="Shape 22"/>
          <p:cNvSpPr/>
          <p:nvPr/>
        </p:nvSpPr>
        <p:spPr>
          <a:xfrm>
            <a:off x="457200" y="4722019"/>
            <a:ext cx="8229600" cy="0"/>
          </a:xfrm>
          <a:prstGeom prst="line">
            <a:avLst/>
          </a:prstGeom>
          <a:noFill/>
          <a:ln w="7144">
            <a:solidFill>
              <a:srgbClr val="FFFFFF"/>
            </a:solidFill>
            <a:prstDash val="solid"/>
          </a:ln>
        </p:spPr>
      </p:sp>
      <p:sp>
        <p:nvSpPr>
          <p:cNvPr id="27" name="Text 23"/>
          <p:cNvSpPr/>
          <p:nvPr/>
        </p:nvSpPr>
        <p:spPr>
          <a:xfrm>
            <a:off x="457200" y="4797028"/>
            <a:ext cx="7896746" cy="117872"/>
          </a:xfrm>
          <a:prstGeom prst="rect">
            <a:avLst/>
          </a:prstGeom>
          <a:noFill/>
          <a:ln/>
        </p:spPr>
        <p:txBody>
          <a:bodyPr wrap="none" lIns="0" tIns="0" rIns="0" bIns="0" rtlCol="0" anchor="t"/>
          <a:lstStyle/>
          <a:p>
            <a:pPr algn="l" indent="0" marL="0">
              <a:lnSpc>
                <a:spcPts val="928"/>
              </a:lnSpc>
              <a:buNone/>
            </a:pPr>
            <a:r>
              <a:rPr lang="en-US" sz="800" spc="113" kern="0" dirty="0">
                <a:solidFill>
                  <a:srgbClr val="D4A832"/>
                </a:solidFill>
                <a:latin typeface="Liberation Sans Narrow" pitchFamily="34" charset="0"/>
                <a:ea typeface="Liberation Sans Narrow" pitchFamily="34" charset="-122"/>
                <a:cs typeface="Liberation Sans Narrow" pitchFamily="34" charset="-120"/>
              </a:rPr>
              <a:t>KATEGORI 05</a:t>
            </a:r>
            <a:pPr algn="l" indent="0" marL="0">
              <a:lnSpc>
                <a:spcPts val="928"/>
              </a:lnSpc>
              <a:buNone/>
            </a:pPr>
            <a:r>
              <a:rPr lang="en-US" sz="800" spc="113" kern="0" dirty="0">
                <a:solidFill>
                  <a:srgbClr val="5A6270"/>
                </a:solidFill>
                <a:latin typeface="Carlito" pitchFamily="34" charset="0"/>
                <a:ea typeface="Carlito" pitchFamily="34" charset="-122"/>
                <a:cs typeface="Carlito" pitchFamily="34" charset="-120"/>
              </a:rPr>
              <a:t> · MOAT</a:t>
            </a:r>
            <a:endParaRPr lang="en-US" sz="800" dirty="0"/>
          </a:p>
        </p:txBody>
      </p:sp>
      <p:sp>
        <p:nvSpPr>
          <p:cNvPr id="28" name="Text 24"/>
          <p:cNvSpPr/>
          <p:nvPr/>
        </p:nvSpPr>
        <p:spPr>
          <a:xfrm>
            <a:off x="8357278" y="4797028"/>
            <a:ext cx="340477" cy="117872"/>
          </a:xfrm>
          <a:prstGeom prst="rect">
            <a:avLst/>
          </a:prstGeom>
          <a:noFill/>
          <a:ln/>
        </p:spPr>
        <p:txBody>
          <a:bodyPr wrap="none" lIns="0" tIns="0" rIns="0" bIns="0" rtlCol="0" anchor="t"/>
          <a:lstStyle/>
          <a:p>
            <a:pPr algn="l" indent="0" marL="0">
              <a:lnSpc>
                <a:spcPts val="928"/>
              </a:lnSpc>
              <a:buNone/>
            </a:pPr>
            <a:r>
              <a:rPr lang="en-US" sz="600" spc="113" kern="0" dirty="0">
                <a:solidFill>
                  <a:srgbClr val="5A6270"/>
                </a:solidFill>
                <a:latin typeface="Liberation Sans Narrow" pitchFamily="34" charset="0"/>
                <a:ea typeface="Liberation Sans Narrow" pitchFamily="34" charset="-122"/>
                <a:cs typeface="Liberation Sans Narrow" pitchFamily="34" charset="-120"/>
              </a:rPr>
              <a:t>25 / 40</a:t>
            </a:r>
            <a:endParaRPr lang="en-US" sz="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MOAT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13 · 26 / 40</a:t>
            </a:r>
            <a:endParaRPr lang="en-US" sz="619" dirty="0"/>
          </a:p>
        </p:txBody>
      </p:sp>
      <p:sp>
        <p:nvSpPr>
          <p:cNvPr id="5" name="Text 3"/>
          <p:cNvSpPr/>
          <p:nvPr/>
        </p:nvSpPr>
        <p:spPr>
          <a:xfrm>
            <a:off x="400050" y="479636"/>
            <a:ext cx="8636000" cy="233315"/>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13: Patent/IP</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IMMATERIALRÄTTSLIGT SKYDD — BOLAGETS HEMLIGHETER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592078"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Patent/IP = antal patent, varumärken, upphovsrätt, licenser</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har bolaget något som konkurrenterna inte får kopiera?)</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Pizzerians hemliga recept på tomatsås = "trade secret". Coca-Cola-liknande. Andra pizzerior kan inte kopiera exakt.</a:t>
            </a:r>
            <a:endParaRPr lang="en-US" sz="816" dirty="0"/>
          </a:p>
        </p:txBody>
      </p:sp>
      <p:sp>
        <p:nvSpPr>
          <p:cNvPr id="19" name="Text 17"/>
          <p:cNvSpPr/>
          <p:nvPr/>
        </p:nvSpPr>
        <p:spPr>
          <a:xfrm>
            <a:off x="507206" y="225485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Patent = lagligt skydd. Andra får INTE använda utan tillstånd i 20 år. Varumärken = namn och logo skyddade. Licenser = exklusiv rätt att sälja.</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799988"/>
                <a:gridCol w="1209749"/>
                <a:gridCol w="2112206"/>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Patent/IP</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Stark portfölj</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Många patent, varumärke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 skydd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Några patent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Begränsat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Få patent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Knappast skydd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Inget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Kan kopieras fritt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418914"/>
          </a:xfrm>
          <a:prstGeom prst="line">
            <a:avLst/>
          </a:prstGeom>
          <a:noFill/>
          <a:ln w="7144">
            <a:solidFill>
              <a:srgbClr val="E2E5EA"/>
            </a:solidFill>
            <a:prstDash val="solid"/>
          </a:ln>
        </p:spPr>
      </p:sp>
      <p:sp>
        <p:nvSpPr>
          <p:cNvPr id="26" name="Shape 23"/>
          <p:cNvSpPr/>
          <p:nvPr/>
        </p:nvSpPr>
        <p:spPr>
          <a:xfrm>
            <a:off x="400050" y="3901492"/>
            <a:ext cx="8343900" cy="0"/>
          </a:xfrm>
          <a:prstGeom prst="line">
            <a:avLst/>
          </a:prstGeom>
          <a:noFill/>
          <a:ln w="7144">
            <a:solidFill>
              <a:srgbClr val="E2E5EA"/>
            </a:solidFill>
            <a:prstDash val="solid"/>
          </a:ln>
        </p:spPr>
      </p:sp>
      <p:sp>
        <p:nvSpPr>
          <p:cNvPr id="27" name="Shape 24"/>
          <p:cNvSpPr/>
          <p:nvPr/>
        </p:nvSpPr>
        <p:spPr>
          <a:xfrm>
            <a:off x="410766" y="3486150"/>
            <a:ext cx="0" cy="418914"/>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3607482" y="3708611"/>
            <a:ext cx="760586" cy="132159"/>
          </a:xfrm>
          <a:prstGeom prst="roundRect">
            <a:avLst>
              <a:gd name="adj" fmla="val 21622"/>
            </a:avLst>
          </a:prstGeom>
          <a:solidFill>
            <a:srgbClr val="059669">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a:t>
            </a:r>
            <a:pPr algn="l" indent="0" marL="0">
              <a:lnSpc>
                <a:spcPts val="1097"/>
              </a:lnSpc>
              <a:buNone/>
            </a:pPr>
            <a:r>
              <a:rPr lang="en-US" sz="731" b="1" dirty="0">
                <a:solidFill>
                  <a:srgbClr val="059669"/>
                </a:solidFill>
                <a:latin typeface="Liberation Sans Narrow" pitchFamily="34" charset="0"/>
                <a:ea typeface="Liberation Sans Narrow" pitchFamily="34" charset="-122"/>
                <a:cs typeface="Liberation Sans Narrow" pitchFamily="34" charset="-120"/>
              </a:rPr>
              <a:t>8 beviljade patent</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Patentvärde </a:t>
            </a:r>
            <a:pPr algn="l" indent="0" marL="0">
              <a:lnSpc>
                <a:spcPts val="1097"/>
              </a:lnSpc>
              <a:buNone/>
            </a:pPr>
            <a:r>
              <a:rPr lang="en-US" sz="731" b="1" dirty="0">
                <a:solidFill>
                  <a:srgbClr val="B8942E"/>
                </a:solidFill>
                <a:latin typeface="Liberation Sans Narrow" pitchFamily="34" charset="0"/>
                <a:ea typeface="Liberation Sans Narrow" pitchFamily="34" charset="-122"/>
                <a:cs typeface="Liberation Sans Narrow" pitchFamily="34" charset="-120"/>
              </a:rPr>
              <a:t>326 MSEK</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enligt PDF. Poäng: </a:t>
            </a:r>
            <a:pPr algn="l" indent="0" marL="0">
              <a:lnSpc>
                <a:spcPts val="1097"/>
              </a:lnSpc>
              <a:buNone/>
            </a:pPr>
            <a:r>
              <a:rPr lang="en-US" sz="731" b="1" dirty="0">
                <a:solidFill>
                  <a:srgbClr val="059669"/>
                </a:solidFill>
                <a:highlight>
                  <a:srgbClr val="059669"/>
                </a:highlight>
                <a:latin typeface="Liberation Sans Narrow" pitchFamily="34" charset="0"/>
                <a:ea typeface="Liberation Sans Narrow" pitchFamily="34" charset="-122"/>
                <a:cs typeface="Liberation Sans Narrow" pitchFamily="34" charset="-120"/>
              </a:rPr>
              <a:t>5 — stark portfölj</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Patenten skyddar Safestates cybersäkerhets-teknik i Norden och EU.</a:t>
            </a:r>
            <a:endParaRPr lang="en-US" sz="731" dirty="0"/>
          </a:p>
        </p:txBody>
      </p:sp>
      <p:sp>
        <p:nvSpPr>
          <p:cNvPr id="31" name="Text 28"/>
          <p:cNvSpPr/>
          <p:nvPr/>
        </p:nvSpPr>
        <p:spPr>
          <a:xfrm>
            <a:off x="400050" y="3976501"/>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3976501"/>
            <a:ext cx="0" cy="608447"/>
          </a:xfrm>
          <a:prstGeom prst="line">
            <a:avLst/>
          </a:prstGeom>
          <a:noFill/>
          <a:ln w="21431">
            <a:solidFill>
              <a:srgbClr val="B8942E"/>
            </a:solidFill>
            <a:prstDash val="solid"/>
          </a:ln>
        </p:spPr>
      </p:sp>
      <p:sp>
        <p:nvSpPr>
          <p:cNvPr id="33" name="Text 30"/>
          <p:cNvSpPr/>
          <p:nvPr/>
        </p:nvSpPr>
        <p:spPr>
          <a:xfrm>
            <a:off x="507206" y="4033651"/>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196507"/>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Patent/IP är den mest exakta moat-indikatorn (precision 10/10 enligt PDF). Antingen finns patent eller inte — svårt att manipulera. Patent ger 20 års skydd. Under denna tid kan bolag bygga varumärke och kundbas som ger fortsatt moat.</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5 — Moat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26 / 40</a:t>
            </a:r>
            <a:endParaRPr lang="en-US" sz="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MOAT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14 · 27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14: Switching costs</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HUR DYRT ÄR DET FÖR KUNDEN ATT BYTA LEVERANTÖR?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830278"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Switching costs = kostnad (tid, pengar, risk) för kund att byta</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vad skulle det kosta kunden att lämna bolaget?)</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Restaurang-kund: byter pizzeria = 0 SEK. Bara gå till annan restaurang. Låga switching costs.</a:t>
            </a:r>
            <a:endParaRPr lang="en-US" sz="816" dirty="0"/>
          </a:p>
        </p:txBody>
      </p:sp>
      <p:sp>
        <p:nvSpPr>
          <p:cNvPr id="19" name="Text 17"/>
          <p:cNvSpPr/>
          <p:nvPr/>
        </p:nvSpPr>
        <p:spPr>
          <a:xfrm>
            <a:off x="507206" y="2254858"/>
            <a:ext cx="3929063" cy="536692"/>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Företagskund med enterprise-system (ERP, CRM): att byta = miljontal kronor, månader av implementation, risk för dataförlust. HÖGA switching costs. Därför stannar kunder länge.</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674638"/>
                <a:gridCol w="1420044"/>
                <a:gridCol w="202726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Switching costs</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höga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Djup integration, dyrt att byta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Höga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Många anpassningar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Några kostnader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Låga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Lätt att byta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Inga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Kan byta direkt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418914"/>
          </a:xfrm>
          <a:prstGeom prst="line">
            <a:avLst/>
          </a:prstGeom>
          <a:noFill/>
          <a:ln w="7144">
            <a:solidFill>
              <a:srgbClr val="E2E5EA"/>
            </a:solidFill>
            <a:prstDash val="solid"/>
          </a:ln>
        </p:spPr>
      </p:sp>
      <p:sp>
        <p:nvSpPr>
          <p:cNvPr id="26" name="Shape 23"/>
          <p:cNvSpPr/>
          <p:nvPr/>
        </p:nvSpPr>
        <p:spPr>
          <a:xfrm>
            <a:off x="400050" y="3901492"/>
            <a:ext cx="8343900" cy="0"/>
          </a:xfrm>
          <a:prstGeom prst="line">
            <a:avLst/>
          </a:prstGeom>
          <a:noFill/>
          <a:ln w="7144">
            <a:solidFill>
              <a:srgbClr val="E2E5EA"/>
            </a:solidFill>
            <a:prstDash val="solid"/>
          </a:ln>
        </p:spPr>
      </p:sp>
      <p:sp>
        <p:nvSpPr>
          <p:cNvPr id="27" name="Shape 24"/>
          <p:cNvSpPr/>
          <p:nvPr/>
        </p:nvSpPr>
        <p:spPr>
          <a:xfrm>
            <a:off x="410766" y="3486150"/>
            <a:ext cx="0" cy="418914"/>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6846280" y="3708611"/>
            <a:ext cx="468027" cy="132159"/>
          </a:xfrm>
          <a:prstGeom prst="roundRect">
            <a:avLst>
              <a:gd name="adj" fmla="val 21622"/>
            </a:avLst>
          </a:prstGeom>
          <a:solidFill>
            <a:srgbClr val="059669">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Switching costs </a:t>
            </a:r>
            <a:pPr algn="l" indent="0" marL="0">
              <a:lnSpc>
                <a:spcPts val="1097"/>
              </a:lnSpc>
              <a:buNone/>
            </a:pPr>
            <a:r>
              <a:rPr lang="en-US" sz="731" b="1" dirty="0">
                <a:solidFill>
                  <a:srgbClr val="059669"/>
                </a:solidFill>
                <a:latin typeface="Carlito" pitchFamily="34" charset="0"/>
                <a:ea typeface="Carlito" pitchFamily="34" charset="-122"/>
                <a:cs typeface="Carlito" pitchFamily="34" charset="-120"/>
              </a:rPr>
              <a:t>HÖGA</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Security platform djupt integrerad i kundens IT-miljö. Att byta = säkerhetsrisk + utbildning + omimplementation. Poäng: </a:t>
            </a:r>
            <a:pPr algn="l" indent="0" marL="0">
              <a:lnSpc>
                <a:spcPts val="1097"/>
              </a:lnSpc>
              <a:buNone/>
            </a:pPr>
            <a:r>
              <a:rPr lang="en-US" sz="731" b="1" dirty="0">
                <a:solidFill>
                  <a:srgbClr val="059669"/>
                </a:solidFill>
                <a:highlight>
                  <a:srgbClr val="059669"/>
                </a:highlight>
                <a:latin typeface="Liberation Sans Narrow" pitchFamily="34" charset="0"/>
                <a:ea typeface="Liberation Sans Narrow" pitchFamily="34" charset="-122"/>
                <a:cs typeface="Liberation Sans Narrow" pitchFamily="34" charset="-120"/>
              </a:rPr>
              <a:t>4 — höga</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a:t>
            </a:r>
            <a:endParaRPr lang="en-US" sz="731" dirty="0"/>
          </a:p>
        </p:txBody>
      </p:sp>
      <p:sp>
        <p:nvSpPr>
          <p:cNvPr id="31" name="Text 28"/>
          <p:cNvSpPr/>
          <p:nvPr/>
        </p:nvSpPr>
        <p:spPr>
          <a:xfrm>
            <a:off x="400050" y="3976501"/>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3976501"/>
            <a:ext cx="0" cy="608447"/>
          </a:xfrm>
          <a:prstGeom prst="line">
            <a:avLst/>
          </a:prstGeom>
          <a:noFill/>
          <a:ln w="21431">
            <a:solidFill>
              <a:srgbClr val="B8942E"/>
            </a:solidFill>
            <a:prstDash val="solid"/>
          </a:ln>
        </p:spPr>
      </p:sp>
      <p:sp>
        <p:nvSpPr>
          <p:cNvPr id="33" name="Text 30"/>
          <p:cNvSpPr/>
          <p:nvPr/>
        </p:nvSpPr>
        <p:spPr>
          <a:xfrm>
            <a:off x="507206" y="4033651"/>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196507"/>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Höga switching costs = kunder stannar = stabil ARR = stabilare kassaflöde = LÄGRE emission-risk. Safestate NDR 118 % (kunder betalar mer över tid) bekräftar starka switching costs. Detta är en av de viktigaste moat-indikatorerna för SaaS.</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5 — Moat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27 / 40</a:t>
            </a:r>
            <a:endParaRPr lang="en-US"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MOAT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15 · 28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15: Nätverkseffekter</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VÄXANDE VÄRDE MED FLER ANVÄNDARE</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424200"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Nätverkseffekt = värdet ökar för varje ny användare/kund</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blir bolaget mer värdefullt ju fler som använder det?)</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159645"/>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 har ingen nätverkseffekt — din pizza blir inte bättre för att fler äter där.</a:t>
            </a:r>
            <a:endParaRPr lang="en-US" sz="816" dirty="0"/>
          </a:p>
        </p:txBody>
      </p:sp>
      <p:sp>
        <p:nvSpPr>
          <p:cNvPr id="19" name="Text 17"/>
          <p:cNvSpPr/>
          <p:nvPr/>
        </p:nvSpPr>
        <p:spPr>
          <a:xfrm>
            <a:off x="507206" y="2089212"/>
            <a:ext cx="3929063" cy="536692"/>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Men tänk telefon: 1 person med telefon = värdelöst. 100 personer = lite värde. 1 miljon personer = enormt värde. Varje ny person gör nätverket mer värdefullt för alla andra.</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617600"/>
                <a:gridCol w="1289224"/>
                <a:gridCol w="2215121"/>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Nätverkseffekt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Stark (Metcalfe)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Varje ny användare dubblerar värde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Mätbar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Tydlig ökning med skala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Något värde med fler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Minimal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Knappast märkbar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Ingen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Skala ger ingen fördel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418914"/>
          </a:xfrm>
          <a:prstGeom prst="line">
            <a:avLst/>
          </a:prstGeom>
          <a:noFill/>
          <a:ln w="7144">
            <a:solidFill>
              <a:srgbClr val="E2E5EA"/>
            </a:solidFill>
            <a:prstDash val="solid"/>
          </a:ln>
        </p:spPr>
      </p:sp>
      <p:sp>
        <p:nvSpPr>
          <p:cNvPr id="26" name="Shape 23"/>
          <p:cNvSpPr/>
          <p:nvPr/>
        </p:nvSpPr>
        <p:spPr>
          <a:xfrm>
            <a:off x="400050" y="3901492"/>
            <a:ext cx="8343900" cy="0"/>
          </a:xfrm>
          <a:prstGeom prst="line">
            <a:avLst/>
          </a:prstGeom>
          <a:noFill/>
          <a:ln w="7144">
            <a:solidFill>
              <a:srgbClr val="E2E5EA"/>
            </a:solidFill>
            <a:prstDash val="solid"/>
          </a:ln>
        </p:spPr>
      </p:sp>
      <p:sp>
        <p:nvSpPr>
          <p:cNvPr id="27" name="Shape 24"/>
          <p:cNvSpPr/>
          <p:nvPr/>
        </p:nvSpPr>
        <p:spPr>
          <a:xfrm>
            <a:off x="410766" y="3486150"/>
            <a:ext cx="0" cy="418914"/>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5769918" y="3708611"/>
            <a:ext cx="459432" cy="132159"/>
          </a:xfrm>
          <a:prstGeom prst="roundRect">
            <a:avLst>
              <a:gd name="adj" fmla="val 21622"/>
            </a:avLst>
          </a:prstGeom>
          <a:solidFill>
            <a:srgbClr val="B8942E">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Nätverkseffekt </a:t>
            </a:r>
            <a:pPr algn="l" indent="0" marL="0">
              <a:lnSpc>
                <a:spcPts val="1097"/>
              </a:lnSpc>
              <a:buNone/>
            </a:pPr>
            <a:r>
              <a:rPr lang="en-US" sz="731" b="1" dirty="0">
                <a:solidFill>
                  <a:srgbClr val="B8942E"/>
                </a:solidFill>
                <a:latin typeface="Carlito" pitchFamily="34" charset="0"/>
                <a:ea typeface="Carlito" pitchFamily="34" charset="-122"/>
                <a:cs typeface="Carlito" pitchFamily="34" charset="-120"/>
              </a:rPr>
              <a:t>MEDEL-SVAG</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Threat intelligence förbättras med fler kunder (mer data) men inte dramatiskt. Poäng: </a:t>
            </a:r>
            <a:pPr algn="l" indent="0" marL="0">
              <a:lnSpc>
                <a:spcPts val="1097"/>
              </a:lnSpc>
              <a:buNone/>
            </a:pPr>
            <a:r>
              <a:rPr lang="en-US" sz="731" b="1" dirty="0">
                <a:solidFill>
                  <a:srgbClr val="B8942E"/>
                </a:solidFill>
                <a:highlight>
                  <a:srgbClr val="B8942E"/>
                </a:highlight>
                <a:latin typeface="Liberation Sans Narrow" pitchFamily="34" charset="0"/>
                <a:ea typeface="Liberation Sans Narrow" pitchFamily="34" charset="-122"/>
                <a:cs typeface="Liberation Sans Narrow" pitchFamily="34" charset="-120"/>
              </a:rPr>
              <a:t>3 — svag</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Jämför med Meta/Visa som har starka nätverkseffekter.</a:t>
            </a:r>
            <a:endParaRPr lang="en-US" sz="731" dirty="0"/>
          </a:p>
        </p:txBody>
      </p:sp>
      <p:sp>
        <p:nvSpPr>
          <p:cNvPr id="31" name="Text 28"/>
          <p:cNvSpPr/>
          <p:nvPr/>
        </p:nvSpPr>
        <p:spPr>
          <a:xfrm>
            <a:off x="400050" y="3976501"/>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3976501"/>
            <a:ext cx="0" cy="608447"/>
          </a:xfrm>
          <a:prstGeom prst="line">
            <a:avLst/>
          </a:prstGeom>
          <a:noFill/>
          <a:ln w="21431">
            <a:solidFill>
              <a:srgbClr val="B8942E"/>
            </a:solidFill>
            <a:prstDash val="solid"/>
          </a:ln>
        </p:spPr>
      </p:sp>
      <p:sp>
        <p:nvSpPr>
          <p:cNvPr id="33" name="Text 30"/>
          <p:cNvSpPr/>
          <p:nvPr/>
        </p:nvSpPr>
        <p:spPr>
          <a:xfrm>
            <a:off x="507206" y="4033651"/>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196507"/>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Nätverkseffekter är magiskt — de skapar "winner-takes-all"-marknader. Google, Meta, Visa = extremt starka. SaaS-bolag har oftast svagare nätverkseffekter — de bygger moat genom switching costs och patent istället.</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5 — Moat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28 / 40</a:t>
            </a:r>
            <a:endParaRPr lang="en-US" sz="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511448"/>
            <a:ext cx="8286750" cy="0"/>
          </a:xfrm>
          <a:prstGeom prst="line">
            <a:avLst/>
          </a:prstGeom>
          <a:noFill/>
          <a:ln w="7144">
            <a:solidFill>
              <a:srgbClr val="E2E5EA"/>
            </a:solidFill>
            <a:prstDash val="solid"/>
          </a:ln>
        </p:spPr>
      </p:sp>
      <p:sp>
        <p:nvSpPr>
          <p:cNvPr id="3" name="Text 1"/>
          <p:cNvSpPr/>
          <p:nvPr/>
        </p:nvSpPr>
        <p:spPr>
          <a:xfrm>
            <a:off x="428625" y="285750"/>
            <a:ext cx="6981788"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MOAT</a:t>
            </a:r>
            <a:endParaRPr lang="en-US" sz="800" dirty="0"/>
          </a:p>
        </p:txBody>
      </p:sp>
      <p:sp>
        <p:nvSpPr>
          <p:cNvPr id="4" name="Text 2"/>
          <p:cNvSpPr/>
          <p:nvPr/>
        </p:nvSpPr>
        <p:spPr>
          <a:xfrm>
            <a:off x="7424700" y="303386"/>
            <a:ext cx="1290675"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29 / 40</a:t>
            </a:r>
            <a:endParaRPr lang="en-US" sz="619" dirty="0"/>
          </a:p>
        </p:txBody>
      </p:sp>
      <p:sp>
        <p:nvSpPr>
          <p:cNvPr id="5" name="Text 3"/>
          <p:cNvSpPr/>
          <p:nvPr/>
        </p:nvSpPr>
        <p:spPr>
          <a:xfrm>
            <a:off x="428625" y="643607"/>
            <a:ext cx="8636000" cy="247602"/>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Moat — sammanfattning</a:t>
            </a:r>
            <a:endParaRPr lang="en-US" sz="1688" dirty="0"/>
          </a:p>
        </p:txBody>
      </p:sp>
      <p:sp>
        <p:nvSpPr>
          <p:cNvPr id="6" name="Text 4"/>
          <p:cNvSpPr/>
          <p:nvPr/>
        </p:nvSpPr>
        <p:spPr>
          <a:xfrm>
            <a:off x="428625" y="918642"/>
            <a:ext cx="828675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3 VARIABLER SOM SVARAR PÅ: HAR BOLAGET KONKURRENSFÖRDELAR?</a:t>
            </a:r>
            <a:endParaRPr lang="en-US" sz="844"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28625" y="1238324"/>
          <a:ext cx="8286750" cy="914400"/>
        </p:xfrm>
        <a:graphic>
          <a:graphicData uri="http://schemas.openxmlformats.org/drawingml/2006/table">
            <a:tbl>
              <a:tblPr/>
              <a:tblGrid>
                <a:gridCol w="357188"/>
                <a:gridCol w="2475533"/>
                <a:gridCol w="2770994"/>
                <a:gridCol w="428625"/>
                <a:gridCol w="2254411"/>
              </a:tblGrid>
              <a:tr h="0">
                <a:tc>
                  <a:txBody>
                    <a:bodyPr/>
                    <a:lstStyle/>
                    <a:p>
                      <a:pPr algn="ctr" indent="0" marL="0">
                        <a:buNone/>
                      </a:pPr>
                      <a:r>
                        <a:rPr lang="en-US" sz="800" b="1" dirty="0">
                          <a:solidFill>
                            <a:srgbClr val="3D4556"/>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Patent/IP</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8 patent, 326 MSEK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 portfölj</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Switching costs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Höga (NDR 118%)</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Djup integration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Nätverkseffekter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Lite data-fördel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32197" y="2404653"/>
            <a:ext cx="4086225" cy="1601874"/>
          </a:xfrm>
          <a:prstGeom prst="roundRect">
            <a:avLst>
              <a:gd name="adj" fmla="val 3568"/>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535781" y="2479663"/>
            <a:ext cx="3879056"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535781" y="2669865"/>
            <a:ext cx="3879056" cy="355428"/>
          </a:xfrm>
          <a:prstGeom prst="rect">
            <a:avLst/>
          </a:prstGeom>
          <a:noFill/>
          <a:ln/>
        </p:spPr>
        <p:txBody>
          <a:bodyPr wrap="square" lIns="0" tIns="0" rIns="0" bIns="0" rtlCol="0" anchor="t">
            <a:normAutofit/>
          </a:bodyPr>
          <a:lstStyle/>
          <a:p>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Moat är Safestates </a:t>
            </a:r>
            <a:pPr algn="l" indent="0" marL="0">
              <a:lnSpc>
                <a:spcPts val="1395"/>
              </a:lnSpc>
              <a:buNone/>
            </a:pPr>
            <a:r>
              <a:rPr lang="en-US" sz="900" b="1" dirty="0">
                <a:solidFill>
                  <a:srgbClr val="1A1F2E"/>
                </a:solidFill>
                <a:latin typeface="Carlito" pitchFamily="34" charset="0"/>
                <a:ea typeface="Carlito" pitchFamily="34" charset="-122"/>
                <a:cs typeface="Carlito" pitchFamily="34" charset="-120"/>
              </a:rPr>
              <a:t>STYRKA</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Snitt: </a:t>
            </a:r>
            <a:pPr algn="l" indent="0" marL="0">
              <a:lnSpc>
                <a:spcPts val="1395"/>
              </a:lnSpc>
              <a:buNone/>
            </a:pPr>
            <a:r>
              <a:rPr lang="en-US" sz="900" b="1" dirty="0">
                <a:solidFill>
                  <a:srgbClr val="1A1F2E"/>
                </a:solidFill>
                <a:latin typeface="Liberation Sans Narrow" pitchFamily="34" charset="0"/>
                <a:ea typeface="Liberation Sans Narrow" pitchFamily="34" charset="-122"/>
                <a:cs typeface="Liberation Sans Narrow" pitchFamily="34" charset="-120"/>
              </a:rPr>
              <a:t>4 (bra)</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Patent skyddar tekniken. Switching costs håller kvar kunder. Nätverkseffekter svaga men existerande.</a:t>
            </a:r>
            <a:endParaRPr lang="en-US" sz="900" dirty="0"/>
          </a:p>
        </p:txBody>
      </p:sp>
      <p:sp>
        <p:nvSpPr>
          <p:cNvPr id="11" name="Text 8"/>
          <p:cNvSpPr/>
          <p:nvPr/>
        </p:nvSpPr>
        <p:spPr>
          <a:xfrm>
            <a:off x="535781" y="3052725"/>
            <a:ext cx="3879056" cy="382628"/>
          </a:xfrm>
          <a:prstGeom prst="rect">
            <a:avLst/>
          </a:prstGeom>
          <a:noFill/>
          <a:ln/>
        </p:spPr>
        <p:txBody>
          <a:bodyPr wrap="square" lIns="0" tIns="0" rIns="0" bIns="0" rtlCol="0" anchor="t"/>
          <a:lstStyle/>
          <a:p>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Stark moat = stabilare kassaflöde = </a:t>
            </a:r>
            <a:pPr algn="l" indent="0" marL="0">
              <a:lnSpc>
                <a:spcPts val="1395"/>
              </a:lnSpc>
              <a:buNone/>
            </a:pPr>
            <a:r>
              <a:rPr lang="en-US" sz="900" dirty="0">
                <a:solidFill>
                  <a:srgbClr val="8B7335"/>
                </a:solidFill>
                <a:latin typeface="Carlito" pitchFamily="34" charset="0"/>
                <a:ea typeface="Carlito" pitchFamily="34" charset="-122"/>
                <a:cs typeface="Carlito" pitchFamily="34" charset="-120"/>
              </a:rPr>
              <a:t>lägre emission-risk</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Bolag med bra moat kan behålla kunder även om konkurrenter pressar priser.</a:t>
            </a:r>
            <a:endParaRPr lang="en-US" sz="900" dirty="0"/>
          </a:p>
        </p:txBody>
      </p:sp>
      <p:sp>
        <p:nvSpPr>
          <p:cNvPr id="12" name="Text 9"/>
          <p:cNvSpPr/>
          <p:nvPr/>
        </p:nvSpPr>
        <p:spPr>
          <a:xfrm>
            <a:off x="4622006" y="2401081"/>
            <a:ext cx="4093369" cy="1609018"/>
          </a:xfrm>
          <a:prstGeom prst="rect">
            <a:avLst/>
          </a:prstGeom>
          <a:solidFill>
            <a:srgbClr val="2563EB">
              <a:alpha val="6000"/>
            </a:srgbClr>
          </a:solidFill>
          <a:ln/>
        </p:spPr>
        <p:txBody>
          <a:bodyPr wrap="square" rtlCol="0" anchor="ctr"/>
          <a:lstStyle/>
          <a:p>
            <a:pPr indent="0" marL="0">
              <a:buNone/>
            </a:pPr>
            <a:endParaRPr lang="en-US" dirty="0"/>
          </a:p>
        </p:txBody>
      </p:sp>
      <p:sp>
        <p:nvSpPr>
          <p:cNvPr id="13" name="Shape 10"/>
          <p:cNvSpPr/>
          <p:nvPr/>
        </p:nvSpPr>
        <p:spPr>
          <a:xfrm>
            <a:off x="4632722" y="2401081"/>
            <a:ext cx="0" cy="1609018"/>
          </a:xfrm>
          <a:prstGeom prst="line">
            <a:avLst/>
          </a:prstGeom>
          <a:noFill/>
          <a:ln w="21431">
            <a:solidFill>
              <a:srgbClr val="2563EB"/>
            </a:solidFill>
            <a:prstDash val="solid"/>
          </a:ln>
        </p:spPr>
      </p:sp>
      <p:sp>
        <p:nvSpPr>
          <p:cNvPr id="14" name="Text 11"/>
          <p:cNvSpPr/>
          <p:nvPr/>
        </p:nvSpPr>
        <p:spPr>
          <a:xfrm>
            <a:off x="4743450" y="2472519"/>
            <a:ext cx="387191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Liberation Sans Narrow" pitchFamily="34" charset="0"/>
                <a:ea typeface="Liberation Sans Narrow" pitchFamily="34" charset="-122"/>
                <a:cs typeface="Liberation Sans Narrow" pitchFamily="34" charset="-120"/>
              </a:rPr>
              <a:t>◆ MOAT OCH VARIABEL 19</a:t>
            </a:r>
            <a:endParaRPr lang="en-US" sz="800" dirty="0"/>
          </a:p>
        </p:txBody>
      </p:sp>
      <p:sp>
        <p:nvSpPr>
          <p:cNvPr id="15" name="Text 12"/>
          <p:cNvSpPr/>
          <p:nvPr/>
        </p:nvSpPr>
        <p:spPr>
          <a:xfrm>
            <a:off x="4743450" y="2642518"/>
            <a:ext cx="3981640" cy="166789"/>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Stark moat påverkar variabel 19 positivt:</a:t>
            </a:r>
            <a:endParaRPr lang="en-US" sz="816" dirty="0"/>
          </a:p>
        </p:txBody>
      </p:sp>
      <p:sp>
        <p:nvSpPr>
          <p:cNvPr id="16" name="Text 13"/>
          <p:cNvSpPr/>
          <p:nvPr/>
        </p:nvSpPr>
        <p:spPr>
          <a:xfrm>
            <a:off x="4743450" y="2836738"/>
            <a:ext cx="3871913" cy="769721"/>
          </a:xfrm>
          <a:prstGeom prst="rect">
            <a:avLst/>
          </a:prstGeom>
          <a:noFill/>
          <a:ln/>
        </p:spPr>
        <p:txBody>
          <a:bodyPr wrap="square" lIns="50006" tIns="0" rIns="0" bIns="0" rtlCol="0" anchor="t"/>
          <a:lstStyle/>
          <a:p>
            <a:pPr algn="l" indent="0" marL="0">
              <a:lnSpc>
                <a:spcPts val="1264"/>
              </a:lnSpc>
              <a:spcAft>
                <a:spcPts val="225"/>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264"/>
              </a:lnSpc>
              <a:spcAft>
                <a:spcPts val="225"/>
              </a:spcAft>
              <a:buNone/>
            </a:pPr>
            <a:r>
              <a:rPr lang="en-US" sz="816" b="1" dirty="0">
                <a:solidFill>
                  <a:srgbClr val="3D4556"/>
                </a:solidFill>
                <a:latin typeface="Carlito" pitchFamily="34" charset="0"/>
                <a:ea typeface="Carlito" pitchFamily="34" charset="-122"/>
                <a:cs typeface="Carlito" pitchFamily="34" charset="-120"/>
              </a:rPr>
              <a:t>Patent</a:t>
            </a:r>
            <a:pPr algn="l" indent="0" marL="0">
              <a:lnSpc>
                <a:spcPts val="1264"/>
              </a:lnSpc>
              <a:spcAft>
                <a:spcPts val="225"/>
              </a:spcAft>
              <a:buNone/>
            </a:pPr>
            <a:r>
              <a:rPr lang="en-US" sz="816" dirty="0">
                <a:solidFill>
                  <a:srgbClr val="3D4556"/>
                </a:solidFill>
                <a:latin typeface="Carlito" pitchFamily="34" charset="0"/>
                <a:ea typeface="Carlito" pitchFamily="34" charset="-122"/>
                <a:cs typeface="Carlito" pitchFamily="34" charset="-120"/>
              </a:rPr>
              <a:t> → konkurrenter kan inte kopiera → bolag behåller intäkter → stabilare kassa</a:t>
            </a:r>
            <a:endParaRPr lang="en-US" sz="816" dirty="0"/>
          </a:p>
          <a:p>
            <a:pPr algn="l" indent="0" marL="0">
              <a:lnSpc>
                <a:spcPts val="1264"/>
              </a:lnSpc>
              <a:spcAft>
                <a:spcPts val="225"/>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264"/>
              </a:lnSpc>
              <a:spcAft>
                <a:spcPts val="225"/>
              </a:spcAft>
              <a:buNone/>
            </a:pPr>
            <a:r>
              <a:rPr lang="en-US" sz="816" b="1" dirty="0">
                <a:solidFill>
                  <a:srgbClr val="3D4556"/>
                </a:solidFill>
                <a:latin typeface="Carlito" pitchFamily="34" charset="0"/>
                <a:ea typeface="Carlito" pitchFamily="34" charset="-122"/>
                <a:cs typeface="Carlito" pitchFamily="34" charset="-120"/>
              </a:rPr>
              <a:t>Switching costs</a:t>
            </a:r>
            <a:pPr algn="l" indent="0" marL="0">
              <a:lnSpc>
                <a:spcPts val="1264"/>
              </a:lnSpc>
              <a:spcAft>
                <a:spcPts val="225"/>
              </a:spcAft>
              <a:buNone/>
            </a:pPr>
            <a:r>
              <a:rPr lang="en-US" sz="816" dirty="0">
                <a:solidFill>
                  <a:srgbClr val="3D4556"/>
                </a:solidFill>
                <a:latin typeface="Carlito" pitchFamily="34" charset="0"/>
                <a:ea typeface="Carlito" pitchFamily="34" charset="-122"/>
                <a:cs typeface="Carlito" pitchFamily="34" charset="-120"/>
              </a:rPr>
              <a:t> → kunder stannar → stabil ARR → förutsägbart kassaflöde</a:t>
            </a:r>
            <a:endParaRPr lang="en-US" sz="816" dirty="0"/>
          </a:p>
          <a:p>
            <a:pPr algn="l" indent="0" marL="0">
              <a:lnSpc>
                <a:spcPts val="1264"/>
              </a:lnSpc>
              <a:spcAft>
                <a:spcPts val="225"/>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264"/>
              </a:lnSpc>
              <a:spcAft>
                <a:spcPts val="225"/>
              </a:spcAft>
              <a:buNone/>
            </a:pPr>
            <a:r>
              <a:rPr lang="en-US" sz="816" b="1" dirty="0">
                <a:solidFill>
                  <a:srgbClr val="3D4556"/>
                </a:solidFill>
                <a:latin typeface="Carlito" pitchFamily="34" charset="0"/>
                <a:ea typeface="Carlito" pitchFamily="34" charset="-122"/>
                <a:cs typeface="Carlito" pitchFamily="34" charset="-120"/>
              </a:rPr>
              <a:t>Nätverkseffekter</a:t>
            </a:r>
            <a:pPr algn="l" indent="0" marL="0">
              <a:lnSpc>
                <a:spcPts val="1264"/>
              </a:lnSpc>
              <a:spcAft>
                <a:spcPts val="225"/>
              </a:spcAft>
              <a:buNone/>
            </a:pPr>
            <a:r>
              <a:rPr lang="en-US" sz="816" dirty="0">
                <a:solidFill>
                  <a:srgbClr val="3D4556"/>
                </a:solidFill>
                <a:latin typeface="Carlito" pitchFamily="34" charset="0"/>
                <a:ea typeface="Carlito" pitchFamily="34" charset="-122"/>
                <a:cs typeface="Carlito" pitchFamily="34" charset="-120"/>
              </a:rPr>
              <a:t> → växande värde → svårare för konkurrenter</a:t>
            </a:r>
            <a:endParaRPr lang="en-US" sz="816" dirty="0"/>
          </a:p>
        </p:txBody>
      </p:sp>
      <p:sp>
        <p:nvSpPr>
          <p:cNvPr id="17" name="Text 14"/>
          <p:cNvSpPr/>
          <p:nvPr/>
        </p:nvSpPr>
        <p:spPr>
          <a:xfrm>
            <a:off x="4743450" y="3578796"/>
            <a:ext cx="3871913" cy="357795"/>
          </a:xfrm>
          <a:prstGeom prst="rect">
            <a:avLst/>
          </a:prstGeom>
          <a:noFill/>
          <a:ln/>
        </p:spPr>
        <p:txBody>
          <a:bodyPr wrap="square" lIns="0" tIns="0" rIns="0" bIns="0" rtlCol="0" anchor="t"/>
          <a:lstStyle/>
          <a:p>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Safestate:</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stark moat kompenserar delvis för hög kapital förbränning. Bolag kan nå break-even med stabil kundbas.</a:t>
            </a:r>
            <a:endParaRPr lang="en-US" sz="816" dirty="0"/>
          </a:p>
        </p:txBody>
      </p:sp>
      <p:sp>
        <p:nvSpPr>
          <p:cNvPr id="18" name="Text 15"/>
          <p:cNvSpPr/>
          <p:nvPr/>
        </p:nvSpPr>
        <p:spPr>
          <a:xfrm>
            <a:off x="428625" y="4081537"/>
            <a:ext cx="8286750" cy="507095"/>
          </a:xfrm>
          <a:prstGeom prst="rect">
            <a:avLst/>
          </a:prstGeom>
          <a:solidFill>
            <a:srgbClr val="B8942E">
              <a:alpha val="6000"/>
            </a:srgbClr>
          </a:solidFill>
          <a:ln/>
        </p:spPr>
        <p:txBody>
          <a:bodyPr wrap="square" rtlCol="0" anchor="ctr"/>
          <a:lstStyle/>
          <a:p>
            <a:pPr indent="0" marL="0">
              <a:buNone/>
            </a:pPr>
            <a:endParaRPr lang="en-US" dirty="0"/>
          </a:p>
        </p:txBody>
      </p:sp>
      <p:sp>
        <p:nvSpPr>
          <p:cNvPr id="19" name="Shape 16"/>
          <p:cNvSpPr/>
          <p:nvPr/>
        </p:nvSpPr>
        <p:spPr>
          <a:xfrm>
            <a:off x="439341" y="4081537"/>
            <a:ext cx="0" cy="507095"/>
          </a:xfrm>
          <a:prstGeom prst="line">
            <a:avLst/>
          </a:prstGeom>
          <a:noFill/>
          <a:ln w="21431">
            <a:solidFill>
              <a:srgbClr val="B8942E"/>
            </a:solidFill>
            <a:prstDash val="solid"/>
          </a:ln>
        </p:spPr>
      </p:sp>
      <p:sp>
        <p:nvSpPr>
          <p:cNvPr id="20" name="Text 17"/>
          <p:cNvSpPr/>
          <p:nvPr/>
        </p:nvSpPr>
        <p:spPr>
          <a:xfrm>
            <a:off x="550069" y="4152974"/>
            <a:ext cx="8065294"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1" name="Text 18"/>
          <p:cNvSpPr/>
          <p:nvPr/>
        </p:nvSpPr>
        <p:spPr>
          <a:xfrm>
            <a:off x="550069" y="4322973"/>
            <a:ext cx="8065294"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Katalysator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kommer bra nyheter? Katalysatorer kan påverka kursen dramatiskt — både positivt (stor order, reglering) och negativt (konkurrent, böter).</a:t>
            </a:r>
            <a:endParaRPr lang="en-US" sz="816" dirty="0"/>
          </a:p>
        </p:txBody>
      </p:sp>
      <p:sp>
        <p:nvSpPr>
          <p:cNvPr id="22" name="Shape 19"/>
          <p:cNvSpPr/>
          <p:nvPr/>
        </p:nvSpPr>
        <p:spPr>
          <a:xfrm>
            <a:off x="457200" y="4850606"/>
            <a:ext cx="8229600" cy="0"/>
          </a:xfrm>
          <a:prstGeom prst="line">
            <a:avLst/>
          </a:prstGeom>
          <a:noFill/>
          <a:ln w="7144">
            <a:solidFill>
              <a:srgbClr val="E2E5EA"/>
            </a:solidFill>
            <a:prstDash val="solid"/>
          </a:ln>
        </p:spPr>
      </p:sp>
      <p:sp>
        <p:nvSpPr>
          <p:cNvPr id="23" name="Text 20"/>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5 — Moat</a:t>
            </a:r>
            <a:endParaRPr lang="en-US" sz="800" dirty="0"/>
          </a:p>
        </p:txBody>
      </p:sp>
      <p:sp>
        <p:nvSpPr>
          <p:cNvPr id="24" name="Text 21"/>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29 / 40</a:t>
            </a:r>
            <a:endParaRPr lang="en-US" sz="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015176"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5" name="Text 1"/>
          <p:cNvSpPr/>
          <p:nvPr/>
        </p:nvSpPr>
        <p:spPr>
          <a:xfrm>
            <a:off x="4480903" y="3529013"/>
            <a:ext cx="4663097" cy="1614488"/>
          </a:xfrm>
          <a:prstGeom prst="rect">
            <a:avLst/>
          </a:prstGeom>
          <a:noFill/>
          <a:ln/>
        </p:spPr>
        <p:txBody>
          <a:bodyPr wrap="square" lIns="0" tIns="0" rIns="0" bIns="0" rtlCol="0" anchor="t"/>
          <a:lstStyle/>
          <a:p>
            <a:pPr algn="l" indent="0" marL="0">
              <a:lnSpc>
                <a:spcPts val="17213"/>
              </a:lnSpc>
              <a:buNone/>
            </a:pPr>
            <a:r>
              <a:rPr lang="en-US" sz="20250" b="1" spc="-562" kern="0" dirty="0">
                <a:solidFill>
                  <a:srgbClr val="B8942E">
                    <a:alpha val="6000"/>
                  </a:srgbClr>
                </a:solidFill>
                <a:latin typeface="Liberation Sans Narrow" pitchFamily="34" charset="0"/>
                <a:ea typeface="Liberation Sans Narrow" pitchFamily="34" charset="-122"/>
                <a:cs typeface="Liberation Sans Narrow" pitchFamily="34" charset="-120"/>
              </a:rPr>
              <a:t>06</a:t>
            </a:r>
            <a:endParaRPr lang="en-US" sz="20250" dirty="0"/>
          </a:p>
        </p:txBody>
      </p:sp>
      <p:sp>
        <p:nvSpPr>
          <p:cNvPr id="6" name="Text 2"/>
          <p:cNvSpPr/>
          <p:nvPr/>
        </p:nvSpPr>
        <p:spPr>
          <a:xfrm>
            <a:off x="571500" y="1020775"/>
            <a:ext cx="85725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6 AV 6</a:t>
            </a:r>
            <a:endParaRPr lang="en-US" sz="800" dirty="0"/>
          </a:p>
        </p:txBody>
      </p:sp>
      <p:sp>
        <p:nvSpPr>
          <p:cNvPr id="7" name="Text 3"/>
          <p:cNvSpPr/>
          <p:nvPr/>
        </p:nvSpPr>
        <p:spPr>
          <a:xfrm>
            <a:off x="571500" y="1259644"/>
            <a:ext cx="8572500" cy="929831"/>
          </a:xfrm>
          <a:prstGeom prst="rect">
            <a:avLst/>
          </a:prstGeom>
          <a:noFill/>
          <a:ln/>
        </p:spPr>
        <p:txBody>
          <a:bodyPr wrap="none" lIns="0" tIns="0" rIns="0" bIns="0" rtlCol="0" anchor="t">
            <a:normAutofit/>
          </a:bodyPr>
          <a:lstStyle/>
          <a:p>
            <a:pPr algn="l" indent="0" marL="0">
              <a:lnSpc>
                <a:spcPts val="7088"/>
              </a:lnSpc>
              <a:buNone/>
            </a:pPr>
            <a:r>
              <a:rPr lang="en-US" sz="7875" b="1" spc="-225" kern="0" dirty="0">
                <a:solidFill>
                  <a:srgbClr val="D4A832">
                    <a:alpha val="85000"/>
                  </a:srgbClr>
                </a:solidFill>
                <a:latin typeface="Liberation Sans Narrow" pitchFamily="34" charset="0"/>
                <a:ea typeface="Liberation Sans Narrow" pitchFamily="34" charset="-122"/>
                <a:cs typeface="Liberation Sans Narrow" pitchFamily="34" charset="-120"/>
              </a:rPr>
              <a:t>06</a:t>
            </a:r>
            <a:endParaRPr lang="en-US" sz="7875" dirty="0"/>
          </a:p>
        </p:txBody>
      </p:sp>
      <p:sp>
        <p:nvSpPr>
          <p:cNvPr id="8" name="Text 4"/>
          <p:cNvSpPr/>
          <p:nvPr/>
        </p:nvSpPr>
        <p:spPr>
          <a:xfrm>
            <a:off x="571500" y="2216907"/>
            <a:ext cx="6443663" cy="407341"/>
          </a:xfrm>
          <a:prstGeom prst="rect">
            <a:avLst/>
          </a:prstGeom>
          <a:noFill/>
          <a:ln/>
        </p:spPr>
        <p:txBody>
          <a:bodyPr wrap="square" lIns="0" tIns="0" rIns="0" bIns="0" rtlCol="0" anchor="t"/>
          <a:lstStyle/>
          <a:p>
            <a:pPr algn="l" indent="0" marL="0">
              <a:lnSpc>
                <a:spcPts val="2970"/>
              </a:lnSpc>
              <a:buNone/>
            </a:pPr>
            <a:r>
              <a:rPr lang="en-US" sz="2700" b="1" spc="-45" kern="0" dirty="0">
                <a:solidFill>
                  <a:srgbClr val="FFFFFF"/>
                </a:solidFill>
                <a:latin typeface="Carlito" pitchFamily="34" charset="0"/>
                <a:ea typeface="Carlito" pitchFamily="34" charset="-122"/>
                <a:cs typeface="Carlito" pitchFamily="34" charset="-120"/>
              </a:rPr>
              <a:t>Katalysator — Kommer bra nyheter?</a:t>
            </a:r>
            <a:endParaRPr lang="en-US" sz="2700" dirty="0"/>
          </a:p>
        </p:txBody>
      </p:sp>
      <p:sp>
        <p:nvSpPr>
          <p:cNvPr id="9" name="Text 5"/>
          <p:cNvSpPr/>
          <p:nvPr/>
        </p:nvSpPr>
        <p:spPr>
          <a:xfrm>
            <a:off x="571500" y="2708374"/>
            <a:ext cx="5000625" cy="765256"/>
          </a:xfrm>
          <a:prstGeom prst="rect">
            <a:avLst/>
          </a:prstGeom>
          <a:noFill/>
          <a:ln/>
        </p:spPr>
        <p:txBody>
          <a:bodyPr wrap="square" lIns="0" tIns="0" rIns="0" bIns="0" rtlCol="0" anchor="t"/>
          <a:lstStyle/>
          <a:p>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3 variabler som mäter framtida händelser som kan driva värde. </a:t>
            </a:r>
            <a:pPr algn="l" indent="0" marL="0">
              <a:lnSpc>
                <a:spcPts val="1395"/>
              </a:lnSpc>
              <a:buNone/>
            </a:pPr>
            <a:r>
              <a:rPr lang="en-US" sz="900" b="1" dirty="0">
                <a:solidFill>
                  <a:srgbClr val="FFFFFF"/>
                </a:solidFill>
                <a:latin typeface="Carlito" pitchFamily="34" charset="0"/>
                <a:ea typeface="Carlito" pitchFamily="34" charset="-122"/>
                <a:cs typeface="Carlito" pitchFamily="34" charset="-120"/>
              </a:rPr>
              <a:t>Regulatorisk</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reglering skapar efterfrågan. </a:t>
            </a:r>
            <a:pPr algn="l" indent="0" marL="0">
              <a:lnSpc>
                <a:spcPts val="1395"/>
              </a:lnSpc>
              <a:buNone/>
            </a:pPr>
            <a:r>
              <a:rPr lang="en-US" sz="900" b="1" dirty="0">
                <a:solidFill>
                  <a:srgbClr val="FFFFFF"/>
                </a:solidFill>
                <a:latin typeface="Carlito" pitchFamily="34" charset="0"/>
                <a:ea typeface="Carlito" pitchFamily="34" charset="-122"/>
                <a:cs typeface="Carlito" pitchFamily="34" charset="-120"/>
              </a:rPr>
              <a:t>Branschtrend</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strukturell marknadstillväxt. </a:t>
            </a:r>
            <a:pPr algn="l" indent="0" marL="0">
              <a:lnSpc>
                <a:spcPts val="1395"/>
              </a:lnSpc>
              <a:buNone/>
            </a:pPr>
            <a:r>
              <a:rPr lang="en-US" sz="900" b="1" dirty="0">
                <a:solidFill>
                  <a:srgbClr val="FFFFFF"/>
                </a:solidFill>
                <a:latin typeface="Carlito" pitchFamily="34" charset="0"/>
                <a:ea typeface="Carlito" pitchFamily="34" charset="-122"/>
                <a:cs typeface="Carlito" pitchFamily="34" charset="-120"/>
              </a:rPr>
              <a:t>Event-driven</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fusion, avtal, godkännanden. Katalysator-kategorin har </a:t>
            </a:r>
            <a:pPr algn="l" indent="0" marL="0">
              <a:lnSpc>
                <a:spcPts val="1395"/>
              </a:lnSpc>
              <a:buNone/>
            </a:pPr>
            <a:r>
              <a:rPr lang="en-US" sz="900" b="1" dirty="0">
                <a:solidFill>
                  <a:srgbClr val="D4A832"/>
                </a:solidFill>
                <a:latin typeface="Liberation Sans Narrow" pitchFamily="34" charset="0"/>
                <a:ea typeface="Liberation Sans Narrow" pitchFamily="34" charset="-122"/>
                <a:cs typeface="Liberation Sans Narrow" pitchFamily="34" charset="-120"/>
              </a:rPr>
              <a:t>HÖGSTA totala vikten i AKM1</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framtida drivkrafter väger tungt.</a:t>
            </a:r>
            <a:endParaRPr lang="en-US" sz="900" dirty="0"/>
          </a:p>
        </p:txBody>
      </p:sp>
      <p:sp>
        <p:nvSpPr>
          <p:cNvPr id="10" name="Text 6"/>
          <p:cNvSpPr/>
          <p:nvPr/>
        </p:nvSpPr>
        <p:spPr>
          <a:xfrm>
            <a:off x="575072" y="3591967"/>
            <a:ext cx="958490" cy="527075"/>
          </a:xfrm>
          <a:prstGeom prst="roundRect">
            <a:avLst>
              <a:gd name="adj" fmla="val 14457"/>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1" name="Text 7"/>
          <p:cNvSpPr/>
          <p:nvPr/>
        </p:nvSpPr>
        <p:spPr>
          <a:xfrm>
            <a:off x="707231" y="3666976"/>
            <a:ext cx="694172" cy="227511"/>
          </a:xfrm>
          <a:prstGeom prst="rect">
            <a:avLst/>
          </a:prstGeom>
          <a:noFill/>
          <a:ln/>
        </p:spPr>
        <p:txBody>
          <a:bodyPr wrap="none" lIns="0" tIns="0" rIns="0" bIns="0" rtlCol="0" anchor="t">
            <a:normAutofit/>
          </a:bodyPr>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5</a:t>
            </a:r>
            <a:endParaRPr lang="en-US" sz="1013" dirty="0"/>
          </a:p>
        </p:txBody>
      </p:sp>
      <p:sp>
        <p:nvSpPr>
          <p:cNvPr id="12" name="Text 8"/>
          <p:cNvSpPr/>
          <p:nvPr/>
        </p:nvSpPr>
        <p:spPr>
          <a:xfrm>
            <a:off x="695625" y="3921919"/>
            <a:ext cx="717384" cy="119703"/>
          </a:xfrm>
          <a:prstGeom prst="rect">
            <a:avLst/>
          </a:prstGeom>
          <a:noFill/>
          <a:ln/>
        </p:spPr>
        <p:txBody>
          <a:bodyPr wrap="none" lIns="0" tIns="0" rIns="0" bIns="0" rtlCol="0" anchor="t"/>
          <a:lstStyle/>
          <a:p>
            <a:pPr algn="l" indent="0" marL="0">
              <a:lnSpc>
                <a:spcPts val="1021"/>
              </a:lnSpc>
              <a:buNone/>
            </a:pPr>
            <a:r>
              <a:rPr lang="en-US" sz="619" spc="56" kern="0" dirty="0">
                <a:solidFill>
                  <a:srgbClr val="7A8498"/>
                </a:solidFill>
                <a:latin typeface="Carlito" pitchFamily="34" charset="0"/>
                <a:ea typeface="Carlito" pitchFamily="34" charset="-122"/>
                <a:cs typeface="Carlito" pitchFamily="34" charset="-120"/>
              </a:rPr>
              <a:t>REGULATORISK</a:t>
            </a:r>
            <a:endParaRPr lang="en-US" sz="619" dirty="0"/>
          </a:p>
        </p:txBody>
      </p:sp>
      <p:sp>
        <p:nvSpPr>
          <p:cNvPr id="13" name="Text 9"/>
          <p:cNvSpPr/>
          <p:nvPr/>
        </p:nvSpPr>
        <p:spPr>
          <a:xfrm>
            <a:off x="1626431" y="3591967"/>
            <a:ext cx="1005036" cy="527075"/>
          </a:xfrm>
          <a:prstGeom prst="roundRect">
            <a:avLst>
              <a:gd name="adj" fmla="val 14457"/>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4" name="Text 10"/>
          <p:cNvSpPr/>
          <p:nvPr/>
        </p:nvSpPr>
        <p:spPr>
          <a:xfrm>
            <a:off x="1758590" y="3666976"/>
            <a:ext cx="740718" cy="227511"/>
          </a:xfrm>
          <a:prstGeom prst="rect">
            <a:avLst/>
          </a:prstGeom>
          <a:noFill/>
          <a:ln/>
        </p:spPr>
        <p:txBody>
          <a:bodyPr wrap="none" lIns="0" tIns="0" rIns="0" bIns="0" rtlCol="0" anchor="t">
            <a:normAutofit/>
          </a:bodyPr>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4</a:t>
            </a:r>
            <a:endParaRPr lang="en-US" sz="1013" dirty="0"/>
          </a:p>
        </p:txBody>
      </p:sp>
      <p:sp>
        <p:nvSpPr>
          <p:cNvPr id="15" name="Text 11"/>
          <p:cNvSpPr/>
          <p:nvPr/>
        </p:nvSpPr>
        <p:spPr>
          <a:xfrm>
            <a:off x="1758590" y="3921919"/>
            <a:ext cx="740718" cy="119703"/>
          </a:xfrm>
          <a:prstGeom prst="rect">
            <a:avLst/>
          </a:prstGeom>
          <a:noFill/>
          <a:ln/>
        </p:spPr>
        <p:txBody>
          <a:bodyPr wrap="none" lIns="0" tIns="0" rIns="0" bIns="0" rtlCol="0" anchor="t"/>
          <a:lstStyle/>
          <a:p>
            <a:pPr algn="l" indent="0" marL="0">
              <a:lnSpc>
                <a:spcPts val="1021"/>
              </a:lnSpc>
              <a:buNone/>
            </a:pPr>
            <a:r>
              <a:rPr lang="en-US" sz="619" spc="56" kern="0" dirty="0">
                <a:solidFill>
                  <a:srgbClr val="7A8498"/>
                </a:solidFill>
                <a:latin typeface="Carlito" pitchFamily="34" charset="0"/>
                <a:ea typeface="Carlito" pitchFamily="34" charset="-122"/>
                <a:cs typeface="Carlito" pitchFamily="34" charset="-120"/>
              </a:rPr>
              <a:t>BRANSCHTREND</a:t>
            </a:r>
            <a:endParaRPr lang="en-US" sz="619" dirty="0"/>
          </a:p>
        </p:txBody>
      </p:sp>
      <p:sp>
        <p:nvSpPr>
          <p:cNvPr id="16" name="Text 12"/>
          <p:cNvSpPr/>
          <p:nvPr/>
        </p:nvSpPr>
        <p:spPr>
          <a:xfrm>
            <a:off x="2724336" y="3591967"/>
            <a:ext cx="930808" cy="527075"/>
          </a:xfrm>
          <a:prstGeom prst="roundRect">
            <a:avLst>
              <a:gd name="adj" fmla="val 14457"/>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7" name="Text 13"/>
          <p:cNvSpPr/>
          <p:nvPr/>
        </p:nvSpPr>
        <p:spPr>
          <a:xfrm>
            <a:off x="2856495" y="3666976"/>
            <a:ext cx="666490" cy="227511"/>
          </a:xfrm>
          <a:prstGeom prst="rect">
            <a:avLst/>
          </a:prstGeom>
          <a:noFill/>
          <a:ln/>
        </p:spPr>
        <p:txBody>
          <a:bodyPr wrap="none" lIns="0" tIns="0" rIns="0" bIns="0" rtlCol="0" anchor="t">
            <a:normAutofit/>
          </a:bodyPr>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3</a:t>
            </a:r>
            <a:endParaRPr lang="en-US" sz="1013" dirty="0"/>
          </a:p>
        </p:txBody>
      </p:sp>
      <p:sp>
        <p:nvSpPr>
          <p:cNvPr id="18" name="Text 14"/>
          <p:cNvSpPr/>
          <p:nvPr/>
        </p:nvSpPr>
        <p:spPr>
          <a:xfrm>
            <a:off x="2838930" y="3921919"/>
            <a:ext cx="701621" cy="119703"/>
          </a:xfrm>
          <a:prstGeom prst="rect">
            <a:avLst/>
          </a:prstGeom>
          <a:noFill/>
          <a:ln/>
        </p:spPr>
        <p:txBody>
          <a:bodyPr wrap="none" lIns="0" tIns="0" rIns="0" bIns="0" rtlCol="0" anchor="t"/>
          <a:lstStyle/>
          <a:p>
            <a:pPr algn="l" indent="0" marL="0">
              <a:lnSpc>
                <a:spcPts val="1021"/>
              </a:lnSpc>
              <a:buNone/>
            </a:pPr>
            <a:r>
              <a:rPr lang="en-US" sz="619" spc="56" kern="0" dirty="0">
                <a:solidFill>
                  <a:srgbClr val="7A8498"/>
                </a:solidFill>
                <a:latin typeface="Carlito" pitchFamily="34" charset="0"/>
                <a:ea typeface="Carlito" pitchFamily="34" charset="-122"/>
                <a:cs typeface="Carlito" pitchFamily="34" charset="-120"/>
              </a:rPr>
              <a:t>EVENT-DRIVEN</a:t>
            </a:r>
            <a:endParaRPr lang="en-US" sz="619" dirty="0"/>
          </a:p>
        </p:txBody>
      </p:sp>
      <p:sp>
        <p:nvSpPr>
          <p:cNvPr id="19" name="Text 15"/>
          <p:cNvSpPr/>
          <p:nvPr/>
        </p:nvSpPr>
        <p:spPr>
          <a:xfrm>
            <a:off x="3748013" y="3591967"/>
            <a:ext cx="1556445" cy="527075"/>
          </a:xfrm>
          <a:prstGeom prst="roundRect">
            <a:avLst>
              <a:gd name="adj" fmla="val 14457"/>
            </a:avLst>
          </a:prstGeom>
          <a:solidFill>
            <a:srgbClr val="C9A84C">
              <a:alpha val="18000"/>
            </a:srgbClr>
          </a:solidFill>
          <a:ln w="7144">
            <a:solidFill>
              <a:srgbClr val="B8942E"/>
            </a:solidFill>
            <a:prstDash val="solid"/>
          </a:ln>
        </p:spPr>
        <p:txBody>
          <a:bodyPr wrap="square" rtlCol="0" anchor="ctr"/>
          <a:lstStyle/>
          <a:p>
            <a:pPr indent="0" marL="0">
              <a:buNone/>
            </a:pPr>
            <a:endParaRPr lang="en-US" dirty="0"/>
          </a:p>
        </p:txBody>
      </p:sp>
      <p:sp>
        <p:nvSpPr>
          <p:cNvPr id="20" name="Text 16"/>
          <p:cNvSpPr/>
          <p:nvPr/>
        </p:nvSpPr>
        <p:spPr>
          <a:xfrm>
            <a:off x="3880172" y="3666976"/>
            <a:ext cx="1292126" cy="227511"/>
          </a:xfrm>
          <a:prstGeom prst="rect">
            <a:avLst/>
          </a:prstGeom>
          <a:noFill/>
          <a:ln/>
        </p:spPr>
        <p:txBody>
          <a:bodyPr wrap="none" lIns="0" tIns="0" rIns="0" bIns="0" rtlCol="0" anchor="t">
            <a:normAutofit/>
          </a:bodyPr>
          <a:lstStyle/>
          <a:p>
            <a:pPr algn="l" indent="0" marL="0">
              <a:lnSpc>
                <a:spcPts val="1671"/>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21%</a:t>
            </a:r>
            <a:endParaRPr lang="en-US" sz="1013" dirty="0"/>
          </a:p>
        </p:txBody>
      </p:sp>
      <p:sp>
        <p:nvSpPr>
          <p:cNvPr id="21" name="Text 17"/>
          <p:cNvSpPr/>
          <p:nvPr/>
        </p:nvSpPr>
        <p:spPr>
          <a:xfrm>
            <a:off x="3880172" y="3921919"/>
            <a:ext cx="1292126" cy="119703"/>
          </a:xfrm>
          <a:prstGeom prst="rect">
            <a:avLst/>
          </a:prstGeom>
          <a:noFill/>
          <a:ln/>
        </p:spPr>
        <p:txBody>
          <a:bodyPr wrap="none" lIns="0" tIns="0" rIns="0" bIns="0" rtlCol="0" anchor="t"/>
          <a:lstStyle/>
          <a:p>
            <a:pPr algn="l" indent="0" marL="0">
              <a:lnSpc>
                <a:spcPts val="1021"/>
              </a:lnSpc>
              <a:buNone/>
            </a:pPr>
            <a:r>
              <a:rPr lang="en-US" sz="619" spc="56" kern="0" dirty="0">
                <a:solidFill>
                  <a:srgbClr val="7A8498"/>
                </a:solidFill>
                <a:latin typeface="Liberation Sans Narrow" pitchFamily="34" charset="0"/>
                <a:ea typeface="Liberation Sans Narrow" pitchFamily="34" charset="-122"/>
                <a:cs typeface="Liberation Sans Narrow" pitchFamily="34" charset="-120"/>
              </a:rPr>
              <a:t>TOTAL VIKT — HÖGST I AKM1</a:t>
            </a:r>
            <a:endParaRPr lang="en-US" sz="619"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82873"/>
            <a:ext cx="8286750" cy="0"/>
          </a:xfrm>
          <a:prstGeom prst="line">
            <a:avLst/>
          </a:prstGeom>
          <a:noFill/>
          <a:ln w="7144">
            <a:solidFill>
              <a:srgbClr val="E2E5EA"/>
            </a:solidFill>
            <a:prstDash val="solid"/>
          </a:ln>
        </p:spPr>
      </p:sp>
      <p:sp>
        <p:nvSpPr>
          <p:cNvPr id="3" name="Text 1"/>
          <p:cNvSpPr/>
          <p:nvPr/>
        </p:nvSpPr>
        <p:spPr>
          <a:xfrm>
            <a:off x="428625" y="257175"/>
            <a:ext cx="753018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KATALYSATOR</a:t>
            </a:r>
            <a:endParaRPr lang="en-US" sz="800" dirty="0"/>
          </a:p>
        </p:txBody>
      </p:sp>
      <p:sp>
        <p:nvSpPr>
          <p:cNvPr id="4" name="Text 2"/>
          <p:cNvSpPr/>
          <p:nvPr/>
        </p:nvSpPr>
        <p:spPr>
          <a:xfrm>
            <a:off x="7965143" y="274811"/>
            <a:ext cx="758183"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16 · 31 / 40</a:t>
            </a:r>
            <a:endParaRPr lang="en-US" sz="619" dirty="0"/>
          </a:p>
        </p:txBody>
      </p:sp>
      <p:sp>
        <p:nvSpPr>
          <p:cNvPr id="5" name="Text 3"/>
          <p:cNvSpPr/>
          <p:nvPr/>
        </p:nvSpPr>
        <p:spPr>
          <a:xfrm>
            <a:off x="428625" y="615032"/>
            <a:ext cx="8636000" cy="200387"/>
          </a:xfrm>
          <a:prstGeom prst="rect">
            <a:avLst/>
          </a:prstGeom>
          <a:noFill/>
          <a:ln/>
        </p:spPr>
        <p:txBody>
          <a:bodyPr wrap="square" lIns="0" tIns="0" rIns="0" bIns="0" rtlCol="0" anchor="t">
            <a:normAutofit/>
          </a:bodyPr>
          <a:lstStyle/>
          <a:p>
            <a:pPr algn="l" indent="0" marL="0">
              <a:lnSpc>
                <a:spcPts val="1682"/>
              </a:lnSpc>
              <a:buNone/>
            </a:pPr>
            <a:r>
              <a:rPr lang="en-US" sz="1463" b="1" spc="-28" kern="0" dirty="0">
                <a:solidFill>
                  <a:srgbClr val="1A1F2E"/>
                </a:solidFill>
                <a:latin typeface="Carlito" pitchFamily="34" charset="0"/>
                <a:ea typeface="Carlito" pitchFamily="34" charset="-122"/>
                <a:cs typeface="Carlito" pitchFamily="34" charset="-120"/>
              </a:rPr>
              <a:t>Variabel 16: Regulatorisk katalysator</a:t>
            </a:r>
            <a:endParaRPr lang="en-US" sz="1463" dirty="0"/>
          </a:p>
        </p:txBody>
      </p:sp>
      <p:sp>
        <p:nvSpPr>
          <p:cNvPr id="6" name="Text 4"/>
          <p:cNvSpPr/>
          <p:nvPr/>
        </p:nvSpPr>
        <p:spPr>
          <a:xfrm>
            <a:off x="428625" y="842851"/>
            <a:ext cx="8636000" cy="181002"/>
          </a:xfrm>
          <a:prstGeom prst="rect">
            <a:avLst/>
          </a:prstGeom>
          <a:noFill/>
          <a:ln/>
        </p:spPr>
        <p:txBody>
          <a:bodyPr wrap="square" lIns="0" tIns="0" rIns="0" bIns="0" rtlCol="0" anchor="t"/>
          <a:lstStyle/>
          <a:p>
            <a:pPr algn="l" indent="0" marL="0">
              <a:lnSpc>
                <a:spcPts val="1299"/>
              </a:lnSpc>
              <a:buNone/>
            </a:pPr>
            <a:r>
              <a:rPr lang="en-US" sz="800" spc="68" kern="0" dirty="0">
                <a:solidFill>
                  <a:srgbClr val="B8942E"/>
                </a:solidFill>
                <a:latin typeface="Carlito" pitchFamily="34" charset="0"/>
                <a:ea typeface="Carlito" pitchFamily="34" charset="-122"/>
                <a:cs typeface="Carlito" pitchFamily="34" charset="-120"/>
              </a:rPr>
              <a:t>REGLERING SOM SKAPAR EFTERFRÅGAN</a:t>
            </a:r>
            <a:endParaRPr lang="en-US" sz="800" dirty="0"/>
          </a:p>
        </p:txBody>
      </p:sp>
      <p:pic>
        <p:nvPicPr>
          <p:cNvPr id="7" name="Image 0" descr="preencoded.png">    </p:cNvPr>
          <p:cNvPicPr>
            <a:picLocks noChangeAspect="1"/>
          </p:cNvPicPr>
          <p:nvPr/>
        </p:nvPicPr>
        <p:blipFill>
          <a:blip r:embed="rId1"/>
          <a:stretch>
            <a:fillRect/>
          </a:stretch>
        </p:blipFill>
        <p:spPr>
          <a:xfrm>
            <a:off x="428625" y="1093552"/>
            <a:ext cx="8286750" cy="498835"/>
          </a:xfrm>
          <a:prstGeom prst="rect">
            <a:avLst/>
          </a:prstGeom>
        </p:spPr>
      </p:pic>
      <p:sp>
        <p:nvSpPr>
          <p:cNvPr id="8" name="Shape 5"/>
          <p:cNvSpPr/>
          <p:nvPr/>
        </p:nvSpPr>
        <p:spPr>
          <a:xfrm>
            <a:off x="428625" y="1097124"/>
            <a:ext cx="8286750" cy="0"/>
          </a:xfrm>
          <a:prstGeom prst="line">
            <a:avLst/>
          </a:prstGeom>
          <a:noFill/>
          <a:ln w="7144">
            <a:solidFill>
              <a:srgbClr val="B8942E"/>
            </a:solidFill>
            <a:prstDash val="solid"/>
          </a:ln>
        </p:spPr>
      </p:sp>
      <p:sp>
        <p:nvSpPr>
          <p:cNvPr id="9" name="Shape 6"/>
          <p:cNvSpPr/>
          <p:nvPr/>
        </p:nvSpPr>
        <p:spPr>
          <a:xfrm>
            <a:off x="8711803" y="1093552"/>
            <a:ext cx="0" cy="498835"/>
          </a:xfrm>
          <a:prstGeom prst="line">
            <a:avLst/>
          </a:prstGeom>
          <a:noFill/>
          <a:ln w="7144">
            <a:solidFill>
              <a:srgbClr val="B8942E"/>
            </a:solidFill>
            <a:prstDash val="solid"/>
          </a:ln>
        </p:spPr>
      </p:sp>
      <p:sp>
        <p:nvSpPr>
          <p:cNvPr id="10" name="Shape 7"/>
          <p:cNvSpPr/>
          <p:nvPr/>
        </p:nvSpPr>
        <p:spPr>
          <a:xfrm>
            <a:off x="428625" y="1588815"/>
            <a:ext cx="8286750" cy="0"/>
          </a:xfrm>
          <a:prstGeom prst="line">
            <a:avLst/>
          </a:prstGeom>
          <a:noFill/>
          <a:ln w="7144">
            <a:solidFill>
              <a:srgbClr val="B8942E"/>
            </a:solidFill>
            <a:prstDash val="solid"/>
          </a:ln>
        </p:spPr>
      </p:sp>
      <p:sp>
        <p:nvSpPr>
          <p:cNvPr id="11" name="Shape 8"/>
          <p:cNvSpPr/>
          <p:nvPr/>
        </p:nvSpPr>
        <p:spPr>
          <a:xfrm>
            <a:off x="442913" y="1093552"/>
            <a:ext cx="0" cy="498835"/>
          </a:xfrm>
          <a:prstGeom prst="line">
            <a:avLst/>
          </a:prstGeom>
          <a:noFill/>
          <a:ln w="28575">
            <a:solidFill>
              <a:srgbClr val="B8942E"/>
            </a:solidFill>
            <a:prstDash val="solid"/>
          </a:ln>
        </p:spPr>
      </p:sp>
      <p:sp>
        <p:nvSpPr>
          <p:cNvPr id="12" name="Text 9"/>
          <p:cNvSpPr/>
          <p:nvPr/>
        </p:nvSpPr>
        <p:spPr>
          <a:xfrm>
            <a:off x="571500" y="1172133"/>
            <a:ext cx="8022431" cy="161096"/>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Regulatorisk = lagar/regler som tvingar kunder att köpa</a:t>
            </a:r>
            <a:endParaRPr lang="en-US" sz="900" dirty="0"/>
          </a:p>
        </p:txBody>
      </p:sp>
      <p:sp>
        <p:nvSpPr>
          <p:cNvPr id="13" name="Text 10"/>
          <p:cNvSpPr/>
          <p:nvPr/>
        </p:nvSpPr>
        <p:spPr>
          <a:xfrm>
            <a:off x="571500" y="1360661"/>
            <a:ext cx="8022431" cy="153144"/>
          </a:xfrm>
          <a:prstGeom prst="rect">
            <a:avLst/>
          </a:prstGeom>
          <a:noFill/>
          <a:ln/>
        </p:spPr>
        <p:txBody>
          <a:bodyPr wrap="square" lIns="0" tIns="0" rIns="0" bIns="0" rtlCol="0" anchor="t"/>
          <a:lstStyle/>
          <a:p>
            <a:pPr algn="l" indent="0" marL="0">
              <a:lnSpc>
                <a:spcPts val="1207"/>
              </a:lnSpc>
              <a:buNone/>
            </a:pPr>
            <a:r>
              <a:rPr lang="en-US" sz="800" i="1" dirty="0">
                <a:solidFill>
                  <a:srgbClr val="3D4556"/>
                </a:solidFill>
                <a:latin typeface="Carlito" pitchFamily="34" charset="0"/>
                <a:ea typeface="Carlito" pitchFamily="34" charset="-122"/>
                <a:cs typeface="Carlito" pitchFamily="34" charset="-120"/>
              </a:rPr>
              <a:t>(Enkelt: finns det en lag som säger att kunder MÅSTE ha bolagets produkt?)</a:t>
            </a:r>
            <a:endParaRPr lang="en-US" sz="800" dirty="0"/>
          </a:p>
        </p:txBody>
      </p:sp>
      <p:sp>
        <p:nvSpPr>
          <p:cNvPr id="14" name="Text 11"/>
          <p:cNvSpPr/>
          <p:nvPr/>
        </p:nvSpPr>
        <p:spPr>
          <a:xfrm>
            <a:off x="428625" y="1720974"/>
            <a:ext cx="4093369" cy="1936291"/>
          </a:xfrm>
          <a:prstGeom prst="rect">
            <a:avLst/>
          </a:prstGeom>
          <a:solidFill>
            <a:srgbClr val="2563EB">
              <a:alpha val="6000"/>
            </a:srgbClr>
          </a:solidFill>
          <a:ln/>
        </p:spPr>
        <p:txBody>
          <a:bodyPr wrap="square" rtlCol="0" anchor="ctr"/>
          <a:lstStyle/>
          <a:p>
            <a:pPr indent="0" marL="0">
              <a:buNone/>
            </a:pPr>
            <a:endParaRPr lang="en-US" dirty="0"/>
          </a:p>
        </p:txBody>
      </p:sp>
      <p:sp>
        <p:nvSpPr>
          <p:cNvPr id="15" name="Shape 12"/>
          <p:cNvSpPr/>
          <p:nvPr/>
        </p:nvSpPr>
        <p:spPr>
          <a:xfrm>
            <a:off x="439341" y="1720974"/>
            <a:ext cx="0" cy="1936291"/>
          </a:xfrm>
          <a:prstGeom prst="line">
            <a:avLst/>
          </a:prstGeom>
          <a:noFill/>
          <a:ln w="21431">
            <a:solidFill>
              <a:srgbClr val="2563EB"/>
            </a:solidFill>
            <a:prstDash val="solid"/>
          </a:ln>
        </p:spPr>
      </p:sp>
      <p:sp>
        <p:nvSpPr>
          <p:cNvPr id="16" name="Text 13"/>
          <p:cNvSpPr/>
          <p:nvPr/>
        </p:nvSpPr>
        <p:spPr>
          <a:xfrm>
            <a:off x="550069" y="1792412"/>
            <a:ext cx="3871913" cy="149711"/>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7" name="Text 14"/>
          <p:cNvSpPr/>
          <p:nvPr/>
        </p:nvSpPr>
        <p:spPr>
          <a:xfrm>
            <a:off x="550069" y="1969554"/>
            <a:ext cx="3871913" cy="512368"/>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regeringen inför lag att alla restauranger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MÅSTE</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ha certifierad livsmedelskontroll → plötsligt måste alla pizzerior köpa denna tjänst. Reglering skapar efterfrågan från ingenstans.</a:t>
            </a:r>
            <a:endParaRPr lang="en-US" sz="816" dirty="0"/>
          </a:p>
        </p:txBody>
      </p:sp>
      <p:sp>
        <p:nvSpPr>
          <p:cNvPr id="18" name="Text 15"/>
          <p:cNvSpPr/>
          <p:nvPr/>
        </p:nvSpPr>
        <p:spPr>
          <a:xfrm>
            <a:off x="550069" y="2509354"/>
            <a:ext cx="3871913" cy="357795"/>
          </a:xfrm>
          <a:prstGeom prst="rect">
            <a:avLst/>
          </a:prstGeom>
          <a:noFill/>
          <a:ln/>
        </p:spPr>
        <p:txBody>
          <a:bodyPr wrap="square" lIns="0" tIns="0" rIns="0" bIns="0" rtlCol="0" anchor="t"/>
          <a:lstStyle/>
          <a:p>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Exempel:</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GDPR (2018) → alla företag måste ha data-skydd → boom för cybersäkerhets-bolag.</a:t>
            </a:r>
            <a:endParaRPr lang="en-US" sz="816" dirty="0"/>
          </a:p>
        </p:txBody>
      </p:sp>
      <p:sp>
        <p:nvSpPr>
          <p:cNvPr id="19" name="Shape 16"/>
          <p:cNvSpPr/>
          <p:nvPr/>
        </p:nvSpPr>
        <p:spPr>
          <a:xfrm>
            <a:off x="4622006" y="2029941"/>
            <a:ext cx="4093369" cy="0"/>
          </a:xfrm>
          <a:prstGeom prst="line">
            <a:avLst/>
          </a:prstGeom>
          <a:noFill/>
          <a:ln w="7144">
            <a:solidFill>
              <a:srgbClr val="E2E5EA"/>
            </a:solidFill>
            <a:prstDash val="solid"/>
          </a:ln>
        </p:spPr>
      </p:sp>
      <p:sp>
        <p:nvSpPr>
          <p:cNvPr id="20" name="Text 17"/>
          <p:cNvSpPr/>
          <p:nvPr/>
        </p:nvSpPr>
        <p:spPr>
          <a:xfrm>
            <a:off x="4622006" y="1820987"/>
            <a:ext cx="4521994" cy="227957"/>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622006" y="2076376"/>
          <a:ext cx="4093369" cy="914400"/>
        </p:xfrm>
        <a:graphic>
          <a:graphicData uri="http://schemas.openxmlformats.org/drawingml/2006/table">
            <a:tbl>
              <a:tblPr/>
              <a:tblGrid>
                <a:gridCol w="371029"/>
                <a:gridCol w="1430536"/>
                <a:gridCol w="2291804"/>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Regulatorisk</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 tailwind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Lag kräver bolagets produkt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Tydlig fördel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Reglering gynnar bolag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Neutral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Ingen påverkan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Nackdel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Reglering motarbetar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Hot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Reglering förbjuder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2" name="Text 18"/>
          <p:cNvSpPr/>
          <p:nvPr/>
        </p:nvSpPr>
        <p:spPr>
          <a:xfrm>
            <a:off x="432197" y="3717987"/>
            <a:ext cx="8279606" cy="566589"/>
          </a:xfrm>
          <a:prstGeom prst="roundRect">
            <a:avLst>
              <a:gd name="adj" fmla="val 1008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3" name="Text 19"/>
          <p:cNvSpPr/>
          <p:nvPr/>
        </p:nvSpPr>
        <p:spPr>
          <a:xfrm>
            <a:off x="535781" y="3778709"/>
            <a:ext cx="8072438"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4" name="Text 20"/>
          <p:cNvSpPr/>
          <p:nvPr/>
        </p:nvSpPr>
        <p:spPr>
          <a:xfrm>
            <a:off x="535781" y="3954624"/>
            <a:ext cx="8072438" cy="269230"/>
          </a:xfrm>
          <a:prstGeom prst="rect">
            <a:avLst/>
          </a:prstGeom>
          <a:noFill/>
          <a:ln/>
        </p:spPr>
        <p:txBody>
          <a:bodyPr wrap="square" lIns="0" tIns="0" rIns="0" bIns="0" rtlCol="0" anchor="t"/>
          <a:lstStyle/>
          <a:p>
            <a:pPr algn="l" indent="0" marL="0">
              <a:lnSpc>
                <a:spcPts val="1060"/>
              </a:lnSpc>
              <a:buNone/>
            </a:pPr>
            <a:r>
              <a:rPr lang="en-US" sz="800" b="1" dirty="0">
                <a:solidFill>
                  <a:srgbClr val="1A1F2E"/>
                </a:solidFill>
                <a:latin typeface="Carlito" pitchFamily="34" charset="0"/>
                <a:ea typeface="Carlito" pitchFamily="34" charset="-122"/>
                <a:cs typeface="Carlito" pitchFamily="34" charset="-120"/>
              </a:rPr>
              <a:t>Safestate:</a:t>
            </a:r>
            <a:pPr algn="l" indent="0" marL="0">
              <a:lnSpc>
                <a:spcPts val="1060"/>
              </a:lnSpc>
              <a:buNone/>
            </a:pPr>
            <a:r>
              <a:rPr lang="en-US" sz="800" dirty="0">
                <a:solidFill>
                  <a:srgbClr val="3D4556"/>
                </a:solidFill>
                <a:latin typeface="Carlito" pitchFamily="34" charset="0"/>
                <a:ea typeface="Carlito" pitchFamily="34" charset="-122"/>
                <a:cs typeface="Carlito" pitchFamily="34" charset="-120"/>
              </a:rPr>
              <a:t> NIS2-direktivet (EU 2024) kräver att alla medelstora företag ha cybersäkerhet. </a:t>
            </a:r>
            <a:pPr algn="l" indent="0" marL="0">
              <a:lnSpc>
                <a:spcPts val="1060"/>
              </a:lnSpc>
              <a:buNone/>
            </a:pPr>
            <a:r>
              <a:rPr lang="en-US" sz="800" b="1" dirty="0">
                <a:solidFill>
                  <a:srgbClr val="059669"/>
                </a:solidFill>
                <a:latin typeface="Liberation Sans Narrow" pitchFamily="34" charset="0"/>
                <a:ea typeface="Liberation Sans Narrow" pitchFamily="34" charset="-122"/>
                <a:cs typeface="Liberation Sans Narrow" pitchFamily="34" charset="-120"/>
              </a:rPr>
              <a:t>Stark tailwind. Poäng: 5</a:t>
            </a:r>
            <a:pPr algn="l" indent="0" marL="0">
              <a:lnSpc>
                <a:spcPts val="1060"/>
              </a:lnSpc>
              <a:buNone/>
            </a:pPr>
            <a:r>
              <a:rPr lang="en-US" sz="800" dirty="0">
                <a:solidFill>
                  <a:srgbClr val="3D4556"/>
                </a:solidFill>
                <a:latin typeface="Carlito" pitchFamily="34" charset="0"/>
                <a:ea typeface="Carlito" pitchFamily="34" charset="-122"/>
                <a:cs typeface="Carlito" pitchFamily="34" charset="-120"/>
              </a:rPr>
              <a:t> (stark tailwind). NIS2 skapar efterfrågan från SME-segmentet där Safestate är starka.</a:t>
            </a:r>
            <a:endParaRPr lang="en-US" sz="800" dirty="0"/>
          </a:p>
        </p:txBody>
      </p:sp>
      <p:sp>
        <p:nvSpPr>
          <p:cNvPr id="25" name="Text 21"/>
          <p:cNvSpPr/>
          <p:nvPr/>
        </p:nvSpPr>
        <p:spPr>
          <a:xfrm>
            <a:off x="428625" y="4345298"/>
            <a:ext cx="8286750" cy="658453"/>
          </a:xfrm>
          <a:prstGeom prst="rect">
            <a:avLst/>
          </a:prstGeom>
          <a:solidFill>
            <a:srgbClr val="B8942E">
              <a:alpha val="6000"/>
            </a:srgbClr>
          </a:solidFill>
          <a:ln/>
        </p:spPr>
        <p:txBody>
          <a:bodyPr wrap="square" rtlCol="0" anchor="ctr"/>
          <a:lstStyle/>
          <a:p>
            <a:pPr indent="0" marL="0">
              <a:buNone/>
            </a:pPr>
            <a:endParaRPr lang="en-US" dirty="0"/>
          </a:p>
        </p:txBody>
      </p:sp>
      <p:sp>
        <p:nvSpPr>
          <p:cNvPr id="26" name="Shape 22"/>
          <p:cNvSpPr/>
          <p:nvPr/>
        </p:nvSpPr>
        <p:spPr>
          <a:xfrm>
            <a:off x="439341" y="4345298"/>
            <a:ext cx="0" cy="658453"/>
          </a:xfrm>
          <a:prstGeom prst="line">
            <a:avLst/>
          </a:prstGeom>
          <a:noFill/>
          <a:ln w="21431">
            <a:solidFill>
              <a:srgbClr val="B8942E"/>
            </a:solidFill>
            <a:prstDash val="solid"/>
          </a:ln>
        </p:spPr>
      </p:sp>
      <p:sp>
        <p:nvSpPr>
          <p:cNvPr id="27" name="Text 23"/>
          <p:cNvSpPr/>
          <p:nvPr/>
        </p:nvSpPr>
        <p:spPr>
          <a:xfrm>
            <a:off x="550069" y="4409591"/>
            <a:ext cx="8065294"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8" name="Text 24"/>
          <p:cNvSpPr/>
          <p:nvPr/>
        </p:nvSpPr>
        <p:spPr>
          <a:xfrm>
            <a:off x="550069" y="4579590"/>
            <a:ext cx="8065294"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Regulatorisk katalysator =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"lagbunden efterfrågan"</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Om lagen kräver bolagets produkt → intäkter nästan garanterade. Detta minskar emission-risk eftersom intäkterna blir mer förutsägbara.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NIS2 för Safestate = garanterad intäktstillväxt = snabbare break-even = lägre emission-risk.</a:t>
            </a:r>
            <a:endParaRPr lang="en-US" sz="816" dirty="0"/>
          </a:p>
        </p:txBody>
      </p:sp>
      <p:sp>
        <p:nvSpPr>
          <p:cNvPr id="29" name="Shape 25"/>
          <p:cNvSpPr/>
          <p:nvPr/>
        </p:nvSpPr>
        <p:spPr>
          <a:xfrm>
            <a:off x="457200" y="4850606"/>
            <a:ext cx="8229600" cy="0"/>
          </a:xfrm>
          <a:prstGeom prst="line">
            <a:avLst/>
          </a:prstGeom>
          <a:noFill/>
          <a:ln w="7144">
            <a:solidFill>
              <a:srgbClr val="E2E5EA"/>
            </a:solidFill>
            <a:prstDash val="solid"/>
          </a:ln>
        </p:spPr>
      </p:sp>
      <p:sp>
        <p:nvSpPr>
          <p:cNvPr id="30" name="Text 26"/>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6 — Katalysator</a:t>
            </a:r>
            <a:endParaRPr lang="en-US" sz="800" dirty="0"/>
          </a:p>
        </p:txBody>
      </p:sp>
      <p:sp>
        <p:nvSpPr>
          <p:cNvPr id="31" name="Text 27"/>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31 / 40</a:t>
            </a:r>
            <a:endParaRPr lang="en-US" sz="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82873"/>
            <a:ext cx="8286750" cy="0"/>
          </a:xfrm>
          <a:prstGeom prst="line">
            <a:avLst/>
          </a:prstGeom>
          <a:noFill/>
          <a:ln w="7144">
            <a:solidFill>
              <a:srgbClr val="E2E5EA"/>
            </a:solidFill>
            <a:prstDash val="solid"/>
          </a:ln>
        </p:spPr>
      </p:sp>
      <p:sp>
        <p:nvSpPr>
          <p:cNvPr id="3" name="Text 1"/>
          <p:cNvSpPr/>
          <p:nvPr/>
        </p:nvSpPr>
        <p:spPr>
          <a:xfrm>
            <a:off x="428625" y="257175"/>
            <a:ext cx="753018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KATALYSATOR</a:t>
            </a:r>
            <a:endParaRPr lang="en-US" sz="800" dirty="0"/>
          </a:p>
        </p:txBody>
      </p:sp>
      <p:sp>
        <p:nvSpPr>
          <p:cNvPr id="4" name="Text 2"/>
          <p:cNvSpPr/>
          <p:nvPr/>
        </p:nvSpPr>
        <p:spPr>
          <a:xfrm>
            <a:off x="7965143" y="274811"/>
            <a:ext cx="758183"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17 · 32 / 40</a:t>
            </a:r>
            <a:endParaRPr lang="en-US" sz="619" dirty="0"/>
          </a:p>
        </p:txBody>
      </p:sp>
      <p:sp>
        <p:nvSpPr>
          <p:cNvPr id="5" name="Text 3"/>
          <p:cNvSpPr/>
          <p:nvPr/>
        </p:nvSpPr>
        <p:spPr>
          <a:xfrm>
            <a:off x="428625" y="615032"/>
            <a:ext cx="8636000" cy="200387"/>
          </a:xfrm>
          <a:prstGeom prst="rect">
            <a:avLst/>
          </a:prstGeom>
          <a:noFill/>
          <a:ln/>
        </p:spPr>
        <p:txBody>
          <a:bodyPr wrap="square" lIns="0" tIns="0" rIns="0" bIns="0" rtlCol="0" anchor="t">
            <a:normAutofit/>
          </a:bodyPr>
          <a:lstStyle/>
          <a:p>
            <a:pPr algn="l" indent="0" marL="0">
              <a:lnSpc>
                <a:spcPts val="1682"/>
              </a:lnSpc>
              <a:buNone/>
            </a:pPr>
            <a:r>
              <a:rPr lang="en-US" sz="1463" b="1" spc="-28" kern="0" dirty="0">
                <a:solidFill>
                  <a:srgbClr val="1A1F2E"/>
                </a:solidFill>
                <a:latin typeface="Liberation Sans Narrow" pitchFamily="34" charset="0"/>
                <a:ea typeface="Liberation Sans Narrow" pitchFamily="34" charset="-122"/>
                <a:cs typeface="Liberation Sans Narrow" pitchFamily="34" charset="-120"/>
              </a:rPr>
              <a:t>Variabel 17: Branschtrend</a:t>
            </a:r>
            <a:endParaRPr lang="en-US" sz="1463" dirty="0"/>
          </a:p>
        </p:txBody>
      </p:sp>
      <p:sp>
        <p:nvSpPr>
          <p:cNvPr id="6" name="Text 4"/>
          <p:cNvSpPr/>
          <p:nvPr/>
        </p:nvSpPr>
        <p:spPr>
          <a:xfrm>
            <a:off x="428625" y="842851"/>
            <a:ext cx="8636000" cy="181002"/>
          </a:xfrm>
          <a:prstGeom prst="rect">
            <a:avLst/>
          </a:prstGeom>
          <a:noFill/>
          <a:ln/>
        </p:spPr>
        <p:txBody>
          <a:bodyPr wrap="square" lIns="0" tIns="0" rIns="0" bIns="0" rtlCol="0" anchor="t"/>
          <a:lstStyle/>
          <a:p>
            <a:pPr algn="l" indent="0" marL="0">
              <a:lnSpc>
                <a:spcPts val="1299"/>
              </a:lnSpc>
              <a:buNone/>
            </a:pPr>
            <a:r>
              <a:rPr lang="en-US" sz="800" spc="68" kern="0" dirty="0">
                <a:solidFill>
                  <a:srgbClr val="B8942E"/>
                </a:solidFill>
                <a:latin typeface="Carlito" pitchFamily="34" charset="0"/>
                <a:ea typeface="Carlito" pitchFamily="34" charset="-122"/>
                <a:cs typeface="Carlito" pitchFamily="34" charset="-120"/>
              </a:rPr>
              <a:t>STRUKTURELL MARKNADSTILLVÄXT — VÄXER HELA MARKNADEN?</a:t>
            </a:r>
            <a:endParaRPr lang="en-US" sz="800" dirty="0"/>
          </a:p>
        </p:txBody>
      </p:sp>
      <p:pic>
        <p:nvPicPr>
          <p:cNvPr id="7" name="Image 0" descr="preencoded.png">    </p:cNvPr>
          <p:cNvPicPr>
            <a:picLocks noChangeAspect="1"/>
          </p:cNvPicPr>
          <p:nvPr/>
        </p:nvPicPr>
        <p:blipFill>
          <a:blip r:embed="rId1"/>
          <a:stretch>
            <a:fillRect/>
          </a:stretch>
        </p:blipFill>
        <p:spPr>
          <a:xfrm>
            <a:off x="428625" y="1093552"/>
            <a:ext cx="8286750" cy="498835"/>
          </a:xfrm>
          <a:prstGeom prst="rect">
            <a:avLst/>
          </a:prstGeom>
        </p:spPr>
      </p:pic>
      <p:sp>
        <p:nvSpPr>
          <p:cNvPr id="8" name="Shape 5"/>
          <p:cNvSpPr/>
          <p:nvPr/>
        </p:nvSpPr>
        <p:spPr>
          <a:xfrm>
            <a:off x="428625" y="1097124"/>
            <a:ext cx="8286750" cy="0"/>
          </a:xfrm>
          <a:prstGeom prst="line">
            <a:avLst/>
          </a:prstGeom>
          <a:noFill/>
          <a:ln w="7144">
            <a:solidFill>
              <a:srgbClr val="B8942E"/>
            </a:solidFill>
            <a:prstDash val="solid"/>
          </a:ln>
        </p:spPr>
      </p:sp>
      <p:sp>
        <p:nvSpPr>
          <p:cNvPr id="9" name="Shape 6"/>
          <p:cNvSpPr/>
          <p:nvPr/>
        </p:nvSpPr>
        <p:spPr>
          <a:xfrm>
            <a:off x="8711803" y="1093552"/>
            <a:ext cx="0" cy="498835"/>
          </a:xfrm>
          <a:prstGeom prst="line">
            <a:avLst/>
          </a:prstGeom>
          <a:noFill/>
          <a:ln w="7144">
            <a:solidFill>
              <a:srgbClr val="B8942E"/>
            </a:solidFill>
            <a:prstDash val="solid"/>
          </a:ln>
        </p:spPr>
      </p:sp>
      <p:sp>
        <p:nvSpPr>
          <p:cNvPr id="10" name="Shape 7"/>
          <p:cNvSpPr/>
          <p:nvPr/>
        </p:nvSpPr>
        <p:spPr>
          <a:xfrm>
            <a:off x="428625" y="1588815"/>
            <a:ext cx="8286750" cy="0"/>
          </a:xfrm>
          <a:prstGeom prst="line">
            <a:avLst/>
          </a:prstGeom>
          <a:noFill/>
          <a:ln w="7144">
            <a:solidFill>
              <a:srgbClr val="B8942E"/>
            </a:solidFill>
            <a:prstDash val="solid"/>
          </a:ln>
        </p:spPr>
      </p:sp>
      <p:sp>
        <p:nvSpPr>
          <p:cNvPr id="11" name="Shape 8"/>
          <p:cNvSpPr/>
          <p:nvPr/>
        </p:nvSpPr>
        <p:spPr>
          <a:xfrm>
            <a:off x="442913" y="1093552"/>
            <a:ext cx="0" cy="498835"/>
          </a:xfrm>
          <a:prstGeom prst="line">
            <a:avLst/>
          </a:prstGeom>
          <a:noFill/>
          <a:ln w="28575">
            <a:solidFill>
              <a:srgbClr val="B8942E"/>
            </a:solidFill>
            <a:prstDash val="solid"/>
          </a:ln>
        </p:spPr>
      </p:sp>
      <p:sp>
        <p:nvSpPr>
          <p:cNvPr id="12" name="Text 9"/>
          <p:cNvSpPr/>
          <p:nvPr/>
        </p:nvSpPr>
        <p:spPr>
          <a:xfrm>
            <a:off x="571500" y="1172133"/>
            <a:ext cx="8132159" cy="161096"/>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Branschtrend = årlig tillväxt i bolagets marknad</a:t>
            </a:r>
            <a:endParaRPr lang="en-US" sz="900" dirty="0"/>
          </a:p>
        </p:txBody>
      </p:sp>
      <p:sp>
        <p:nvSpPr>
          <p:cNvPr id="13" name="Text 10"/>
          <p:cNvSpPr/>
          <p:nvPr/>
        </p:nvSpPr>
        <p:spPr>
          <a:xfrm>
            <a:off x="571500" y="1360661"/>
            <a:ext cx="8022431" cy="153144"/>
          </a:xfrm>
          <a:prstGeom prst="rect">
            <a:avLst/>
          </a:prstGeom>
          <a:noFill/>
          <a:ln/>
        </p:spPr>
        <p:txBody>
          <a:bodyPr wrap="square" lIns="0" tIns="0" rIns="0" bIns="0" rtlCol="0" anchor="t"/>
          <a:lstStyle/>
          <a:p>
            <a:pPr algn="l" indent="0" marL="0">
              <a:lnSpc>
                <a:spcPts val="1207"/>
              </a:lnSpc>
              <a:buNone/>
            </a:pPr>
            <a:r>
              <a:rPr lang="en-US" sz="800" i="1" dirty="0">
                <a:solidFill>
                  <a:srgbClr val="3D4556"/>
                </a:solidFill>
                <a:latin typeface="Carlito" pitchFamily="34" charset="0"/>
                <a:ea typeface="Carlito" pitchFamily="34" charset="-122"/>
                <a:cs typeface="Carlito" pitchFamily="34" charset="-120"/>
              </a:rPr>
              <a:t>(Enkelt: växer pajen som bolaget vill ha en bit av?)</a:t>
            </a:r>
            <a:endParaRPr lang="en-US" sz="800" dirty="0"/>
          </a:p>
        </p:txBody>
      </p:sp>
      <p:sp>
        <p:nvSpPr>
          <p:cNvPr id="14" name="Text 11"/>
          <p:cNvSpPr/>
          <p:nvPr/>
        </p:nvSpPr>
        <p:spPr>
          <a:xfrm>
            <a:off x="428625" y="1720974"/>
            <a:ext cx="4093369" cy="1936291"/>
          </a:xfrm>
          <a:prstGeom prst="rect">
            <a:avLst/>
          </a:prstGeom>
          <a:solidFill>
            <a:srgbClr val="2563EB">
              <a:alpha val="6000"/>
            </a:srgbClr>
          </a:solidFill>
          <a:ln/>
        </p:spPr>
        <p:txBody>
          <a:bodyPr wrap="square" rtlCol="0" anchor="ctr"/>
          <a:lstStyle/>
          <a:p>
            <a:pPr indent="0" marL="0">
              <a:buNone/>
            </a:pPr>
            <a:endParaRPr lang="en-US" dirty="0"/>
          </a:p>
        </p:txBody>
      </p:sp>
      <p:sp>
        <p:nvSpPr>
          <p:cNvPr id="15" name="Shape 12"/>
          <p:cNvSpPr/>
          <p:nvPr/>
        </p:nvSpPr>
        <p:spPr>
          <a:xfrm>
            <a:off x="439341" y="1720974"/>
            <a:ext cx="0" cy="1936291"/>
          </a:xfrm>
          <a:prstGeom prst="line">
            <a:avLst/>
          </a:prstGeom>
          <a:noFill/>
          <a:ln w="21431">
            <a:solidFill>
              <a:srgbClr val="2563EB"/>
            </a:solidFill>
            <a:prstDash val="solid"/>
          </a:ln>
        </p:spPr>
      </p:sp>
      <p:sp>
        <p:nvSpPr>
          <p:cNvPr id="16" name="Text 13"/>
          <p:cNvSpPr/>
          <p:nvPr/>
        </p:nvSpPr>
        <p:spPr>
          <a:xfrm>
            <a:off x="550069" y="1792412"/>
            <a:ext cx="3871913" cy="149711"/>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7" name="Text 14"/>
          <p:cNvSpPr/>
          <p:nvPr/>
        </p:nvSpPr>
        <p:spPr>
          <a:xfrm>
            <a:off x="550069" y="1969554"/>
            <a:ext cx="3871913" cy="346722"/>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svenskarna äter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10% mer pizza varje år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stark branschtrend. Alla pizzerior växer, även utan att ta marknadsandelar.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"Alla båtar stiger med tidvattnet."</a:t>
            </a:r>
            <a:endParaRPr lang="en-US" sz="816" dirty="0"/>
          </a:p>
        </p:txBody>
      </p:sp>
      <p:sp>
        <p:nvSpPr>
          <p:cNvPr id="18" name="Text 15"/>
          <p:cNvSpPr/>
          <p:nvPr/>
        </p:nvSpPr>
        <p:spPr>
          <a:xfrm>
            <a:off x="550069" y="2343708"/>
            <a:ext cx="387191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svenskarna äter mindre pizza = negativ branschtrend. Pizzerian måste ta marknadsandelar från konkurrenter för att växa.</a:t>
            </a:r>
            <a:endParaRPr lang="en-US" sz="816" dirty="0"/>
          </a:p>
        </p:txBody>
      </p:sp>
      <p:sp>
        <p:nvSpPr>
          <p:cNvPr id="19" name="Shape 16"/>
          <p:cNvSpPr/>
          <p:nvPr/>
        </p:nvSpPr>
        <p:spPr>
          <a:xfrm>
            <a:off x="4622006" y="2029941"/>
            <a:ext cx="4093369" cy="0"/>
          </a:xfrm>
          <a:prstGeom prst="line">
            <a:avLst/>
          </a:prstGeom>
          <a:noFill/>
          <a:ln w="7144">
            <a:solidFill>
              <a:srgbClr val="E2E5EA"/>
            </a:solidFill>
            <a:prstDash val="solid"/>
          </a:ln>
        </p:spPr>
      </p:sp>
      <p:sp>
        <p:nvSpPr>
          <p:cNvPr id="20" name="Text 17"/>
          <p:cNvSpPr/>
          <p:nvPr/>
        </p:nvSpPr>
        <p:spPr>
          <a:xfrm>
            <a:off x="4622006" y="1820987"/>
            <a:ext cx="4521994" cy="227957"/>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622006" y="2076376"/>
          <a:ext cx="4093369" cy="914400"/>
        </p:xfrm>
        <a:graphic>
          <a:graphicData uri="http://schemas.openxmlformats.org/drawingml/2006/table">
            <a:tbl>
              <a:tblPr/>
              <a:tblGrid>
                <a:gridCol w="371029"/>
                <a:gridCol w="1583345"/>
                <a:gridCol w="2138995"/>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Branschtrend</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15%/år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Starkt växande marknad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8–15%/år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Växande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3–8%/år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Stabil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0–3%/år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Stagnerande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0%/år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Krympande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2" name="Text 18"/>
          <p:cNvSpPr/>
          <p:nvPr/>
        </p:nvSpPr>
        <p:spPr>
          <a:xfrm>
            <a:off x="432197" y="3717987"/>
            <a:ext cx="8279606" cy="431974"/>
          </a:xfrm>
          <a:prstGeom prst="roundRect">
            <a:avLst>
              <a:gd name="adj" fmla="val 13230"/>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3" name="Text 19"/>
          <p:cNvSpPr/>
          <p:nvPr/>
        </p:nvSpPr>
        <p:spPr>
          <a:xfrm>
            <a:off x="535781" y="3778709"/>
            <a:ext cx="8072438"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4" name="Text 20"/>
          <p:cNvSpPr/>
          <p:nvPr/>
        </p:nvSpPr>
        <p:spPr>
          <a:xfrm>
            <a:off x="535781" y="3954624"/>
            <a:ext cx="8072438" cy="134615"/>
          </a:xfrm>
          <a:prstGeom prst="rect">
            <a:avLst/>
          </a:prstGeom>
          <a:noFill/>
          <a:ln/>
        </p:spPr>
        <p:txBody>
          <a:bodyPr wrap="square" lIns="0" tIns="0" rIns="0" bIns="0" rtlCol="0" anchor="t"/>
          <a:lstStyle/>
          <a:p>
            <a:pPr algn="l" indent="0" marL="0">
              <a:lnSpc>
                <a:spcPts val="1060"/>
              </a:lnSpc>
              <a:buNone/>
            </a:pPr>
            <a:r>
              <a:rPr lang="en-US" sz="731" b="1" dirty="0">
                <a:solidFill>
                  <a:srgbClr val="1A1F2E"/>
                </a:solidFill>
                <a:latin typeface="Carlito" pitchFamily="34" charset="0"/>
                <a:ea typeface="Carlito" pitchFamily="34" charset="-122"/>
                <a:cs typeface="Carlito" pitchFamily="34" charset="-120"/>
              </a:rPr>
              <a:t>Safestate:</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Cybersäkerhetsmarknaden växer </a:t>
            </a:r>
            <a:pPr algn="l" indent="0" marL="0">
              <a:lnSpc>
                <a:spcPts val="1060"/>
              </a:lnSpc>
              <a:buNone/>
            </a:pPr>
            <a:r>
              <a:rPr lang="en-US" sz="731" b="1" dirty="0">
                <a:solidFill>
                  <a:srgbClr val="B8942E"/>
                </a:solidFill>
                <a:latin typeface="Liberation Sans Narrow" pitchFamily="34" charset="0"/>
                <a:ea typeface="Liberation Sans Narrow" pitchFamily="34" charset="-122"/>
                <a:cs typeface="Liberation Sans Narrow" pitchFamily="34" charset="-120"/>
              </a:rPr>
              <a:t>12–15% årligen globalt</a:t>
            </a:r>
            <a:pPr algn="l" indent="0" marL="0">
              <a:lnSpc>
                <a:spcPts val="1060"/>
              </a:lnSpc>
              <a:buNone/>
            </a:pPr>
            <a:r>
              <a:rPr lang="en-US" sz="731" dirty="0">
                <a:solidFill>
                  <a:srgbClr val="3D4556"/>
                </a:solidFill>
                <a:latin typeface="Liberation Sans Narrow" pitchFamily="34" charset="0"/>
                <a:ea typeface="Liberation Sans Narrow" pitchFamily="34" charset="-122"/>
                <a:cs typeface="Liberation Sans Narrow" pitchFamily="34" charset="-120"/>
              </a:rPr>
              <a:t>. Sverige 8–10 Md SEK. </a:t>
            </a:r>
            <a:pPr algn="l" indent="0" marL="0">
              <a:lnSpc>
                <a:spcPts val="1060"/>
              </a:lnSpc>
              <a:buNone/>
            </a:pPr>
            <a:r>
              <a:rPr lang="en-US" sz="731" b="1" dirty="0">
                <a:solidFill>
                  <a:srgbClr val="059669"/>
                </a:solidFill>
                <a:latin typeface="Liberation Sans Narrow" pitchFamily="34" charset="0"/>
                <a:ea typeface="Liberation Sans Narrow" pitchFamily="34" charset="-122"/>
                <a:cs typeface="Liberation Sans Narrow" pitchFamily="34" charset="-120"/>
              </a:rPr>
              <a:t>Poäng: 4</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(växande). Cyberhot ökar varje år → efterfrågan på skydd ökar.</a:t>
            </a:r>
            <a:endParaRPr lang="en-US" sz="731" dirty="0"/>
          </a:p>
        </p:txBody>
      </p:sp>
      <p:sp>
        <p:nvSpPr>
          <p:cNvPr id="25" name="Text 21"/>
          <p:cNvSpPr/>
          <p:nvPr/>
        </p:nvSpPr>
        <p:spPr>
          <a:xfrm>
            <a:off x="428625" y="4210683"/>
            <a:ext cx="8286750" cy="658453"/>
          </a:xfrm>
          <a:prstGeom prst="rect">
            <a:avLst/>
          </a:prstGeom>
          <a:solidFill>
            <a:srgbClr val="B8942E">
              <a:alpha val="6000"/>
            </a:srgbClr>
          </a:solidFill>
          <a:ln/>
        </p:spPr>
        <p:txBody>
          <a:bodyPr wrap="square" rtlCol="0" anchor="ctr"/>
          <a:lstStyle/>
          <a:p>
            <a:pPr indent="0" marL="0">
              <a:buNone/>
            </a:pPr>
            <a:endParaRPr lang="en-US" dirty="0"/>
          </a:p>
        </p:txBody>
      </p:sp>
      <p:sp>
        <p:nvSpPr>
          <p:cNvPr id="26" name="Shape 22"/>
          <p:cNvSpPr/>
          <p:nvPr/>
        </p:nvSpPr>
        <p:spPr>
          <a:xfrm>
            <a:off x="439341" y="4210683"/>
            <a:ext cx="0" cy="658453"/>
          </a:xfrm>
          <a:prstGeom prst="line">
            <a:avLst/>
          </a:prstGeom>
          <a:noFill/>
          <a:ln w="21431">
            <a:solidFill>
              <a:srgbClr val="B8942E"/>
            </a:solidFill>
            <a:prstDash val="solid"/>
          </a:ln>
        </p:spPr>
      </p:sp>
      <p:sp>
        <p:nvSpPr>
          <p:cNvPr id="27" name="Text 23"/>
          <p:cNvSpPr/>
          <p:nvPr/>
        </p:nvSpPr>
        <p:spPr>
          <a:xfrm>
            <a:off x="550069" y="4274976"/>
            <a:ext cx="8065294"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8" name="Text 24"/>
          <p:cNvSpPr/>
          <p:nvPr/>
        </p:nvSpPr>
        <p:spPr>
          <a:xfrm>
            <a:off x="550069" y="4444975"/>
            <a:ext cx="8065294"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Branschtrend påverkar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variabel 19 indirekt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Växande marknad = bolag kan växa utan att ta marknadsandelar = stabilare intäkter = snabbare break-even = lägre emission-risk.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Välj bolag i växande branscher — de har vind i ryggen.</a:t>
            </a:r>
            <a:endParaRPr lang="en-US" sz="816" dirty="0"/>
          </a:p>
        </p:txBody>
      </p:sp>
      <p:sp>
        <p:nvSpPr>
          <p:cNvPr id="29" name="Shape 25"/>
          <p:cNvSpPr/>
          <p:nvPr/>
        </p:nvSpPr>
        <p:spPr>
          <a:xfrm>
            <a:off x="457200" y="4850606"/>
            <a:ext cx="8229600" cy="0"/>
          </a:xfrm>
          <a:prstGeom prst="line">
            <a:avLst/>
          </a:prstGeom>
          <a:noFill/>
          <a:ln w="7144">
            <a:solidFill>
              <a:srgbClr val="E2E5EA"/>
            </a:solidFill>
            <a:prstDash val="solid"/>
          </a:ln>
        </p:spPr>
      </p:sp>
      <p:sp>
        <p:nvSpPr>
          <p:cNvPr id="30" name="Text 26"/>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6 — Katalysator</a:t>
            </a:r>
            <a:endParaRPr lang="en-US" sz="800" dirty="0"/>
          </a:p>
        </p:txBody>
      </p:sp>
      <p:sp>
        <p:nvSpPr>
          <p:cNvPr id="31" name="Text 27"/>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32 / 40</a:t>
            </a:r>
            <a:endParaRPr lang="en-US" sz="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82873"/>
            <a:ext cx="8286750" cy="0"/>
          </a:xfrm>
          <a:prstGeom prst="line">
            <a:avLst/>
          </a:prstGeom>
          <a:noFill/>
          <a:ln w="7144">
            <a:solidFill>
              <a:srgbClr val="E2E5EA"/>
            </a:solidFill>
            <a:prstDash val="solid"/>
          </a:ln>
        </p:spPr>
      </p:sp>
      <p:sp>
        <p:nvSpPr>
          <p:cNvPr id="3" name="Text 1"/>
          <p:cNvSpPr/>
          <p:nvPr/>
        </p:nvSpPr>
        <p:spPr>
          <a:xfrm>
            <a:off x="428625" y="257175"/>
            <a:ext cx="753018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KATALYSATOR</a:t>
            </a:r>
            <a:endParaRPr lang="en-US" sz="800" dirty="0"/>
          </a:p>
        </p:txBody>
      </p:sp>
      <p:sp>
        <p:nvSpPr>
          <p:cNvPr id="4" name="Text 2"/>
          <p:cNvSpPr/>
          <p:nvPr/>
        </p:nvSpPr>
        <p:spPr>
          <a:xfrm>
            <a:off x="7965143" y="274811"/>
            <a:ext cx="758183"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17 · 33 / 40</a:t>
            </a:r>
            <a:endParaRPr lang="en-US" sz="619" dirty="0"/>
          </a:p>
        </p:txBody>
      </p:sp>
      <p:sp>
        <p:nvSpPr>
          <p:cNvPr id="5" name="Text 3"/>
          <p:cNvSpPr/>
          <p:nvPr/>
        </p:nvSpPr>
        <p:spPr>
          <a:xfrm>
            <a:off x="428625" y="615032"/>
            <a:ext cx="8636000" cy="200387"/>
          </a:xfrm>
          <a:prstGeom prst="rect">
            <a:avLst/>
          </a:prstGeom>
          <a:noFill/>
          <a:ln/>
        </p:spPr>
        <p:txBody>
          <a:bodyPr wrap="square" lIns="0" tIns="0" rIns="0" bIns="0" rtlCol="0" anchor="t">
            <a:normAutofit/>
          </a:bodyPr>
          <a:lstStyle/>
          <a:p>
            <a:pPr algn="l" indent="0" marL="0">
              <a:lnSpc>
                <a:spcPts val="1682"/>
              </a:lnSpc>
              <a:buNone/>
            </a:pPr>
            <a:r>
              <a:rPr lang="en-US" sz="1463" b="1" spc="-28" kern="0" dirty="0">
                <a:solidFill>
                  <a:srgbClr val="1A1F2E"/>
                </a:solidFill>
                <a:latin typeface="Liberation Sans Narrow" pitchFamily="34" charset="0"/>
                <a:ea typeface="Liberation Sans Narrow" pitchFamily="34" charset="-122"/>
                <a:cs typeface="Liberation Sans Narrow" pitchFamily="34" charset="-120"/>
              </a:rPr>
              <a:t>Variabel 17: Event-driven</a:t>
            </a:r>
            <a:endParaRPr lang="en-US" sz="1463" dirty="0"/>
          </a:p>
        </p:txBody>
      </p:sp>
      <p:sp>
        <p:nvSpPr>
          <p:cNvPr id="6" name="Text 4"/>
          <p:cNvSpPr/>
          <p:nvPr/>
        </p:nvSpPr>
        <p:spPr>
          <a:xfrm>
            <a:off x="428625" y="842851"/>
            <a:ext cx="8636000" cy="181002"/>
          </a:xfrm>
          <a:prstGeom prst="rect">
            <a:avLst/>
          </a:prstGeom>
          <a:noFill/>
          <a:ln/>
        </p:spPr>
        <p:txBody>
          <a:bodyPr wrap="square" lIns="0" tIns="0" rIns="0" bIns="0" rtlCol="0" anchor="t"/>
          <a:lstStyle/>
          <a:p>
            <a:pPr algn="l" indent="0" marL="0">
              <a:lnSpc>
                <a:spcPts val="1299"/>
              </a:lnSpc>
              <a:buNone/>
            </a:pPr>
            <a:r>
              <a:rPr lang="en-US" sz="800" spc="68" kern="0" dirty="0">
                <a:solidFill>
                  <a:srgbClr val="B8942E"/>
                </a:solidFill>
                <a:latin typeface="Carlito" pitchFamily="34" charset="0"/>
                <a:ea typeface="Carlito" pitchFamily="34" charset="-122"/>
                <a:cs typeface="Carlito" pitchFamily="34" charset="-120"/>
              </a:rPr>
              <a:t>KONKRETA HÄNDELSER — FUSION, AVTAL, GODKÄNNANDEN</a:t>
            </a:r>
            <a:endParaRPr lang="en-US" sz="800" dirty="0"/>
          </a:p>
        </p:txBody>
      </p:sp>
      <p:pic>
        <p:nvPicPr>
          <p:cNvPr id="7" name="Image 0" descr="preencoded.png">    </p:cNvPr>
          <p:cNvPicPr>
            <a:picLocks noChangeAspect="1"/>
          </p:cNvPicPr>
          <p:nvPr/>
        </p:nvPicPr>
        <p:blipFill>
          <a:blip r:embed="rId1"/>
          <a:stretch>
            <a:fillRect/>
          </a:stretch>
        </p:blipFill>
        <p:spPr>
          <a:xfrm>
            <a:off x="428625" y="1093552"/>
            <a:ext cx="8286750" cy="498835"/>
          </a:xfrm>
          <a:prstGeom prst="rect">
            <a:avLst/>
          </a:prstGeom>
        </p:spPr>
      </p:pic>
      <p:sp>
        <p:nvSpPr>
          <p:cNvPr id="8" name="Shape 5"/>
          <p:cNvSpPr/>
          <p:nvPr/>
        </p:nvSpPr>
        <p:spPr>
          <a:xfrm>
            <a:off x="428625" y="1097124"/>
            <a:ext cx="8286750" cy="0"/>
          </a:xfrm>
          <a:prstGeom prst="line">
            <a:avLst/>
          </a:prstGeom>
          <a:noFill/>
          <a:ln w="7144">
            <a:solidFill>
              <a:srgbClr val="B8942E"/>
            </a:solidFill>
            <a:prstDash val="solid"/>
          </a:ln>
        </p:spPr>
      </p:sp>
      <p:sp>
        <p:nvSpPr>
          <p:cNvPr id="9" name="Shape 6"/>
          <p:cNvSpPr/>
          <p:nvPr/>
        </p:nvSpPr>
        <p:spPr>
          <a:xfrm>
            <a:off x="8711803" y="1093552"/>
            <a:ext cx="0" cy="498835"/>
          </a:xfrm>
          <a:prstGeom prst="line">
            <a:avLst/>
          </a:prstGeom>
          <a:noFill/>
          <a:ln w="7144">
            <a:solidFill>
              <a:srgbClr val="B8942E"/>
            </a:solidFill>
            <a:prstDash val="solid"/>
          </a:ln>
        </p:spPr>
      </p:sp>
      <p:sp>
        <p:nvSpPr>
          <p:cNvPr id="10" name="Shape 7"/>
          <p:cNvSpPr/>
          <p:nvPr/>
        </p:nvSpPr>
        <p:spPr>
          <a:xfrm>
            <a:off x="428625" y="1588815"/>
            <a:ext cx="8286750" cy="0"/>
          </a:xfrm>
          <a:prstGeom prst="line">
            <a:avLst/>
          </a:prstGeom>
          <a:noFill/>
          <a:ln w="7144">
            <a:solidFill>
              <a:srgbClr val="B8942E"/>
            </a:solidFill>
            <a:prstDash val="solid"/>
          </a:ln>
        </p:spPr>
      </p:sp>
      <p:sp>
        <p:nvSpPr>
          <p:cNvPr id="11" name="Shape 8"/>
          <p:cNvSpPr/>
          <p:nvPr/>
        </p:nvSpPr>
        <p:spPr>
          <a:xfrm>
            <a:off x="442913" y="1093552"/>
            <a:ext cx="0" cy="498835"/>
          </a:xfrm>
          <a:prstGeom prst="line">
            <a:avLst/>
          </a:prstGeom>
          <a:noFill/>
          <a:ln w="28575">
            <a:solidFill>
              <a:srgbClr val="B8942E"/>
            </a:solidFill>
            <a:prstDash val="solid"/>
          </a:ln>
        </p:spPr>
      </p:sp>
      <p:sp>
        <p:nvSpPr>
          <p:cNvPr id="12" name="Text 9"/>
          <p:cNvSpPr/>
          <p:nvPr/>
        </p:nvSpPr>
        <p:spPr>
          <a:xfrm>
            <a:off x="571500" y="1172133"/>
            <a:ext cx="8022431" cy="161096"/>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Event-driven = specifika händelser som kan driva kursen</a:t>
            </a:r>
            <a:endParaRPr lang="en-US" sz="900" dirty="0"/>
          </a:p>
        </p:txBody>
      </p:sp>
      <p:sp>
        <p:nvSpPr>
          <p:cNvPr id="13" name="Text 10"/>
          <p:cNvSpPr/>
          <p:nvPr/>
        </p:nvSpPr>
        <p:spPr>
          <a:xfrm>
            <a:off x="571500" y="1360661"/>
            <a:ext cx="8022431" cy="153144"/>
          </a:xfrm>
          <a:prstGeom prst="rect">
            <a:avLst/>
          </a:prstGeom>
          <a:noFill/>
          <a:ln/>
        </p:spPr>
        <p:txBody>
          <a:bodyPr wrap="square" lIns="0" tIns="0" rIns="0" bIns="0" rtlCol="0" anchor="t"/>
          <a:lstStyle/>
          <a:p>
            <a:pPr algn="l" indent="0" marL="0">
              <a:lnSpc>
                <a:spcPts val="1207"/>
              </a:lnSpc>
              <a:buNone/>
            </a:pPr>
            <a:r>
              <a:rPr lang="en-US" sz="800" i="1" dirty="0">
                <a:solidFill>
                  <a:srgbClr val="3D4556"/>
                </a:solidFill>
                <a:latin typeface="Carlito" pitchFamily="34" charset="0"/>
                <a:ea typeface="Carlito" pitchFamily="34" charset="-122"/>
                <a:cs typeface="Carlito" pitchFamily="34" charset="-120"/>
              </a:rPr>
              <a:t>(Enkelt: finns det konkreta nyheter på gång som kan höja aktien?)</a:t>
            </a:r>
            <a:endParaRPr lang="en-US" sz="800" dirty="0"/>
          </a:p>
        </p:txBody>
      </p:sp>
      <p:sp>
        <p:nvSpPr>
          <p:cNvPr id="14" name="Text 11"/>
          <p:cNvSpPr/>
          <p:nvPr/>
        </p:nvSpPr>
        <p:spPr>
          <a:xfrm>
            <a:off x="428625" y="1720974"/>
            <a:ext cx="4093369" cy="1936291"/>
          </a:xfrm>
          <a:prstGeom prst="rect">
            <a:avLst/>
          </a:prstGeom>
          <a:solidFill>
            <a:srgbClr val="2563EB">
              <a:alpha val="6000"/>
            </a:srgbClr>
          </a:solidFill>
          <a:ln/>
        </p:spPr>
        <p:txBody>
          <a:bodyPr wrap="square" rtlCol="0" anchor="ctr"/>
          <a:lstStyle/>
          <a:p>
            <a:pPr indent="0" marL="0">
              <a:buNone/>
            </a:pPr>
            <a:endParaRPr lang="en-US" dirty="0"/>
          </a:p>
        </p:txBody>
      </p:sp>
      <p:sp>
        <p:nvSpPr>
          <p:cNvPr id="15" name="Shape 12"/>
          <p:cNvSpPr/>
          <p:nvPr/>
        </p:nvSpPr>
        <p:spPr>
          <a:xfrm>
            <a:off x="439341" y="1720974"/>
            <a:ext cx="0" cy="1936291"/>
          </a:xfrm>
          <a:prstGeom prst="line">
            <a:avLst/>
          </a:prstGeom>
          <a:noFill/>
          <a:ln w="21431">
            <a:solidFill>
              <a:srgbClr val="2563EB"/>
            </a:solidFill>
            <a:prstDash val="solid"/>
          </a:ln>
        </p:spPr>
      </p:sp>
      <p:sp>
        <p:nvSpPr>
          <p:cNvPr id="16" name="Text 13"/>
          <p:cNvSpPr/>
          <p:nvPr/>
        </p:nvSpPr>
        <p:spPr>
          <a:xfrm>
            <a:off x="550069" y="1792412"/>
            <a:ext cx="3871913" cy="149711"/>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7" name="Text 14"/>
          <p:cNvSpPr/>
          <p:nvPr/>
        </p:nvSpPr>
        <p:spPr>
          <a:xfrm>
            <a:off x="550069" y="1969554"/>
            <a:ext cx="3871913" cy="346722"/>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förhandlar med en stor kedja om att bli deras officiella leverantör. Om avtal skrivs =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dubbel omsättning över en natt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Event-driven katalysator.</a:t>
            </a:r>
            <a:endParaRPr lang="en-US" sz="816" dirty="0"/>
          </a:p>
        </p:txBody>
      </p:sp>
      <p:sp>
        <p:nvSpPr>
          <p:cNvPr id="18" name="Text 15"/>
          <p:cNvSpPr/>
          <p:nvPr/>
        </p:nvSpPr>
        <p:spPr>
          <a:xfrm>
            <a:off x="550069" y="2343708"/>
            <a:ext cx="3871913" cy="357795"/>
          </a:xfrm>
          <a:prstGeom prst="rect">
            <a:avLst/>
          </a:prstGeom>
          <a:noFill/>
          <a:ln/>
        </p:spPr>
        <p:txBody>
          <a:bodyPr wrap="square" lIns="0" tIns="0" rIns="0" bIns="0" rtlCol="0" anchor="t"/>
          <a:lstStyle/>
          <a:p>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Andra exempel:</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uppköpserbjudande (bolag köps upp med premium), FDA-godkännande (läkemedel), stora orderkontrakt.</a:t>
            </a:r>
            <a:endParaRPr lang="en-US" sz="816" dirty="0"/>
          </a:p>
        </p:txBody>
      </p:sp>
      <p:sp>
        <p:nvSpPr>
          <p:cNvPr id="19" name="Shape 16"/>
          <p:cNvSpPr/>
          <p:nvPr/>
        </p:nvSpPr>
        <p:spPr>
          <a:xfrm>
            <a:off x="4622006" y="2029941"/>
            <a:ext cx="4093369" cy="0"/>
          </a:xfrm>
          <a:prstGeom prst="line">
            <a:avLst/>
          </a:prstGeom>
          <a:noFill/>
          <a:ln w="7144">
            <a:solidFill>
              <a:srgbClr val="E2E5EA"/>
            </a:solidFill>
            <a:prstDash val="solid"/>
          </a:ln>
        </p:spPr>
      </p:sp>
      <p:sp>
        <p:nvSpPr>
          <p:cNvPr id="20" name="Text 17"/>
          <p:cNvSpPr/>
          <p:nvPr/>
        </p:nvSpPr>
        <p:spPr>
          <a:xfrm>
            <a:off x="4622006" y="1820987"/>
            <a:ext cx="4521994" cy="227957"/>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622006" y="2076376"/>
          <a:ext cx="4093369" cy="914400"/>
        </p:xfrm>
        <a:graphic>
          <a:graphicData uri="http://schemas.openxmlformats.org/drawingml/2006/table">
            <a:tbl>
              <a:tblPr/>
              <a:tblGrid>
                <a:gridCol w="371029"/>
                <a:gridCol w="1599754"/>
                <a:gridCol w="2122587"/>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Event-driven</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 events nära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Konkreta avtal within 3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Tydliga events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Avtal within 12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Möjliga events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Ryktén om avtal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Mindre events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Små affärer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Inga events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Inget på gång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2" name="Text 18"/>
          <p:cNvSpPr/>
          <p:nvPr/>
        </p:nvSpPr>
        <p:spPr>
          <a:xfrm>
            <a:off x="432197" y="3717987"/>
            <a:ext cx="8279606" cy="431974"/>
          </a:xfrm>
          <a:prstGeom prst="roundRect">
            <a:avLst>
              <a:gd name="adj" fmla="val 13230"/>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3" name="Text 19"/>
          <p:cNvSpPr/>
          <p:nvPr/>
        </p:nvSpPr>
        <p:spPr>
          <a:xfrm>
            <a:off x="535781" y="3778709"/>
            <a:ext cx="8072438"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4" name="Text 20"/>
          <p:cNvSpPr/>
          <p:nvPr/>
        </p:nvSpPr>
        <p:spPr>
          <a:xfrm>
            <a:off x="535781" y="3954624"/>
            <a:ext cx="8072438" cy="134615"/>
          </a:xfrm>
          <a:prstGeom prst="rect">
            <a:avLst/>
          </a:prstGeom>
          <a:noFill/>
          <a:ln/>
        </p:spPr>
        <p:txBody>
          <a:bodyPr wrap="square" lIns="0" tIns="0" rIns="0" bIns="0" rtlCol="0" anchor="t"/>
          <a:lstStyle/>
          <a:p>
            <a:pPr algn="l" indent="0" marL="0">
              <a:lnSpc>
                <a:spcPts val="1060"/>
              </a:lnSpc>
              <a:buNone/>
            </a:pPr>
            <a:r>
              <a:rPr lang="en-US" sz="731" b="1" dirty="0">
                <a:solidFill>
                  <a:srgbClr val="1A1F2E"/>
                </a:solidFill>
                <a:latin typeface="Carlito" pitchFamily="34" charset="0"/>
                <a:ea typeface="Carlito" pitchFamily="34" charset="-122"/>
                <a:cs typeface="Carlito" pitchFamily="34" charset="-120"/>
              </a:rPr>
              <a:t>Safestate:</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Möjligt </a:t>
            </a:r>
            <a:pPr algn="l" indent="0" marL="0">
              <a:lnSpc>
                <a:spcPts val="1060"/>
              </a:lnSpc>
              <a:buNone/>
            </a:pPr>
            <a:r>
              <a:rPr lang="en-US" sz="731" b="1" dirty="0">
                <a:solidFill>
                  <a:srgbClr val="1A1F2E"/>
                </a:solidFill>
                <a:latin typeface="Carlito" pitchFamily="34" charset="0"/>
                <a:ea typeface="Carlito" pitchFamily="34" charset="-122"/>
                <a:cs typeface="Carlito" pitchFamily="34" charset="-120"/>
              </a:rPr>
              <a:t>Microsoft-partnerskap</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diskuteras. Stora avtal med svenska myndigheter. </a:t>
            </a:r>
            <a:pPr algn="l" indent="0" marL="0">
              <a:lnSpc>
                <a:spcPts val="1060"/>
              </a:lnSpc>
              <a:buNone/>
            </a:pPr>
            <a:r>
              <a:rPr lang="en-US" sz="731" b="1" dirty="0">
                <a:solidFill>
                  <a:srgbClr val="B8942E"/>
                </a:solidFill>
                <a:latin typeface="Liberation Sans Narrow" pitchFamily="34" charset="0"/>
                <a:ea typeface="Liberation Sans Narrow" pitchFamily="34" charset="-122"/>
                <a:cs typeface="Liberation Sans Narrow" pitchFamily="34" charset="-120"/>
              </a:rPr>
              <a:t>Poäng: 3</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(möjliga events). Inget konkret ännu men rykten och förhandlingar.</a:t>
            </a:r>
            <a:endParaRPr lang="en-US" sz="731" dirty="0"/>
          </a:p>
        </p:txBody>
      </p:sp>
      <p:sp>
        <p:nvSpPr>
          <p:cNvPr id="25" name="Text 21"/>
          <p:cNvSpPr/>
          <p:nvPr/>
        </p:nvSpPr>
        <p:spPr>
          <a:xfrm>
            <a:off x="428625" y="4210683"/>
            <a:ext cx="8286750" cy="658453"/>
          </a:xfrm>
          <a:prstGeom prst="rect">
            <a:avLst/>
          </a:prstGeom>
          <a:solidFill>
            <a:srgbClr val="B8942E">
              <a:alpha val="6000"/>
            </a:srgbClr>
          </a:solidFill>
          <a:ln/>
        </p:spPr>
        <p:txBody>
          <a:bodyPr wrap="square" rtlCol="0" anchor="ctr"/>
          <a:lstStyle/>
          <a:p>
            <a:pPr indent="0" marL="0">
              <a:buNone/>
            </a:pPr>
            <a:endParaRPr lang="en-US" dirty="0"/>
          </a:p>
        </p:txBody>
      </p:sp>
      <p:sp>
        <p:nvSpPr>
          <p:cNvPr id="26" name="Shape 22"/>
          <p:cNvSpPr/>
          <p:nvPr/>
        </p:nvSpPr>
        <p:spPr>
          <a:xfrm>
            <a:off x="439341" y="4210683"/>
            <a:ext cx="0" cy="658453"/>
          </a:xfrm>
          <a:prstGeom prst="line">
            <a:avLst/>
          </a:prstGeom>
          <a:noFill/>
          <a:ln w="21431">
            <a:solidFill>
              <a:srgbClr val="B8942E"/>
            </a:solidFill>
            <a:prstDash val="solid"/>
          </a:ln>
        </p:spPr>
      </p:sp>
      <p:sp>
        <p:nvSpPr>
          <p:cNvPr id="27" name="Text 23"/>
          <p:cNvSpPr/>
          <p:nvPr/>
        </p:nvSpPr>
        <p:spPr>
          <a:xfrm>
            <a:off x="550069" y="4274976"/>
            <a:ext cx="8065294"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8" name="Text 24"/>
          <p:cNvSpPr/>
          <p:nvPr/>
        </p:nvSpPr>
        <p:spPr>
          <a:xfrm>
            <a:off x="550069" y="4444975"/>
            <a:ext cx="8065294"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Event-driven är svårt att förutsäga men kan ge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huge avkastning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Var försiktig med att köpa enbart för 'event-rykten' — många blir aldrig av. Men starka events (konkreta avtal, uppköp) kan driva kursen </a:t>
            </a:r>
            <a:pPr algn="l" indent="0" marL="0">
              <a:lnSpc>
                <a:spcPts val="1305"/>
              </a:lnSpc>
              <a:buNone/>
            </a:pPr>
            <a:r>
              <a:rPr lang="en-US" sz="816" b="1" dirty="0">
                <a:solidFill>
                  <a:srgbClr val="059669"/>
                </a:solidFill>
                <a:latin typeface="Liberation Sans Narrow" pitchFamily="34" charset="0"/>
                <a:ea typeface="Liberation Sans Narrow" pitchFamily="34" charset="-122"/>
                <a:cs typeface="Liberation Sans Narrow" pitchFamily="34" charset="-120"/>
              </a:rPr>
              <a:t>50–100% över en natt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p:txBody>
      </p:sp>
      <p:sp>
        <p:nvSpPr>
          <p:cNvPr id="29" name="Shape 25"/>
          <p:cNvSpPr/>
          <p:nvPr/>
        </p:nvSpPr>
        <p:spPr>
          <a:xfrm>
            <a:off x="457200" y="4850606"/>
            <a:ext cx="8229600" cy="0"/>
          </a:xfrm>
          <a:prstGeom prst="line">
            <a:avLst/>
          </a:prstGeom>
          <a:noFill/>
          <a:ln w="7144">
            <a:solidFill>
              <a:srgbClr val="E2E5EA"/>
            </a:solidFill>
            <a:prstDash val="solid"/>
          </a:ln>
        </p:spPr>
      </p:sp>
      <p:sp>
        <p:nvSpPr>
          <p:cNvPr id="30" name="Text 26"/>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6 — Katalysator</a:t>
            </a:r>
            <a:endParaRPr lang="en-US" sz="800" dirty="0"/>
          </a:p>
        </p:txBody>
      </p:sp>
      <p:sp>
        <p:nvSpPr>
          <p:cNvPr id="31" name="Text 27"/>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33 / 40</a:t>
            </a:r>
            <a:endParaRPr lang="en-US" sz="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82873"/>
            <a:ext cx="8286750" cy="0"/>
          </a:xfrm>
          <a:prstGeom prst="line">
            <a:avLst/>
          </a:prstGeom>
          <a:noFill/>
          <a:ln w="7144">
            <a:solidFill>
              <a:srgbClr val="E2E5EA"/>
            </a:solidFill>
            <a:prstDash val="solid"/>
          </a:ln>
        </p:spPr>
      </p:sp>
      <p:sp>
        <p:nvSpPr>
          <p:cNvPr id="3" name="Text 1"/>
          <p:cNvSpPr/>
          <p:nvPr/>
        </p:nvSpPr>
        <p:spPr>
          <a:xfrm>
            <a:off x="428625" y="257175"/>
            <a:ext cx="6981788"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KATALYSATOR</a:t>
            </a:r>
            <a:endParaRPr lang="en-US" sz="800" dirty="0"/>
          </a:p>
        </p:txBody>
      </p:sp>
      <p:sp>
        <p:nvSpPr>
          <p:cNvPr id="4" name="Text 2"/>
          <p:cNvSpPr/>
          <p:nvPr/>
        </p:nvSpPr>
        <p:spPr>
          <a:xfrm>
            <a:off x="7424700" y="274811"/>
            <a:ext cx="1290675"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34 / 40</a:t>
            </a:r>
            <a:endParaRPr lang="en-US" sz="619" dirty="0"/>
          </a:p>
        </p:txBody>
      </p:sp>
      <p:sp>
        <p:nvSpPr>
          <p:cNvPr id="5" name="Text 3"/>
          <p:cNvSpPr/>
          <p:nvPr/>
        </p:nvSpPr>
        <p:spPr>
          <a:xfrm>
            <a:off x="428625" y="615032"/>
            <a:ext cx="8636000" cy="216795"/>
          </a:xfrm>
          <a:prstGeom prst="rect">
            <a:avLst/>
          </a:prstGeom>
          <a:noFill/>
          <a:ln/>
        </p:spPr>
        <p:txBody>
          <a:bodyPr wrap="square" lIns="0" tIns="0" rIns="0" bIns="0" rtlCol="0" anchor="t">
            <a:normAutofit/>
          </a:bodyPr>
          <a:lstStyle/>
          <a:p>
            <a:pPr algn="l" indent="0" marL="0">
              <a:lnSpc>
                <a:spcPts val="1811"/>
              </a:lnSpc>
              <a:buNone/>
            </a:pPr>
            <a:r>
              <a:rPr lang="en-US" sz="1575" b="1" spc="-28" kern="0" dirty="0">
                <a:solidFill>
                  <a:srgbClr val="1A1F2E"/>
                </a:solidFill>
                <a:latin typeface="Carlito" pitchFamily="34" charset="0"/>
                <a:ea typeface="Carlito" pitchFamily="34" charset="-122"/>
                <a:cs typeface="Carlito" pitchFamily="34" charset="-120"/>
              </a:rPr>
              <a:t>Katalysator — sammanfattning</a:t>
            </a:r>
            <a:endParaRPr lang="en-US" sz="1575" dirty="0"/>
          </a:p>
        </p:txBody>
      </p:sp>
      <p:sp>
        <p:nvSpPr>
          <p:cNvPr id="6" name="Text 4"/>
          <p:cNvSpPr/>
          <p:nvPr/>
        </p:nvSpPr>
        <p:spPr>
          <a:xfrm>
            <a:off x="428625" y="859259"/>
            <a:ext cx="8636000" cy="181002"/>
          </a:xfrm>
          <a:prstGeom prst="rect">
            <a:avLst/>
          </a:prstGeom>
          <a:noFill/>
          <a:ln/>
        </p:spPr>
        <p:txBody>
          <a:bodyPr wrap="square" lIns="0" tIns="0" rIns="0" bIns="0" rtlCol="0" anchor="t"/>
          <a:lstStyle/>
          <a:p>
            <a:pPr algn="l" indent="0" marL="0">
              <a:lnSpc>
                <a:spcPts val="1299"/>
              </a:lnSpc>
              <a:buNone/>
            </a:pPr>
            <a:r>
              <a:rPr lang="en-US" sz="800" spc="68" kern="0" dirty="0">
                <a:solidFill>
                  <a:srgbClr val="B8942E"/>
                </a:solidFill>
                <a:latin typeface="Carlito" pitchFamily="34" charset="0"/>
                <a:ea typeface="Carlito" pitchFamily="34" charset="-122"/>
                <a:cs typeface="Carlito" pitchFamily="34" charset="-120"/>
              </a:rPr>
              <a:t>3 VARIABLER SOM SVARAR PÅ: KOMMER BRA NYHETER?</a:t>
            </a:r>
            <a:endParaRPr lang="en-US" sz="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28625" y="1095673"/>
          <a:ext cx="8286750" cy="914400"/>
        </p:xfrm>
        <a:graphic>
          <a:graphicData uri="http://schemas.openxmlformats.org/drawingml/2006/table">
            <a:tbl>
              <a:tblPr/>
              <a:tblGrid>
                <a:gridCol w="357188"/>
                <a:gridCol w="2025476"/>
                <a:gridCol w="2984190"/>
                <a:gridCol w="428625"/>
                <a:gridCol w="2491271"/>
              </a:tblGrid>
              <a:tr h="0">
                <a:tc>
                  <a:txBody>
                    <a:bodyPr/>
                    <a:lstStyle/>
                    <a:p>
                      <a:pPr algn="ctr" indent="0" marL="0">
                        <a:buNone/>
                      </a:pPr>
                      <a:r>
                        <a:rPr lang="en-US" sz="800" b="1" dirty="0">
                          <a:solidFill>
                            <a:srgbClr val="3D4556"/>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16</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Regulatorisk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NIS2 tailwind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Lag kräver produkt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17</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Branschtrend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+12–15%/år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Marknaden växer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18</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Event-driven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Möjligt MS-partnerskap</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Ryktén om avtal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32197" y="2262001"/>
            <a:ext cx="4086225" cy="1431652"/>
          </a:xfrm>
          <a:prstGeom prst="roundRect">
            <a:avLst>
              <a:gd name="adj" fmla="val 3992"/>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535781" y="2329867"/>
            <a:ext cx="3879056"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535781" y="2505782"/>
            <a:ext cx="3879056" cy="532571"/>
          </a:xfrm>
          <a:prstGeom prst="rect">
            <a:avLst/>
          </a:prstGeom>
          <a:noFill/>
          <a:ln/>
        </p:spPr>
        <p:txBody>
          <a:bodyPr wrap="square" lIns="0" tIns="0" rIns="0" bIns="0" rtlCol="0" anchor="t">
            <a:normAutofit/>
          </a:bodyPr>
          <a:lstStyle/>
          <a:p>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Katalysator är Safestates </a:t>
            </a:r>
            <a:pPr algn="l" indent="0" marL="0">
              <a:lnSpc>
                <a:spcPts val="1395"/>
              </a:lnSpc>
              <a:buNone/>
            </a:pPr>
            <a:r>
              <a:rPr lang="en-US" sz="900" b="1" dirty="0">
                <a:solidFill>
                  <a:srgbClr val="1A1F2E"/>
                </a:solidFill>
                <a:latin typeface="Carlito" pitchFamily="34" charset="0"/>
                <a:ea typeface="Carlito" pitchFamily="34" charset="-122"/>
                <a:cs typeface="Carlito" pitchFamily="34" charset="-120"/>
              </a:rPr>
              <a:t>STYRKA</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Snitt: </a:t>
            </a:r>
            <a:pPr algn="l" indent="0" marL="0">
              <a:lnSpc>
                <a:spcPts val="1395"/>
              </a:lnSpc>
              <a:buNone/>
            </a:pPr>
            <a:r>
              <a:rPr lang="en-US" sz="900" b="1" dirty="0">
                <a:solidFill>
                  <a:srgbClr val="1A1F2E"/>
                </a:solidFill>
                <a:latin typeface="Liberation Sans Narrow" pitchFamily="34" charset="0"/>
                <a:ea typeface="Liberation Sans Narrow" pitchFamily="34" charset="-122"/>
                <a:cs typeface="Liberation Sans Narrow" pitchFamily="34" charset="-120"/>
              </a:rPr>
              <a:t>4 (bra)</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NIS2-reglering skapar lagbunden efterfrågan. Branschen växer 12–15%. Event-driven svagare men möjliga avtal.</a:t>
            </a:r>
            <a:endParaRPr lang="en-US" sz="900" dirty="0"/>
          </a:p>
        </p:txBody>
      </p:sp>
      <p:sp>
        <p:nvSpPr>
          <p:cNvPr id="11" name="Text 8"/>
          <p:cNvSpPr/>
          <p:nvPr/>
        </p:nvSpPr>
        <p:spPr>
          <a:xfrm>
            <a:off x="535781" y="3065785"/>
            <a:ext cx="3879056" cy="560003"/>
          </a:xfrm>
          <a:prstGeom prst="rect">
            <a:avLst/>
          </a:prstGeom>
          <a:noFill/>
          <a:ln/>
        </p:spPr>
        <p:txBody>
          <a:bodyPr wrap="square" lIns="0" tIns="0" rIns="0" bIns="0" rtlCol="0" anchor="t"/>
          <a:lstStyle/>
          <a:p>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Katalysator-kategorin har </a:t>
            </a:r>
            <a:pPr algn="l" indent="0" marL="0">
              <a:lnSpc>
                <a:spcPts val="1395"/>
              </a:lnSpc>
              <a:buNone/>
            </a:pPr>
            <a:r>
              <a:rPr lang="en-US" sz="900" b="1" dirty="0">
                <a:solidFill>
                  <a:srgbClr val="B8942E"/>
                </a:solidFill>
                <a:latin typeface="Liberation Sans Narrow" pitchFamily="34" charset="0"/>
                <a:ea typeface="Liberation Sans Narrow" pitchFamily="34" charset="-122"/>
                <a:cs typeface="Liberation Sans Narrow" pitchFamily="34" charset="-120"/>
              </a:rPr>
              <a:t>HÖGSTA vikten i AKM1 (21%)</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 framtida drivkrafter väger tungt. Positiva katalysatorer = bolag når break-even snabbare = </a:t>
            </a:r>
            <a:pPr algn="l" indent="0" marL="0">
              <a:lnSpc>
                <a:spcPts val="1395"/>
              </a:lnSpc>
              <a:buNone/>
            </a:pPr>
            <a:r>
              <a:rPr lang="en-US" sz="900" dirty="0">
                <a:solidFill>
                  <a:srgbClr val="8B7335"/>
                </a:solidFill>
                <a:latin typeface="Carlito" pitchFamily="34" charset="0"/>
                <a:ea typeface="Carlito" pitchFamily="34" charset="-122"/>
                <a:cs typeface="Carlito" pitchFamily="34" charset="-120"/>
              </a:rPr>
              <a:t>lägre emission-risk</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a:t>
            </a:r>
            <a:endParaRPr lang="en-US" sz="900" dirty="0"/>
          </a:p>
        </p:txBody>
      </p:sp>
      <p:sp>
        <p:nvSpPr>
          <p:cNvPr id="12" name="Text 9"/>
          <p:cNvSpPr/>
          <p:nvPr/>
        </p:nvSpPr>
        <p:spPr>
          <a:xfrm>
            <a:off x="4622006" y="2258430"/>
            <a:ext cx="4093369" cy="1438796"/>
          </a:xfrm>
          <a:prstGeom prst="rect">
            <a:avLst/>
          </a:prstGeom>
          <a:solidFill>
            <a:srgbClr val="DC2626">
              <a:alpha val="8000"/>
            </a:srgbClr>
          </a:solidFill>
          <a:ln/>
        </p:spPr>
        <p:txBody>
          <a:bodyPr wrap="square" rtlCol="0" anchor="ctr"/>
          <a:lstStyle/>
          <a:p>
            <a:pPr indent="0" marL="0">
              <a:buNone/>
            </a:pPr>
            <a:endParaRPr lang="en-US" dirty="0"/>
          </a:p>
        </p:txBody>
      </p:sp>
      <p:sp>
        <p:nvSpPr>
          <p:cNvPr id="13" name="Shape 10"/>
          <p:cNvSpPr/>
          <p:nvPr/>
        </p:nvSpPr>
        <p:spPr>
          <a:xfrm>
            <a:off x="4632722" y="2258430"/>
            <a:ext cx="0" cy="1438796"/>
          </a:xfrm>
          <a:prstGeom prst="line">
            <a:avLst/>
          </a:prstGeom>
          <a:noFill/>
          <a:ln w="21431">
            <a:solidFill>
              <a:srgbClr val="DC2626"/>
            </a:solidFill>
            <a:prstDash val="solid"/>
          </a:ln>
        </p:spPr>
      </p:sp>
      <p:sp>
        <p:nvSpPr>
          <p:cNvPr id="14" name="Text 11"/>
          <p:cNvSpPr/>
          <p:nvPr/>
        </p:nvSpPr>
        <p:spPr>
          <a:xfrm>
            <a:off x="4743450" y="2322723"/>
            <a:ext cx="3981640" cy="130735"/>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KATALYSATOR + VARIABEL 19 — SNABBARE BREAK-EVEN</a:t>
            </a:r>
            <a:endParaRPr lang="en-US" sz="800" dirty="0"/>
          </a:p>
        </p:txBody>
      </p:sp>
      <p:sp>
        <p:nvSpPr>
          <p:cNvPr id="15" name="Text 12"/>
          <p:cNvSpPr/>
          <p:nvPr/>
        </p:nvSpPr>
        <p:spPr>
          <a:xfrm>
            <a:off x="4743450" y="2480890"/>
            <a:ext cx="3871913" cy="130623"/>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Positiva katalysatorer påverkar variabel 19 positivt:</a:t>
            </a:r>
            <a:endParaRPr lang="en-US" sz="800" dirty="0"/>
          </a:p>
        </p:txBody>
      </p:sp>
      <p:sp>
        <p:nvSpPr>
          <p:cNvPr id="16" name="Text 13"/>
          <p:cNvSpPr/>
          <p:nvPr/>
        </p:nvSpPr>
        <p:spPr>
          <a:xfrm>
            <a:off x="4743450" y="2638946"/>
            <a:ext cx="3871913" cy="442127"/>
          </a:xfrm>
          <a:prstGeom prst="rect">
            <a:avLst/>
          </a:prstGeom>
          <a:noFill/>
          <a:ln/>
        </p:spPr>
        <p:txBody>
          <a:bodyPr wrap="square" lIns="50006" tIns="0" rIns="0" bIns="0" rtlCol="0" anchor="t"/>
          <a:lstStyle/>
          <a:p>
            <a:pPr algn="l" indent="0" marL="0">
              <a:lnSpc>
                <a:spcPts val="984"/>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84"/>
              </a:lnSpc>
              <a:spcAft>
                <a:spcPts val="113"/>
              </a:spcAft>
              <a:buNone/>
            </a:pPr>
            <a:r>
              <a:rPr lang="en-US" sz="800" b="1" dirty="0">
                <a:solidFill>
                  <a:srgbClr val="3D4556"/>
                </a:solidFill>
                <a:latin typeface="Carlito" pitchFamily="34" charset="0"/>
                <a:ea typeface="Carlito" pitchFamily="34" charset="-122"/>
                <a:cs typeface="Carlito" pitchFamily="34" charset="-120"/>
              </a:rPr>
              <a:t>Regulatorisk</a:t>
            </a:r>
            <a:pPr algn="l" indent="0" marL="0">
              <a:lnSpc>
                <a:spcPts val="984"/>
              </a:lnSpc>
              <a:spcAft>
                <a:spcPts val="113"/>
              </a:spcAft>
              <a:buNone/>
            </a:pPr>
            <a:r>
              <a:rPr lang="en-US" sz="800" dirty="0">
                <a:solidFill>
                  <a:srgbClr val="3D4556"/>
                </a:solidFill>
                <a:latin typeface="Carlito" pitchFamily="34" charset="0"/>
                <a:ea typeface="Carlito" pitchFamily="34" charset="-122"/>
                <a:cs typeface="Carlito" pitchFamily="34" charset="-120"/>
              </a:rPr>
              <a:t> → garanterad efterfrågan → snabbare break-even</a:t>
            </a:r>
            <a:endParaRPr lang="en-US" sz="800" dirty="0"/>
          </a:p>
          <a:p>
            <a:pPr algn="l" indent="0" marL="0">
              <a:lnSpc>
                <a:spcPts val="984"/>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84"/>
              </a:lnSpc>
              <a:spcAft>
                <a:spcPts val="113"/>
              </a:spcAft>
              <a:buNone/>
            </a:pPr>
            <a:r>
              <a:rPr lang="en-US" sz="800" b="1" dirty="0">
                <a:solidFill>
                  <a:srgbClr val="3D4556"/>
                </a:solidFill>
                <a:latin typeface="Carlito" pitchFamily="34" charset="0"/>
                <a:ea typeface="Carlito" pitchFamily="34" charset="-122"/>
                <a:cs typeface="Carlito" pitchFamily="34" charset="-120"/>
              </a:rPr>
              <a:t>Branschtrend</a:t>
            </a:r>
            <a:pPr algn="l" indent="0" marL="0">
              <a:lnSpc>
                <a:spcPts val="984"/>
              </a:lnSpc>
              <a:spcAft>
                <a:spcPts val="113"/>
              </a:spcAft>
              <a:buNone/>
            </a:pPr>
            <a:r>
              <a:rPr lang="en-US" sz="800" dirty="0">
                <a:solidFill>
                  <a:srgbClr val="3D4556"/>
                </a:solidFill>
                <a:latin typeface="Carlito" pitchFamily="34" charset="0"/>
                <a:ea typeface="Carlito" pitchFamily="34" charset="-122"/>
                <a:cs typeface="Carlito" pitchFamily="34" charset="-120"/>
              </a:rPr>
              <a:t> → växande marknad → bolag växer utan att ta marknadsandelar</a:t>
            </a:r>
            <a:endParaRPr lang="en-US" sz="800" dirty="0"/>
          </a:p>
          <a:p>
            <a:pPr algn="l" indent="0" marL="0">
              <a:lnSpc>
                <a:spcPts val="984"/>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84"/>
              </a:lnSpc>
              <a:spcAft>
                <a:spcPts val="113"/>
              </a:spcAft>
              <a:buNone/>
            </a:pPr>
            <a:r>
              <a:rPr lang="en-US" sz="800" b="1" dirty="0">
                <a:solidFill>
                  <a:srgbClr val="3D4556"/>
                </a:solidFill>
                <a:latin typeface="Carlito" pitchFamily="34" charset="0"/>
                <a:ea typeface="Carlito" pitchFamily="34" charset="-122"/>
                <a:cs typeface="Carlito" pitchFamily="34" charset="-120"/>
              </a:rPr>
              <a:t>Event-driven</a:t>
            </a:r>
            <a:pPr algn="l" indent="0" marL="0">
              <a:lnSpc>
                <a:spcPts val="984"/>
              </a:lnSpc>
              <a:spcAft>
                <a:spcPts val="113"/>
              </a:spcAft>
              <a:buNone/>
            </a:pPr>
            <a:r>
              <a:rPr lang="en-US" sz="800" dirty="0">
                <a:solidFill>
                  <a:srgbClr val="3D4556"/>
                </a:solidFill>
                <a:latin typeface="Carlito" pitchFamily="34" charset="0"/>
                <a:ea typeface="Carlito" pitchFamily="34" charset="-122"/>
                <a:cs typeface="Carlito" pitchFamily="34" charset="-120"/>
              </a:rPr>
              <a:t> → stora avtal → plötslig intäktsökning</a:t>
            </a:r>
            <a:endParaRPr lang="en-US" sz="800" dirty="0"/>
          </a:p>
        </p:txBody>
      </p:sp>
      <p:sp>
        <p:nvSpPr>
          <p:cNvPr id="17" name="Text 14"/>
          <p:cNvSpPr/>
          <p:nvPr/>
        </p:nvSpPr>
        <p:spPr>
          <a:xfrm>
            <a:off x="4743450" y="3071143"/>
            <a:ext cx="3871913" cy="318211"/>
          </a:xfrm>
          <a:prstGeom prst="rect">
            <a:avLst/>
          </a:prstGeom>
          <a:noFill/>
          <a:ln/>
        </p:spPr>
        <p:txBody>
          <a:bodyPr wrap="square" lIns="0" tIns="0" rIns="0" bIns="0" rtlCol="0" anchor="t"/>
          <a:lstStyle/>
          <a:p>
            <a:pPr algn="l" indent="0" marL="0">
              <a:lnSpc>
                <a:spcPts val="1020"/>
              </a:lnSpc>
              <a:buNone/>
            </a:pPr>
            <a:r>
              <a:rPr lang="en-US" sz="800" i="1" dirty="0">
                <a:solidFill>
                  <a:srgbClr val="1A1F2E"/>
                </a:solidFill>
                <a:latin typeface="Carlito" pitchFamily="34" charset="0"/>
                <a:ea typeface="Carlito" pitchFamily="34" charset="-122"/>
                <a:cs typeface="Carlito" pitchFamily="34" charset="-120"/>
              </a:rPr>
              <a:t>Safestate:</a:t>
            </a:r>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 NIS2 + branschtrend + möjliga events → snabbare break-even → variabel 19 risk minskar snabbare än beräknat.</a:t>
            </a:r>
            <a:endParaRPr lang="en-US" sz="800" dirty="0"/>
          </a:p>
        </p:txBody>
      </p:sp>
      <p:sp>
        <p:nvSpPr>
          <p:cNvPr id="18" name="Text 15"/>
          <p:cNvSpPr/>
          <p:nvPr/>
        </p:nvSpPr>
        <p:spPr>
          <a:xfrm>
            <a:off x="428625" y="3797238"/>
            <a:ext cx="8286750" cy="658453"/>
          </a:xfrm>
          <a:prstGeom prst="rect">
            <a:avLst/>
          </a:prstGeom>
          <a:solidFill>
            <a:srgbClr val="B8942E">
              <a:alpha val="6000"/>
            </a:srgbClr>
          </a:solidFill>
          <a:ln/>
        </p:spPr>
        <p:txBody>
          <a:bodyPr wrap="square" rtlCol="0" anchor="ctr"/>
          <a:lstStyle/>
          <a:p>
            <a:pPr indent="0" marL="0">
              <a:buNone/>
            </a:pPr>
            <a:endParaRPr lang="en-US" dirty="0"/>
          </a:p>
        </p:txBody>
      </p:sp>
      <p:sp>
        <p:nvSpPr>
          <p:cNvPr id="19" name="Shape 16"/>
          <p:cNvSpPr/>
          <p:nvPr/>
        </p:nvSpPr>
        <p:spPr>
          <a:xfrm>
            <a:off x="439341" y="3797238"/>
            <a:ext cx="0" cy="658453"/>
          </a:xfrm>
          <a:prstGeom prst="line">
            <a:avLst/>
          </a:prstGeom>
          <a:noFill/>
          <a:ln w="21431">
            <a:solidFill>
              <a:srgbClr val="B8942E"/>
            </a:solidFill>
            <a:prstDash val="solid"/>
          </a:ln>
        </p:spPr>
      </p:sp>
      <p:sp>
        <p:nvSpPr>
          <p:cNvPr id="20" name="Text 17"/>
          <p:cNvSpPr/>
          <p:nvPr/>
        </p:nvSpPr>
        <p:spPr>
          <a:xfrm>
            <a:off x="550069" y="3861532"/>
            <a:ext cx="8175022" cy="142567"/>
          </a:xfrm>
          <a:prstGeom prst="rect">
            <a:avLst/>
          </a:prstGeom>
          <a:noFill/>
          <a:ln/>
        </p:spPr>
        <p:txBody>
          <a:bodyPr wrap="square" lIns="0" tIns="0" rIns="0" bIns="0" rtlCol="0" anchor="t">
            <a:normAutofit/>
          </a:bodyPr>
          <a:lstStyle/>
          <a:p>
            <a:pPr algn="l" indent="0" marL="0">
              <a:lnSpc>
                <a:spcPts val="1114"/>
              </a:lnSpc>
              <a:buNone/>
            </a:pPr>
            <a:r>
              <a:rPr lang="en-US" sz="800" b="1" spc="34" kern="0" dirty="0">
                <a:solidFill>
                  <a:srgbClr val="B8942E"/>
                </a:solidFill>
                <a:latin typeface="Liberation Sans Narrow" pitchFamily="34" charset="0"/>
                <a:ea typeface="Liberation Sans Narrow" pitchFamily="34" charset="-122"/>
                <a:cs typeface="Liberation Sans Narrow" pitchFamily="34" charset="-120"/>
              </a:rPr>
              <a:t>◆ DE 18 INDIKATORNA — KLARA!</a:t>
            </a:r>
            <a:endParaRPr lang="en-US" sz="800" dirty="0"/>
          </a:p>
        </p:txBody>
      </p:sp>
      <p:sp>
        <p:nvSpPr>
          <p:cNvPr id="21" name="Text 18"/>
          <p:cNvSpPr/>
          <p:nvPr/>
        </p:nvSpPr>
        <p:spPr>
          <a:xfrm>
            <a:off x="550069" y="4031531"/>
            <a:ext cx="8065294"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Nu har vi gått igenom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alla 18 fundamentala indikatorer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Snitt för Safestate: </a:t>
            </a:r>
            <a:pPr algn="l" indent="0" marL="0">
              <a:lnSpc>
                <a:spcPts val="1305"/>
              </a:lnSpc>
              <a:buNone/>
            </a:pPr>
            <a:r>
              <a:rPr lang="en-US" sz="816" b="1" dirty="0">
                <a:solidFill>
                  <a:srgbClr val="B8942E"/>
                </a:solidFill>
                <a:latin typeface="Liberation Sans Narrow" pitchFamily="34" charset="0"/>
                <a:ea typeface="Liberation Sans Narrow" pitchFamily="34" charset="-122"/>
                <a:cs typeface="Liberation Sans Narrow" pitchFamily="34" charset="-120"/>
              </a:rPr>
              <a:t>~3,4 / 5 (VÄNTA–AKUMULERA)</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MEN — vi har två viktiga variabler kvar: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variabel 18 (utdelning)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och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variabel 19 (kapital förbränning)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Dessa är 'bonusvariabler' enligt PDF: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"dessa är de gamla variabler förutom variable 18 och 19."</a:t>
            </a:r>
            <a:endParaRPr lang="en-US" sz="816" dirty="0"/>
          </a:p>
        </p:txBody>
      </p:sp>
      <p:sp>
        <p:nvSpPr>
          <p:cNvPr id="22" name="Shape 19"/>
          <p:cNvSpPr/>
          <p:nvPr/>
        </p:nvSpPr>
        <p:spPr>
          <a:xfrm>
            <a:off x="457200" y="4850606"/>
            <a:ext cx="8229600" cy="0"/>
          </a:xfrm>
          <a:prstGeom prst="line">
            <a:avLst/>
          </a:prstGeom>
          <a:noFill/>
          <a:ln w="7144">
            <a:solidFill>
              <a:srgbClr val="E2E5EA"/>
            </a:solidFill>
            <a:prstDash val="solid"/>
          </a:ln>
        </p:spPr>
      </p:sp>
      <p:sp>
        <p:nvSpPr>
          <p:cNvPr id="23" name="Text 20"/>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6 — Katalysator</a:t>
            </a:r>
            <a:endParaRPr lang="en-US" sz="800" dirty="0"/>
          </a:p>
        </p:txBody>
      </p:sp>
      <p:sp>
        <p:nvSpPr>
          <p:cNvPr id="24" name="Text 21"/>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34 / 40</a:t>
            </a:r>
            <a:endParaRPr lang="en-US" sz="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015176"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5" name="Text 1"/>
          <p:cNvSpPr/>
          <p:nvPr/>
        </p:nvSpPr>
        <p:spPr>
          <a:xfrm>
            <a:off x="6362395" y="3529013"/>
            <a:ext cx="2781605" cy="1614488"/>
          </a:xfrm>
          <a:prstGeom prst="rect">
            <a:avLst/>
          </a:prstGeom>
          <a:noFill/>
          <a:ln/>
        </p:spPr>
        <p:txBody>
          <a:bodyPr wrap="square" lIns="0" tIns="0" rIns="0" bIns="0" rtlCol="0" anchor="t"/>
          <a:lstStyle/>
          <a:p>
            <a:pPr algn="l" indent="0" marL="0">
              <a:lnSpc>
                <a:spcPts val="17213"/>
              </a:lnSpc>
              <a:buNone/>
            </a:pPr>
            <a:r>
              <a:rPr lang="en-US" sz="20250" b="1" spc="-562" kern="0" dirty="0">
                <a:solidFill>
                  <a:srgbClr val="B8942E">
                    <a:alpha val="6000"/>
                  </a:srgbClr>
                </a:solidFill>
                <a:latin typeface="Courier New" pitchFamily="34" charset="0"/>
                <a:ea typeface="Courier New" pitchFamily="34" charset="-122"/>
                <a:cs typeface="Courier New" pitchFamily="34" charset="-120"/>
              </a:rPr>
              <a:t>B</a:t>
            </a:r>
            <a:endParaRPr lang="en-US" sz="20250" dirty="0"/>
          </a:p>
        </p:txBody>
      </p:sp>
      <p:sp>
        <p:nvSpPr>
          <p:cNvPr id="6" name="Text 2"/>
          <p:cNvSpPr/>
          <p:nvPr/>
        </p:nvSpPr>
        <p:spPr>
          <a:xfrm>
            <a:off x="571500" y="957039"/>
            <a:ext cx="85725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Carlito" pitchFamily="34" charset="0"/>
                <a:ea typeface="Carlito" pitchFamily="34" charset="-122"/>
                <a:cs typeface="Carlito" pitchFamily="34" charset="-120"/>
              </a:rPr>
              <a:t>BONUS — EXTRA VIKTIGA</a:t>
            </a:r>
            <a:endParaRPr lang="en-US" sz="800" dirty="0"/>
          </a:p>
        </p:txBody>
      </p:sp>
      <p:sp>
        <p:nvSpPr>
          <p:cNvPr id="7" name="Text 3"/>
          <p:cNvSpPr/>
          <p:nvPr/>
        </p:nvSpPr>
        <p:spPr>
          <a:xfrm>
            <a:off x="571500" y="1195908"/>
            <a:ext cx="8572500" cy="929831"/>
          </a:xfrm>
          <a:prstGeom prst="rect">
            <a:avLst/>
          </a:prstGeom>
          <a:noFill/>
          <a:ln/>
        </p:spPr>
        <p:txBody>
          <a:bodyPr wrap="none" lIns="0" tIns="0" rIns="0" bIns="0" rtlCol="0" anchor="t">
            <a:normAutofit/>
          </a:bodyPr>
          <a:lstStyle/>
          <a:p>
            <a:pPr algn="l" indent="0" marL="0">
              <a:lnSpc>
                <a:spcPts val="7088"/>
              </a:lnSpc>
              <a:buNone/>
            </a:pPr>
            <a:r>
              <a:rPr lang="en-US" sz="7875" b="1" spc="-225" kern="0" dirty="0">
                <a:solidFill>
                  <a:srgbClr val="D4A832">
                    <a:alpha val="85000"/>
                  </a:srgbClr>
                </a:solidFill>
                <a:latin typeface="Courier New" pitchFamily="34" charset="0"/>
                <a:ea typeface="Courier New" pitchFamily="34" charset="-122"/>
                <a:cs typeface="Courier New" pitchFamily="34" charset="-120"/>
              </a:rPr>
              <a:t>B</a:t>
            </a:r>
            <a:endParaRPr lang="en-US" sz="7875" dirty="0"/>
          </a:p>
        </p:txBody>
      </p:sp>
      <p:sp>
        <p:nvSpPr>
          <p:cNvPr id="8" name="Text 4"/>
          <p:cNvSpPr/>
          <p:nvPr/>
        </p:nvSpPr>
        <p:spPr>
          <a:xfrm>
            <a:off x="571500" y="2153171"/>
            <a:ext cx="6150769" cy="407341"/>
          </a:xfrm>
          <a:prstGeom prst="rect">
            <a:avLst/>
          </a:prstGeom>
          <a:noFill/>
          <a:ln/>
        </p:spPr>
        <p:txBody>
          <a:bodyPr wrap="none" lIns="0" tIns="0" rIns="0" bIns="0" rtlCol="0" anchor="t"/>
          <a:lstStyle/>
          <a:p>
            <a:pPr algn="l" indent="0" marL="0">
              <a:lnSpc>
                <a:spcPts val="2970"/>
              </a:lnSpc>
              <a:buNone/>
            </a:pPr>
            <a:r>
              <a:rPr lang="en-US" sz="2700" b="1" spc="-45" kern="0" dirty="0">
                <a:solidFill>
                  <a:srgbClr val="FFFFFF"/>
                </a:solidFill>
                <a:latin typeface="Liberation Sans Narrow" pitchFamily="34" charset="0"/>
                <a:ea typeface="Liberation Sans Narrow" pitchFamily="34" charset="-122"/>
                <a:cs typeface="Liberation Sans Narrow" pitchFamily="34" charset="-120"/>
              </a:rPr>
              <a:t>Variablerna 18 &amp; 19</a:t>
            </a:r>
            <a:endParaRPr lang="en-US" sz="2700" dirty="0"/>
          </a:p>
        </p:txBody>
      </p:sp>
      <p:sp>
        <p:nvSpPr>
          <p:cNvPr id="9" name="Text 5"/>
          <p:cNvSpPr/>
          <p:nvPr/>
        </p:nvSpPr>
        <p:spPr>
          <a:xfrm>
            <a:off x="571500" y="2630351"/>
            <a:ext cx="5429250" cy="243704"/>
          </a:xfrm>
          <a:prstGeom prst="rect">
            <a:avLst/>
          </a:prstGeom>
          <a:noFill/>
          <a:ln/>
        </p:spPr>
        <p:txBody>
          <a:bodyPr wrap="square" lIns="85725" tIns="28575" rIns="0" bIns="28575" rtlCol="0" anchor="t"/>
          <a:lstStyle/>
          <a:p>
            <a:pPr algn="l" indent="0" marL="0">
              <a:lnSpc>
                <a:spcPts val="1299"/>
              </a:lnSpc>
              <a:buNone/>
            </a:pPr>
            <a:r>
              <a:rPr lang="en-US" sz="800" i="1" dirty="0">
                <a:solidFill>
                  <a:srgbClr val="D4A832"/>
                </a:solidFill>
                <a:latin typeface="Carlito" pitchFamily="34" charset="0"/>
                <a:ea typeface="Carlito" pitchFamily="34" charset="-122"/>
                <a:cs typeface="Carlito" pitchFamily="34" charset="-120"/>
              </a:rPr>
              <a:t>"dessa är de gamla variabler förutom variable 18 och 19." — PDF</a:t>
            </a:r>
            <a:endParaRPr lang="en-US" sz="800" dirty="0"/>
          </a:p>
        </p:txBody>
      </p:sp>
      <p:sp>
        <p:nvSpPr>
          <p:cNvPr id="10" name="Text 6"/>
          <p:cNvSpPr/>
          <p:nvPr/>
        </p:nvSpPr>
        <p:spPr>
          <a:xfrm>
            <a:off x="571500" y="2966777"/>
            <a:ext cx="5000625" cy="573942"/>
          </a:xfrm>
          <a:prstGeom prst="rect">
            <a:avLst/>
          </a:prstGeom>
          <a:noFill/>
          <a:ln/>
        </p:spPr>
        <p:txBody>
          <a:bodyPr wrap="square" lIns="0" tIns="0" rIns="0" bIns="0" rtlCol="0" anchor="t"/>
          <a:lstStyle/>
          <a:p>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Två </a:t>
            </a:r>
            <a:pPr algn="l" indent="0" marL="0">
              <a:lnSpc>
                <a:spcPts val="1395"/>
              </a:lnSpc>
              <a:buNone/>
            </a:pPr>
            <a:r>
              <a:rPr lang="en-US" sz="900" b="1" dirty="0">
                <a:solidFill>
                  <a:srgbClr val="FFFFFF"/>
                </a:solidFill>
                <a:latin typeface="Carlito" pitchFamily="34" charset="0"/>
                <a:ea typeface="Carlito" pitchFamily="34" charset="-122"/>
                <a:cs typeface="Carlito" pitchFamily="34" charset="-120"/>
              </a:rPr>
              <a:t>NYA</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variabler som inte ingår i de 18 grundindikatorerna. </a:t>
            </a:r>
            <a:pPr algn="l" indent="0" marL="0">
              <a:lnSpc>
                <a:spcPts val="1395"/>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Variabel 18</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utdelning (får jag pengar tillbaka?). </a:t>
            </a:r>
            <a:pPr algn="l" indent="0" marL="0">
              <a:lnSpc>
                <a:spcPts val="1395"/>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Variabel 19</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kapital förbränning (klarar bolaget sig utan nyemission?). Särskilt variabel 19 är </a:t>
            </a:r>
            <a:pPr algn="l" indent="0" marL="0">
              <a:lnSpc>
                <a:spcPts val="1395"/>
              </a:lnSpc>
              <a:buNone/>
            </a:pPr>
            <a:r>
              <a:rPr lang="en-US" sz="900" b="1" dirty="0">
                <a:solidFill>
                  <a:srgbClr val="D4A832"/>
                </a:solidFill>
                <a:latin typeface="Carlito" pitchFamily="34" charset="0"/>
                <a:ea typeface="Carlito" pitchFamily="34" charset="-122"/>
                <a:cs typeface="Carlito" pitchFamily="34" charset="-120"/>
              </a:rPr>
              <a:t>den enskilt viktigaste</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för small-cap-investerare.</a:t>
            </a:r>
            <a:endParaRPr lang="en-US" sz="900" dirty="0"/>
          </a:p>
        </p:txBody>
      </p:sp>
      <p:sp>
        <p:nvSpPr>
          <p:cNvPr id="11" name="Text 7"/>
          <p:cNvSpPr/>
          <p:nvPr/>
        </p:nvSpPr>
        <p:spPr>
          <a:xfrm>
            <a:off x="575072" y="3673227"/>
            <a:ext cx="3943350" cy="509550"/>
          </a:xfrm>
          <a:prstGeom prst="roundRect">
            <a:avLst>
              <a:gd name="adj" fmla="val 14954"/>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2" name="Text 8"/>
          <p:cNvSpPr/>
          <p:nvPr/>
        </p:nvSpPr>
        <p:spPr>
          <a:xfrm>
            <a:off x="707231" y="3762524"/>
            <a:ext cx="3679031" cy="173932"/>
          </a:xfrm>
          <a:prstGeom prst="rect">
            <a:avLst/>
          </a:prstGeom>
          <a:noFill/>
          <a:ln/>
        </p:spPr>
        <p:txBody>
          <a:bodyPr wrap="none" lIns="0" tIns="0" rIns="0" bIns="0" rtlCol="0" anchor="t">
            <a:normAutofit/>
          </a:bodyPr>
          <a:lstStyle/>
          <a:p>
            <a:pPr algn="l" indent="0" marL="0">
              <a:lnSpc>
                <a:spcPts val="1361"/>
              </a:lnSpc>
              <a:buNone/>
            </a:pPr>
            <a:r>
              <a:rPr lang="en-US" sz="1238" b="1" dirty="0">
                <a:solidFill>
                  <a:srgbClr val="D4A832"/>
                </a:solidFill>
                <a:latin typeface="Liberation Sans Narrow" pitchFamily="34" charset="0"/>
                <a:ea typeface="Liberation Sans Narrow" pitchFamily="34" charset="-122"/>
                <a:cs typeface="Liberation Sans Narrow" pitchFamily="34" charset="-120"/>
              </a:rPr>
              <a:t>VARIABEL 18</a:t>
            </a:r>
            <a:endParaRPr lang="en-US" sz="1238" dirty="0"/>
          </a:p>
        </p:txBody>
      </p:sp>
      <p:sp>
        <p:nvSpPr>
          <p:cNvPr id="13" name="Text 9"/>
          <p:cNvSpPr/>
          <p:nvPr/>
        </p:nvSpPr>
        <p:spPr>
          <a:xfrm>
            <a:off x="707231" y="3963888"/>
            <a:ext cx="3788759" cy="129592"/>
          </a:xfrm>
          <a:prstGeom prst="rect">
            <a:avLst/>
          </a:prstGeom>
          <a:noFill/>
          <a:ln/>
        </p:spPr>
        <p:txBody>
          <a:bodyPr wrap="square" lIns="0" tIns="0" rIns="0" bIns="0" rtlCol="0" anchor="t"/>
          <a:lstStyle/>
          <a:p>
            <a:pPr algn="l" indent="0" marL="0">
              <a:lnSpc>
                <a:spcPts val="1021"/>
              </a:lnSpc>
              <a:buNone/>
            </a:pPr>
            <a:r>
              <a:rPr lang="en-US" sz="800" spc="56" kern="0" dirty="0">
                <a:solidFill>
                  <a:srgbClr val="7A8498"/>
                </a:solidFill>
                <a:latin typeface="Carlito" pitchFamily="34" charset="0"/>
                <a:ea typeface="Carlito" pitchFamily="34" charset="-122"/>
                <a:cs typeface="Carlito" pitchFamily="34" charset="-120"/>
              </a:rPr>
              <a:t>UTDELNING — FÅR JAG PENGAR TILLBAKA?</a:t>
            </a:r>
            <a:endParaRPr lang="en-US" sz="800" dirty="0"/>
          </a:p>
        </p:txBody>
      </p:sp>
      <p:sp>
        <p:nvSpPr>
          <p:cNvPr id="14" name="Text 10"/>
          <p:cNvSpPr/>
          <p:nvPr/>
        </p:nvSpPr>
        <p:spPr>
          <a:xfrm>
            <a:off x="4625578" y="3673227"/>
            <a:ext cx="3943350" cy="509550"/>
          </a:xfrm>
          <a:prstGeom prst="roundRect">
            <a:avLst>
              <a:gd name="adj" fmla="val 14954"/>
            </a:avLst>
          </a:prstGeom>
          <a:solidFill>
            <a:srgbClr val="DC2626">
              <a:alpha val="12000"/>
            </a:srgbClr>
          </a:solidFill>
          <a:ln w="7144">
            <a:solidFill>
              <a:srgbClr val="DC2626"/>
            </a:solidFill>
            <a:prstDash val="solid"/>
          </a:ln>
        </p:spPr>
        <p:txBody>
          <a:bodyPr wrap="square" rtlCol="0" anchor="ctr"/>
          <a:lstStyle/>
          <a:p>
            <a:pPr indent="0" marL="0">
              <a:buNone/>
            </a:pPr>
            <a:endParaRPr lang="en-US" dirty="0"/>
          </a:p>
        </p:txBody>
      </p:sp>
      <p:sp>
        <p:nvSpPr>
          <p:cNvPr id="15" name="Text 11"/>
          <p:cNvSpPr/>
          <p:nvPr/>
        </p:nvSpPr>
        <p:spPr>
          <a:xfrm>
            <a:off x="4757738" y="3762524"/>
            <a:ext cx="3679031" cy="173932"/>
          </a:xfrm>
          <a:prstGeom prst="rect">
            <a:avLst/>
          </a:prstGeom>
          <a:noFill/>
          <a:ln/>
        </p:spPr>
        <p:txBody>
          <a:bodyPr wrap="none" lIns="0" tIns="0" rIns="0" bIns="0" rtlCol="0" anchor="t">
            <a:normAutofit/>
          </a:bodyPr>
          <a:lstStyle/>
          <a:p>
            <a:pPr algn="l" indent="0" marL="0">
              <a:lnSpc>
                <a:spcPts val="1361"/>
              </a:lnSpc>
              <a:buNone/>
            </a:pPr>
            <a:r>
              <a:rPr lang="en-US" sz="1238" b="1" dirty="0">
                <a:solidFill>
                  <a:srgbClr val="FCA5A5"/>
                </a:solidFill>
                <a:latin typeface="Liberation Sans Narrow" pitchFamily="34" charset="0"/>
                <a:ea typeface="Liberation Sans Narrow" pitchFamily="34" charset="-122"/>
                <a:cs typeface="Liberation Sans Narrow" pitchFamily="34" charset="-120"/>
              </a:rPr>
              <a:t>VARIABEL 19 ⚠</a:t>
            </a:r>
            <a:endParaRPr lang="en-US" sz="1238" dirty="0"/>
          </a:p>
        </p:txBody>
      </p:sp>
      <p:sp>
        <p:nvSpPr>
          <p:cNvPr id="16" name="Text 12"/>
          <p:cNvSpPr/>
          <p:nvPr/>
        </p:nvSpPr>
        <p:spPr>
          <a:xfrm>
            <a:off x="4757738" y="3963888"/>
            <a:ext cx="3788759" cy="129592"/>
          </a:xfrm>
          <a:prstGeom prst="rect">
            <a:avLst/>
          </a:prstGeom>
          <a:noFill/>
          <a:ln/>
        </p:spPr>
        <p:txBody>
          <a:bodyPr wrap="square" lIns="0" tIns="0" rIns="0" bIns="0" rtlCol="0" anchor="t"/>
          <a:lstStyle/>
          <a:p>
            <a:pPr algn="l" indent="0" marL="0">
              <a:lnSpc>
                <a:spcPts val="1021"/>
              </a:lnSpc>
              <a:buNone/>
            </a:pPr>
            <a:r>
              <a:rPr lang="en-US" sz="800" spc="56" kern="0" dirty="0">
                <a:solidFill>
                  <a:srgbClr val="F87171"/>
                </a:solidFill>
                <a:latin typeface="Carlito" pitchFamily="34" charset="0"/>
                <a:ea typeface="Carlito" pitchFamily="34" charset="-122"/>
                <a:cs typeface="Carlito" pitchFamily="34" charset="-120"/>
              </a:rPr>
              <a:t>KAPITAL FÖRBRÄNNING — ÖVERLEVNADSFILTER</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54298"/>
            <a:ext cx="8343900" cy="0"/>
          </a:xfrm>
          <a:prstGeom prst="line">
            <a:avLst/>
          </a:prstGeom>
          <a:noFill/>
          <a:ln w="7144">
            <a:solidFill>
              <a:srgbClr val="E2E5EA"/>
            </a:solidFill>
            <a:prstDash val="solid"/>
          </a:ln>
        </p:spPr>
      </p:sp>
      <p:sp>
        <p:nvSpPr>
          <p:cNvPr id="3" name="Text 1"/>
          <p:cNvSpPr/>
          <p:nvPr/>
        </p:nvSpPr>
        <p:spPr>
          <a:xfrm>
            <a:off x="400050" y="228600"/>
            <a:ext cx="758733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BONUS</a:t>
            </a:r>
            <a:endParaRPr lang="en-US" sz="800" dirty="0"/>
          </a:p>
        </p:txBody>
      </p:sp>
      <p:sp>
        <p:nvSpPr>
          <p:cNvPr id="4" name="Text 2"/>
          <p:cNvSpPr/>
          <p:nvPr/>
        </p:nvSpPr>
        <p:spPr>
          <a:xfrm>
            <a:off x="7993718" y="246236"/>
            <a:ext cx="758183"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18 · 36 / 40</a:t>
            </a:r>
            <a:endParaRPr lang="en-US" sz="619" dirty="0"/>
          </a:p>
        </p:txBody>
      </p:sp>
      <p:sp>
        <p:nvSpPr>
          <p:cNvPr id="5" name="Text 3"/>
          <p:cNvSpPr/>
          <p:nvPr/>
        </p:nvSpPr>
        <p:spPr>
          <a:xfrm>
            <a:off x="400050" y="586457"/>
            <a:ext cx="8636000" cy="183978"/>
          </a:xfrm>
          <a:prstGeom prst="rect">
            <a:avLst/>
          </a:prstGeom>
          <a:noFill/>
          <a:ln/>
        </p:spPr>
        <p:txBody>
          <a:bodyPr wrap="none" lIns="0" tIns="0" rIns="0" bIns="0" rtlCol="0" anchor="t">
            <a:normAutofit/>
          </a:bodyPr>
          <a:lstStyle/>
          <a:p>
            <a:pPr algn="l" indent="0" marL="0">
              <a:lnSpc>
                <a:spcPts val="1553"/>
              </a:lnSpc>
              <a:buNone/>
            </a:pPr>
            <a:r>
              <a:rPr lang="en-US" sz="1350" b="1" spc="-28" kern="0" dirty="0">
                <a:solidFill>
                  <a:srgbClr val="1A1F2E"/>
                </a:solidFill>
                <a:latin typeface="Liberation Sans Narrow" pitchFamily="34" charset="0"/>
                <a:ea typeface="Liberation Sans Narrow" pitchFamily="34" charset="-122"/>
                <a:cs typeface="Liberation Sans Narrow" pitchFamily="34" charset="-120"/>
              </a:rPr>
              <a:t>Variabel 18: Utdelning</a:t>
            </a:r>
            <a:endParaRPr lang="en-US" sz="1350" dirty="0"/>
          </a:p>
        </p:txBody>
      </p:sp>
      <p:sp>
        <p:nvSpPr>
          <p:cNvPr id="6" name="Text 4"/>
          <p:cNvSpPr/>
          <p:nvPr/>
        </p:nvSpPr>
        <p:spPr>
          <a:xfrm>
            <a:off x="400050" y="797868"/>
            <a:ext cx="8636000" cy="180946"/>
          </a:xfrm>
          <a:prstGeom prst="rect">
            <a:avLst/>
          </a:prstGeom>
          <a:noFill/>
          <a:ln/>
        </p:spPr>
        <p:txBody>
          <a:bodyPr wrap="square" lIns="0" tIns="0" rIns="0" bIns="0" rtlCol="0" anchor="t"/>
          <a:lstStyle/>
          <a:p>
            <a:pPr algn="l" indent="0" marL="0">
              <a:lnSpc>
                <a:spcPts val="1207"/>
              </a:lnSpc>
              <a:buNone/>
            </a:pPr>
            <a:r>
              <a:rPr lang="en-US" sz="800" spc="68" kern="0" dirty="0">
                <a:solidFill>
                  <a:srgbClr val="B8942E"/>
                </a:solidFill>
                <a:latin typeface="Carlito" pitchFamily="34" charset="0"/>
                <a:ea typeface="Carlito" pitchFamily="34" charset="-122"/>
                <a:cs typeface="Carlito" pitchFamily="34" charset="-120"/>
              </a:rPr>
              <a:t>FÅR JAG PENGAR TILLBAKA VARJE ÅR?</a:t>
            </a:r>
            <a:endParaRPr lang="en-US" sz="800" dirty="0"/>
          </a:p>
        </p:txBody>
      </p:sp>
      <p:sp>
        <p:nvSpPr>
          <p:cNvPr id="7" name="Text 5"/>
          <p:cNvSpPr/>
          <p:nvPr/>
        </p:nvSpPr>
        <p:spPr>
          <a:xfrm>
            <a:off x="400050" y="1008162"/>
            <a:ext cx="2000250" cy="632445"/>
          </a:xfrm>
          <a:prstGeom prst="rect">
            <a:avLst/>
          </a:prstGeom>
          <a:solidFill>
            <a:srgbClr val="DC2626">
              <a:alpha val="8000"/>
            </a:srgbClr>
          </a:solidFill>
          <a:ln/>
        </p:spPr>
        <p:txBody>
          <a:bodyPr wrap="square" rtlCol="0" anchor="ctr"/>
          <a:lstStyle/>
          <a:p>
            <a:pPr indent="0" marL="0">
              <a:buNone/>
            </a:pPr>
            <a:endParaRPr lang="en-US" dirty="0"/>
          </a:p>
        </p:txBody>
      </p:sp>
      <p:sp>
        <p:nvSpPr>
          <p:cNvPr id="8" name="Shape 6"/>
          <p:cNvSpPr/>
          <p:nvPr/>
        </p:nvSpPr>
        <p:spPr>
          <a:xfrm>
            <a:off x="410766" y="1008162"/>
            <a:ext cx="0" cy="632445"/>
          </a:xfrm>
          <a:prstGeom prst="line">
            <a:avLst/>
          </a:prstGeom>
          <a:noFill/>
          <a:ln w="21431">
            <a:solidFill>
              <a:srgbClr val="DC2626"/>
            </a:solidFill>
            <a:prstDash val="solid"/>
          </a:ln>
        </p:spPr>
      </p:sp>
      <p:sp>
        <p:nvSpPr>
          <p:cNvPr id="9" name="Text 7"/>
          <p:cNvSpPr/>
          <p:nvPr/>
        </p:nvSpPr>
        <p:spPr>
          <a:xfrm>
            <a:off x="507206" y="1065312"/>
            <a:ext cx="1915811" cy="130735"/>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VARIABEL 18 — NY ENLIGT PDF</a:t>
            </a:r>
            <a:endParaRPr lang="en-US" sz="800" dirty="0"/>
          </a:p>
        </p:txBody>
      </p:sp>
      <p:sp>
        <p:nvSpPr>
          <p:cNvPr id="10" name="Text 8"/>
          <p:cNvSpPr/>
          <p:nvPr/>
        </p:nvSpPr>
        <p:spPr>
          <a:xfrm>
            <a:off x="507206" y="1223479"/>
            <a:ext cx="1807369" cy="359978"/>
          </a:xfrm>
          <a:prstGeom prst="rect">
            <a:avLst/>
          </a:prstGeom>
          <a:noFill/>
          <a:ln/>
        </p:spPr>
        <p:txBody>
          <a:bodyPr wrap="square" lIns="0" tIns="0" rIns="0" bIns="0" rtlCol="0" anchor="t"/>
          <a:lstStyle/>
          <a:p>
            <a:pPr algn="l" indent="0" marL="0">
              <a:lnSpc>
                <a:spcPts val="945"/>
              </a:lnSpc>
              <a:buNone/>
            </a:pPr>
            <a:r>
              <a:rPr lang="en-US" sz="800" dirty="0">
                <a:solidFill>
                  <a:srgbClr val="1A1F2E"/>
                </a:solidFill>
                <a:latin typeface="Carlito" pitchFamily="34" charset="0"/>
                <a:ea typeface="Carlito" pitchFamily="34" charset="-122"/>
                <a:cs typeface="Carlito" pitchFamily="34" charset="-120"/>
              </a:rPr>
              <a:t>PDF: </a:t>
            </a:r>
            <a:pPr algn="l" indent="0" marL="0">
              <a:lnSpc>
                <a:spcPts val="945"/>
              </a:lnSpc>
              <a:buNone/>
            </a:pPr>
            <a:r>
              <a:rPr lang="en-US" sz="800" i="1" dirty="0">
                <a:solidFill>
                  <a:srgbClr val="1A1F2E"/>
                </a:solidFill>
                <a:latin typeface="Carlito" pitchFamily="34" charset="0"/>
                <a:ea typeface="Carlito" pitchFamily="34" charset="-122"/>
                <a:cs typeface="Carlito" pitchFamily="34" charset="-120"/>
              </a:rPr>
              <a:t>"dessa är de gamla variabler förutom variable 18 och 19."</a:t>
            </a:r>
            <a:pPr algn="l" indent="0" marL="0">
              <a:lnSpc>
                <a:spcPts val="945"/>
              </a:lnSpc>
              <a:buNone/>
            </a:pPr>
            <a:r>
              <a:rPr lang="en-US" sz="800" dirty="0">
                <a:solidFill>
                  <a:srgbClr val="1A1F2E"/>
                </a:solidFill>
                <a:latin typeface="Liberation Sans Narrow" pitchFamily="34" charset="0"/>
                <a:ea typeface="Liberation Sans Narrow" pitchFamily="34" charset="-122"/>
                <a:cs typeface="Liberation Sans Narrow" pitchFamily="34" charset="-120"/>
              </a:rPr>
              <a:t> Variabel 18 = Utdelning — en av de </a:t>
            </a:r>
            <a:pPr algn="l" indent="0" marL="0">
              <a:lnSpc>
                <a:spcPts val="945"/>
              </a:lnSpc>
              <a:buNone/>
            </a:pPr>
            <a:r>
              <a:rPr lang="en-US" sz="800" b="1" dirty="0">
                <a:solidFill>
                  <a:srgbClr val="1A1F2E"/>
                </a:solidFill>
                <a:latin typeface="Carlito" pitchFamily="34" charset="0"/>
                <a:ea typeface="Carlito" pitchFamily="34" charset="-122"/>
                <a:cs typeface="Carlito" pitchFamily="34" charset="-120"/>
              </a:rPr>
              <a:t>NYA</a:t>
            </a:r>
            <a:pPr algn="l" indent="0" marL="0">
              <a:lnSpc>
                <a:spcPts val="945"/>
              </a:lnSpc>
              <a:buNone/>
            </a:pPr>
            <a:r>
              <a:rPr lang="en-US" sz="800" dirty="0">
                <a:solidFill>
                  <a:srgbClr val="1A1F2E"/>
                </a:solidFill>
                <a:latin typeface="Carlito" pitchFamily="34" charset="0"/>
                <a:ea typeface="Carlito" pitchFamily="34" charset="-122"/>
                <a:cs typeface="Carlito" pitchFamily="34" charset="-120"/>
              </a:rPr>
              <a:t> variablerna.</a:t>
            </a:r>
            <a:endParaRPr lang="en-US" sz="800" dirty="0"/>
          </a:p>
        </p:txBody>
      </p:sp>
      <p:pic>
        <p:nvPicPr>
          <p:cNvPr id="11" name="Image 0" descr="preencoded.png">    </p:cNvPr>
          <p:cNvPicPr>
            <a:picLocks noChangeAspect="1"/>
          </p:cNvPicPr>
          <p:nvPr/>
        </p:nvPicPr>
        <p:blipFill>
          <a:blip r:embed="rId1"/>
          <a:stretch>
            <a:fillRect/>
          </a:stretch>
        </p:blipFill>
        <p:spPr>
          <a:xfrm>
            <a:off x="2486025" y="1008162"/>
            <a:ext cx="6257925" cy="632445"/>
          </a:xfrm>
          <a:prstGeom prst="rect">
            <a:avLst/>
          </a:prstGeom>
        </p:spPr>
      </p:pic>
      <p:sp>
        <p:nvSpPr>
          <p:cNvPr id="12" name="Shape 9"/>
          <p:cNvSpPr/>
          <p:nvPr/>
        </p:nvSpPr>
        <p:spPr>
          <a:xfrm>
            <a:off x="2486025" y="1011734"/>
            <a:ext cx="6257925" cy="0"/>
          </a:xfrm>
          <a:prstGeom prst="line">
            <a:avLst/>
          </a:prstGeom>
          <a:noFill/>
          <a:ln w="7144">
            <a:solidFill>
              <a:srgbClr val="B8942E"/>
            </a:solidFill>
            <a:prstDash val="solid"/>
          </a:ln>
        </p:spPr>
      </p:sp>
      <p:sp>
        <p:nvSpPr>
          <p:cNvPr id="13" name="Shape 10"/>
          <p:cNvSpPr/>
          <p:nvPr/>
        </p:nvSpPr>
        <p:spPr>
          <a:xfrm>
            <a:off x="8740378" y="1008162"/>
            <a:ext cx="0" cy="632445"/>
          </a:xfrm>
          <a:prstGeom prst="line">
            <a:avLst/>
          </a:prstGeom>
          <a:noFill/>
          <a:ln w="7144">
            <a:solidFill>
              <a:srgbClr val="B8942E"/>
            </a:solidFill>
            <a:prstDash val="solid"/>
          </a:ln>
        </p:spPr>
      </p:sp>
      <p:sp>
        <p:nvSpPr>
          <p:cNvPr id="14" name="Shape 11"/>
          <p:cNvSpPr/>
          <p:nvPr/>
        </p:nvSpPr>
        <p:spPr>
          <a:xfrm>
            <a:off x="2486025" y="1637035"/>
            <a:ext cx="6257925" cy="0"/>
          </a:xfrm>
          <a:prstGeom prst="line">
            <a:avLst/>
          </a:prstGeom>
          <a:noFill/>
          <a:ln w="7144">
            <a:solidFill>
              <a:srgbClr val="B8942E"/>
            </a:solidFill>
            <a:prstDash val="solid"/>
          </a:ln>
        </p:spPr>
      </p:sp>
      <p:sp>
        <p:nvSpPr>
          <p:cNvPr id="15" name="Shape 12"/>
          <p:cNvSpPr/>
          <p:nvPr/>
        </p:nvSpPr>
        <p:spPr>
          <a:xfrm>
            <a:off x="2500313" y="1008162"/>
            <a:ext cx="0" cy="632445"/>
          </a:xfrm>
          <a:prstGeom prst="line">
            <a:avLst/>
          </a:prstGeom>
          <a:noFill/>
          <a:ln w="28575">
            <a:solidFill>
              <a:srgbClr val="B8942E"/>
            </a:solidFill>
            <a:prstDash val="solid"/>
          </a:ln>
        </p:spPr>
      </p:sp>
      <p:sp>
        <p:nvSpPr>
          <p:cNvPr id="16" name="Text 13"/>
          <p:cNvSpPr/>
          <p:nvPr/>
        </p:nvSpPr>
        <p:spPr>
          <a:xfrm>
            <a:off x="2614613" y="1072455"/>
            <a:ext cx="6131909" cy="126828"/>
          </a:xfrm>
          <a:prstGeom prst="rect">
            <a:avLst/>
          </a:prstGeom>
          <a:noFill/>
          <a:ln/>
        </p:spPr>
        <p:txBody>
          <a:bodyPr wrap="square" lIns="0" tIns="0" rIns="0" bIns="0" rtlCol="0" anchor="t">
            <a:normAutofit/>
          </a:bodyPr>
          <a:lstStyle/>
          <a:p>
            <a:pPr algn="l" indent="0" marL="0">
              <a:lnSpc>
                <a:spcPts val="1103"/>
              </a:lnSpc>
              <a:buNone/>
            </a:pPr>
            <a:r>
              <a:rPr lang="en-US" sz="800" b="1" dirty="0">
                <a:solidFill>
                  <a:srgbClr val="B8942E"/>
                </a:solidFill>
                <a:latin typeface="Courier New" pitchFamily="34" charset="0"/>
                <a:ea typeface="Courier New" pitchFamily="34" charset="-122"/>
                <a:cs typeface="Courier New" pitchFamily="34" charset="-120"/>
              </a:rPr>
              <a:t>Utdelning = kontant som bolaget delar ut per aktie</a:t>
            </a:r>
            <a:endParaRPr lang="en-US" sz="800" dirty="0"/>
          </a:p>
        </p:txBody>
      </p:sp>
      <p:sp>
        <p:nvSpPr>
          <p:cNvPr id="17" name="Text 14"/>
          <p:cNvSpPr/>
          <p:nvPr/>
        </p:nvSpPr>
        <p:spPr>
          <a:xfrm>
            <a:off x="2614613" y="1226716"/>
            <a:ext cx="6131909" cy="131070"/>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B8942E"/>
                </a:solidFill>
                <a:latin typeface="Courier New" pitchFamily="34" charset="0"/>
                <a:ea typeface="Courier New" pitchFamily="34" charset="-122"/>
                <a:cs typeface="Courier New" pitchFamily="34" charset="-120"/>
              </a:rPr>
              <a:t>Direktavkastning = Utdelning / Aktiekurs</a:t>
            </a:r>
            <a:endParaRPr lang="en-US" sz="800" dirty="0"/>
          </a:p>
        </p:txBody>
      </p:sp>
      <p:sp>
        <p:nvSpPr>
          <p:cNvPr id="18" name="Text 15"/>
          <p:cNvSpPr/>
          <p:nvPr/>
        </p:nvSpPr>
        <p:spPr>
          <a:xfrm>
            <a:off x="2614613" y="1385218"/>
            <a:ext cx="6022181" cy="181023"/>
          </a:xfrm>
          <a:prstGeom prst="rect">
            <a:avLst/>
          </a:prstGeom>
          <a:noFill/>
          <a:ln/>
        </p:spPr>
        <p:txBody>
          <a:bodyPr wrap="square" lIns="0" tIns="0" rIns="0" bIns="0" rtlCol="0" anchor="t"/>
          <a:lstStyle/>
          <a:p>
            <a:pPr algn="l" indent="0" marL="0">
              <a:lnSpc>
                <a:spcPts val="1114"/>
              </a:lnSpc>
              <a:buNone/>
            </a:pPr>
            <a:r>
              <a:rPr lang="en-US" sz="800" i="1" dirty="0">
                <a:solidFill>
                  <a:srgbClr val="3D4556"/>
                </a:solidFill>
                <a:latin typeface="Carlito" pitchFamily="34" charset="0"/>
                <a:ea typeface="Carlito" pitchFamily="34" charset="-122"/>
                <a:cs typeface="Carlito" pitchFamily="34" charset="-120"/>
              </a:rPr>
              <a:t>(Enkelt: hur mycket kontant får jag tillbaka per år per aktie jag äger?)</a:t>
            </a:r>
            <a:endParaRPr lang="en-US" sz="800" dirty="0"/>
          </a:p>
        </p:txBody>
      </p:sp>
      <p:sp>
        <p:nvSpPr>
          <p:cNvPr id="19" name="Text 16"/>
          <p:cNvSpPr/>
          <p:nvPr/>
        </p:nvSpPr>
        <p:spPr>
          <a:xfrm>
            <a:off x="400050" y="1740619"/>
            <a:ext cx="4129088" cy="1914860"/>
          </a:xfrm>
          <a:prstGeom prst="rect">
            <a:avLst/>
          </a:prstGeom>
          <a:solidFill>
            <a:srgbClr val="2563EB">
              <a:alpha val="6000"/>
            </a:srgbClr>
          </a:solidFill>
          <a:ln/>
        </p:spPr>
        <p:txBody>
          <a:bodyPr wrap="square" rtlCol="0" anchor="ctr"/>
          <a:lstStyle/>
          <a:p>
            <a:pPr indent="0" marL="0">
              <a:buNone/>
            </a:pPr>
            <a:endParaRPr lang="en-US" dirty="0"/>
          </a:p>
        </p:txBody>
      </p:sp>
      <p:sp>
        <p:nvSpPr>
          <p:cNvPr id="20" name="Shape 17"/>
          <p:cNvSpPr/>
          <p:nvPr/>
        </p:nvSpPr>
        <p:spPr>
          <a:xfrm>
            <a:off x="410766" y="1740619"/>
            <a:ext cx="0" cy="1914860"/>
          </a:xfrm>
          <a:prstGeom prst="line">
            <a:avLst/>
          </a:prstGeom>
          <a:noFill/>
          <a:ln w="21431">
            <a:solidFill>
              <a:srgbClr val="2563EB"/>
            </a:solidFill>
            <a:prstDash val="solid"/>
          </a:ln>
        </p:spPr>
      </p:sp>
      <p:sp>
        <p:nvSpPr>
          <p:cNvPr id="21" name="Text 18"/>
          <p:cNvSpPr/>
          <p:nvPr/>
        </p:nvSpPr>
        <p:spPr>
          <a:xfrm>
            <a:off x="507206" y="1797769"/>
            <a:ext cx="3936206"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22" name="Text 19"/>
          <p:cNvSpPr/>
          <p:nvPr/>
        </p:nvSpPr>
        <p:spPr>
          <a:xfrm>
            <a:off x="507206" y="1967768"/>
            <a:ext cx="3936206" cy="339578"/>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Du äger 10% av pizzerian. Pizzerian gör 200 000 i vinst. Styrelsen beslutar dela ut 100 000 (behåller 100 000 för expansion). Du får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10 000 i utdelning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p:txBody>
      </p:sp>
      <p:sp>
        <p:nvSpPr>
          <p:cNvPr id="23" name="Text 20"/>
          <p:cNvSpPr/>
          <p:nvPr/>
        </p:nvSpPr>
        <p:spPr>
          <a:xfrm>
            <a:off x="507206" y="2334778"/>
            <a:ext cx="3936206"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Utdelning =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"hyra"</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från ditt ägande. Mogna bolag (H&amp;M, AstraZeneca) delar ut regelbundet. Tillväxtbolag (Safestate) behåller pengarna för att växa.</a:t>
            </a:r>
            <a:endParaRPr lang="en-US" sz="816" dirty="0"/>
          </a:p>
        </p:txBody>
      </p:sp>
      <p:sp>
        <p:nvSpPr>
          <p:cNvPr id="24" name="Shape 21"/>
          <p:cNvSpPr/>
          <p:nvPr/>
        </p:nvSpPr>
        <p:spPr>
          <a:xfrm>
            <a:off x="4614863" y="2042443"/>
            <a:ext cx="4129088" cy="0"/>
          </a:xfrm>
          <a:prstGeom prst="line">
            <a:avLst/>
          </a:prstGeom>
          <a:noFill/>
          <a:ln w="7144">
            <a:solidFill>
              <a:srgbClr val="E2E5EA"/>
            </a:solidFill>
            <a:prstDash val="solid"/>
          </a:ln>
        </p:spPr>
      </p:sp>
      <p:sp>
        <p:nvSpPr>
          <p:cNvPr id="25" name="Text 22"/>
          <p:cNvSpPr/>
          <p:nvPr/>
        </p:nvSpPr>
        <p:spPr>
          <a:xfrm>
            <a:off x="4614863" y="1840632"/>
            <a:ext cx="4529138" cy="206526"/>
          </a:xfrm>
          <a:prstGeom prst="rect">
            <a:avLst/>
          </a:prstGeom>
          <a:noFill/>
          <a:ln/>
        </p:spPr>
        <p:txBody>
          <a:bodyPr wrap="none" lIns="0" tIns="0" rIns="0" bIns="21431"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614863" y="2074590"/>
          <a:ext cx="4129088" cy="914400"/>
        </p:xfrm>
        <a:graphic>
          <a:graphicData uri="http://schemas.openxmlformats.org/drawingml/2006/table">
            <a:tbl>
              <a:tblPr/>
              <a:tblGrid>
                <a:gridCol w="371029"/>
                <a:gridCol w="1767967"/>
                <a:gridCol w="1990092"/>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Utdelning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4–6% + växande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Mogna kassa-maskin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2–4% + stabil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Hälsosam</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 eller startad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Ung utdelare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 men planerar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Framtida utdelare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 och ingen plan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Ren tillväxt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7" name="Text 23"/>
          <p:cNvSpPr/>
          <p:nvPr/>
        </p:nvSpPr>
        <p:spPr>
          <a:xfrm>
            <a:off x="403622" y="3701914"/>
            <a:ext cx="8336756" cy="395920"/>
          </a:xfrm>
          <a:prstGeom prst="roundRect">
            <a:avLst>
              <a:gd name="adj" fmla="val 14435"/>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8" name="Text 24"/>
          <p:cNvSpPr/>
          <p:nvPr/>
        </p:nvSpPr>
        <p:spPr>
          <a:xfrm>
            <a:off x="492919" y="3755492"/>
            <a:ext cx="8158163" cy="141339"/>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5"/>
          <p:cNvSpPr/>
          <p:nvPr/>
        </p:nvSpPr>
        <p:spPr>
          <a:xfrm>
            <a:off x="492919" y="3924263"/>
            <a:ext cx="8158163" cy="119993"/>
          </a:xfrm>
          <a:prstGeom prst="rect">
            <a:avLst/>
          </a:prstGeom>
          <a:noFill/>
          <a:ln/>
        </p:spPr>
        <p:txBody>
          <a:bodyPr wrap="square" lIns="0" tIns="0" rIns="0" bIns="0" rtlCol="0" anchor="t"/>
          <a:lstStyle/>
          <a:p>
            <a:pPr algn="l" indent="0" marL="0">
              <a:lnSpc>
                <a:spcPts val="945"/>
              </a:lnSpc>
              <a:buNone/>
            </a:pPr>
            <a:r>
              <a:rPr lang="en-US" sz="800" b="1" dirty="0">
                <a:solidFill>
                  <a:srgbClr val="1A1F2E"/>
                </a:solidFill>
                <a:latin typeface="Carlito" pitchFamily="34" charset="0"/>
                <a:ea typeface="Carlito" pitchFamily="34" charset="-122"/>
                <a:cs typeface="Carlito" pitchFamily="34" charset="-120"/>
              </a:rPr>
              <a:t>Safestate:</a:t>
            </a:r>
            <a:pPr algn="l" indent="0" marL="0">
              <a:lnSpc>
                <a:spcPts val="945"/>
              </a:lnSpc>
              <a:buNone/>
            </a:pPr>
            <a:r>
              <a:rPr lang="en-US" sz="800" dirty="0">
                <a:solidFill>
                  <a:srgbClr val="3D4556"/>
                </a:solidFill>
                <a:latin typeface="Carlito" pitchFamily="34" charset="0"/>
                <a:ea typeface="Carlito" pitchFamily="34" charset="-122"/>
                <a:cs typeface="Carlito" pitchFamily="34" charset="-120"/>
              </a:rPr>
              <a:t> Ingen utdelning 2025–2028E. Alla pengar till expansion. </a:t>
            </a:r>
            <a:pPr algn="l" indent="0" marL="0">
              <a:lnSpc>
                <a:spcPts val="945"/>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Poäng: 1</a:t>
            </a:r>
            <a:pPr algn="l" indent="0" marL="0">
              <a:lnSpc>
                <a:spcPts val="945"/>
              </a:lnSpc>
              <a:buNone/>
            </a:pPr>
            <a:r>
              <a:rPr lang="en-US" sz="800" dirty="0">
                <a:solidFill>
                  <a:srgbClr val="3D4556"/>
                </a:solidFill>
                <a:latin typeface="Carlito" pitchFamily="34" charset="0"/>
                <a:ea typeface="Carlito" pitchFamily="34" charset="-122"/>
                <a:cs typeface="Carlito" pitchFamily="34" charset="-120"/>
              </a:rPr>
              <a:t> (ren tillväxt). Från 2029E möjlig utdelning vid full mognad.</a:t>
            </a:r>
            <a:endParaRPr lang="en-US" sz="800" dirty="0"/>
          </a:p>
        </p:txBody>
      </p:sp>
      <p:sp>
        <p:nvSpPr>
          <p:cNvPr id="30" name="Text 26"/>
          <p:cNvSpPr/>
          <p:nvPr/>
        </p:nvSpPr>
        <p:spPr>
          <a:xfrm>
            <a:off x="400050" y="4144268"/>
            <a:ext cx="8343900" cy="928129"/>
          </a:xfrm>
          <a:prstGeom prst="rect">
            <a:avLst/>
          </a:prstGeom>
          <a:solidFill>
            <a:srgbClr val="DC2626">
              <a:alpha val="8000"/>
            </a:srgbClr>
          </a:solidFill>
          <a:ln/>
        </p:spPr>
        <p:txBody>
          <a:bodyPr wrap="square" rtlCol="0" anchor="ctr"/>
          <a:lstStyle/>
          <a:p>
            <a:pPr indent="0" marL="0">
              <a:buNone/>
            </a:pPr>
            <a:endParaRPr lang="en-US" dirty="0"/>
          </a:p>
        </p:txBody>
      </p:sp>
      <p:sp>
        <p:nvSpPr>
          <p:cNvPr id="31" name="Shape 27"/>
          <p:cNvSpPr/>
          <p:nvPr/>
        </p:nvSpPr>
        <p:spPr>
          <a:xfrm>
            <a:off x="410766" y="4144268"/>
            <a:ext cx="0" cy="928129"/>
          </a:xfrm>
          <a:prstGeom prst="line">
            <a:avLst/>
          </a:prstGeom>
          <a:noFill/>
          <a:ln w="21431">
            <a:solidFill>
              <a:srgbClr val="DC2626"/>
            </a:solidFill>
            <a:prstDash val="solid"/>
          </a:ln>
        </p:spPr>
      </p:sp>
      <p:sp>
        <p:nvSpPr>
          <p:cNvPr id="32" name="Text 28"/>
          <p:cNvSpPr/>
          <p:nvPr/>
        </p:nvSpPr>
        <p:spPr>
          <a:xfrm>
            <a:off x="507206" y="4201418"/>
            <a:ext cx="8260747" cy="130735"/>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VARIABEL 18 VS VARIABEL 19 — RELATION</a:t>
            </a:r>
            <a:endParaRPr lang="en-US" sz="800" dirty="0"/>
          </a:p>
        </p:txBody>
      </p:sp>
      <p:sp>
        <p:nvSpPr>
          <p:cNvPr id="33" name="Text 29"/>
          <p:cNvSpPr/>
          <p:nvPr/>
        </p:nvSpPr>
        <p:spPr>
          <a:xfrm>
            <a:off x="507206" y="4359585"/>
            <a:ext cx="8151019" cy="125377"/>
          </a:xfrm>
          <a:prstGeom prst="rect">
            <a:avLst/>
          </a:prstGeom>
          <a:noFill/>
          <a:ln/>
        </p:spPr>
        <p:txBody>
          <a:bodyPr wrap="square" lIns="0" tIns="0" rIns="0" bIns="0" rtlCol="0" anchor="t">
            <a:normAutofit/>
          </a:bodyPr>
          <a:lstStyle/>
          <a:p>
            <a:pPr algn="l" indent="0" marL="0">
              <a:lnSpc>
                <a:spcPts val="979"/>
              </a:lnSpc>
              <a:buNone/>
            </a:pPr>
            <a:r>
              <a:rPr lang="en-US" sz="800" dirty="0">
                <a:solidFill>
                  <a:srgbClr val="1A1F2E"/>
                </a:solidFill>
                <a:latin typeface="Carlito" pitchFamily="34" charset="0"/>
                <a:ea typeface="Carlito" pitchFamily="34" charset="-122"/>
                <a:cs typeface="Carlito" pitchFamily="34" charset="-120"/>
              </a:rPr>
              <a:t>Variabel 18 (utdelning) och Variabel 19 (kapital förbränning) hör ihop:</a:t>
            </a:r>
            <a:endParaRPr lang="en-US" sz="800" dirty="0"/>
          </a:p>
        </p:txBody>
      </p:sp>
      <p:sp>
        <p:nvSpPr>
          <p:cNvPr id="34" name="Text 30"/>
          <p:cNvSpPr/>
          <p:nvPr/>
        </p:nvSpPr>
        <p:spPr>
          <a:xfrm>
            <a:off x="507206" y="4512394"/>
            <a:ext cx="8151019" cy="283817"/>
          </a:xfrm>
          <a:prstGeom prst="rect">
            <a:avLst/>
          </a:prstGeom>
          <a:noFill/>
          <a:ln/>
        </p:spPr>
        <p:txBody>
          <a:bodyPr wrap="square" lIns="50006" tIns="0" rIns="0" bIns="0" rtlCol="0" anchor="t"/>
          <a:lstStyle/>
          <a:p>
            <a:pPr algn="l" indent="0" marL="0">
              <a:lnSpc>
                <a:spcPts val="945"/>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Bolag med </a:t>
            </a:r>
            <a:pPr algn="l" indent="0" marL="0">
              <a:lnSpc>
                <a:spcPts val="945"/>
              </a:lnSpc>
              <a:spcAft>
                <a:spcPts val="113"/>
              </a:spcAft>
              <a:buNone/>
            </a:pPr>
            <a:r>
              <a:rPr lang="en-US" sz="800" b="1" dirty="0">
                <a:solidFill>
                  <a:srgbClr val="3D4556"/>
                </a:solidFill>
                <a:latin typeface="Carlito" pitchFamily="34" charset="0"/>
                <a:ea typeface="Carlito" pitchFamily="34" charset="-122"/>
                <a:cs typeface="Carlito" pitchFamily="34" charset="-120"/>
              </a:rPr>
              <a:t>LÅG</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 kapital förbränning (var 19 bra) → kan dela ut (var 18 möjlig)</a:t>
            </a:r>
            <a:endParaRPr lang="en-US" sz="800" dirty="0"/>
          </a:p>
          <a:p>
            <a:pPr algn="l" indent="0" marL="0">
              <a:lnSpc>
                <a:spcPts val="945"/>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Bolag med </a:t>
            </a:r>
            <a:pPr algn="l" indent="0" marL="0">
              <a:lnSpc>
                <a:spcPts val="945"/>
              </a:lnSpc>
              <a:spcAft>
                <a:spcPts val="113"/>
              </a:spcAft>
              <a:buNone/>
            </a:pPr>
            <a:r>
              <a:rPr lang="en-US" sz="800" b="1" dirty="0">
                <a:solidFill>
                  <a:srgbClr val="3D4556"/>
                </a:solidFill>
                <a:latin typeface="Carlito" pitchFamily="34" charset="0"/>
                <a:ea typeface="Carlito" pitchFamily="34" charset="-122"/>
                <a:cs typeface="Carlito" pitchFamily="34" charset="-120"/>
              </a:rPr>
              <a:t>HÖG</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 kapital förbränning (var 19 dålig) → kan </a:t>
            </a:r>
            <a:pPr algn="l" indent="0" marL="0">
              <a:lnSpc>
                <a:spcPts val="945"/>
              </a:lnSpc>
              <a:spcAft>
                <a:spcPts val="113"/>
              </a:spcAft>
              <a:buNone/>
            </a:pPr>
            <a:r>
              <a:rPr lang="en-US" sz="800" b="1" dirty="0">
                <a:solidFill>
                  <a:srgbClr val="3D4556"/>
                </a:solidFill>
                <a:latin typeface="Carlito" pitchFamily="34" charset="0"/>
                <a:ea typeface="Carlito" pitchFamily="34" charset="-122"/>
                <a:cs typeface="Carlito" pitchFamily="34" charset="-120"/>
              </a:rPr>
              <a:t>INTE</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 dela ut hållbart</a:t>
            </a:r>
            <a:endParaRPr lang="en-US" sz="800" dirty="0"/>
          </a:p>
        </p:txBody>
      </p:sp>
      <p:sp>
        <p:nvSpPr>
          <p:cNvPr id="35" name="Text 31"/>
          <p:cNvSpPr/>
          <p:nvPr/>
        </p:nvSpPr>
        <p:spPr>
          <a:xfrm>
            <a:off x="507206" y="4802386"/>
            <a:ext cx="8151019" cy="212861"/>
          </a:xfrm>
          <a:prstGeom prst="rect">
            <a:avLst/>
          </a:prstGeom>
          <a:solidFill>
            <a:srgbClr val="DC2626">
              <a:alpha val="12000"/>
            </a:srgbClr>
          </a:solidFill>
          <a:ln/>
        </p:spPr>
        <p:txBody>
          <a:bodyPr wrap="square" rtlCol="0" anchor="ctr"/>
          <a:lstStyle/>
          <a:p>
            <a:pPr indent="0" marL="0">
              <a:buNone/>
            </a:pPr>
            <a:endParaRPr lang="en-US" dirty="0"/>
          </a:p>
        </p:txBody>
      </p:sp>
      <p:sp>
        <p:nvSpPr>
          <p:cNvPr id="36" name="Shape 32"/>
          <p:cNvSpPr/>
          <p:nvPr/>
        </p:nvSpPr>
        <p:spPr>
          <a:xfrm>
            <a:off x="517922" y="4802386"/>
            <a:ext cx="0" cy="212861"/>
          </a:xfrm>
          <a:prstGeom prst="line">
            <a:avLst/>
          </a:prstGeom>
          <a:noFill/>
          <a:ln w="21431">
            <a:solidFill>
              <a:srgbClr val="DC2626"/>
            </a:solidFill>
            <a:prstDash val="solid"/>
          </a:ln>
        </p:spPr>
      </p:sp>
      <p:sp>
        <p:nvSpPr>
          <p:cNvPr id="37" name="Text 33"/>
          <p:cNvSpPr/>
          <p:nvPr/>
        </p:nvSpPr>
        <p:spPr>
          <a:xfrm>
            <a:off x="507206" y="4802386"/>
            <a:ext cx="8151019" cy="212861"/>
          </a:xfrm>
          <a:prstGeom prst="rect">
            <a:avLst/>
          </a:prstGeom>
          <a:noFill/>
          <a:ln/>
        </p:spPr>
        <p:txBody>
          <a:bodyPr wrap="square" lIns="64294" tIns="35719" rIns="64294" bIns="35719" rtlCol="0" anchor="t"/>
          <a:lstStyle/>
          <a:p>
            <a:pPr algn="l" indent="0" marL="0">
              <a:lnSpc>
                <a:spcPts val="1114"/>
              </a:lnSpc>
              <a:buNone/>
            </a:pPr>
            <a:r>
              <a:rPr lang="en-US" sz="675" b="1" dirty="0">
                <a:solidFill>
                  <a:srgbClr val="DC2626"/>
                </a:solidFill>
                <a:latin typeface="Carlito" pitchFamily="34" charset="0"/>
                <a:ea typeface="Carlito" pitchFamily="34" charset="-122"/>
                <a:cs typeface="Carlito" pitchFamily="34" charset="-120"/>
              </a:rPr>
              <a:t>VARNING:</a:t>
            </a:r>
            <a:pPr algn="l" indent="0" marL="0">
              <a:lnSpc>
                <a:spcPts val="1114"/>
              </a:lnSpc>
              <a:buNone/>
            </a:pPr>
            <a:r>
              <a:rPr lang="en-US" sz="675" dirty="0">
                <a:solidFill>
                  <a:srgbClr val="1A1F2E"/>
                </a:solidFill>
                <a:latin typeface="Carlito" pitchFamily="34" charset="0"/>
                <a:ea typeface="Carlito" pitchFamily="34" charset="-122"/>
                <a:cs typeface="Carlito" pitchFamily="34" charset="-120"/>
              </a:rPr>
              <a:t> Om bolag delar ut utdelning (var 18 bra) men har </a:t>
            </a:r>
            <a:pPr algn="l" indent="0" marL="0">
              <a:lnSpc>
                <a:spcPts val="1114"/>
              </a:lnSpc>
              <a:buNone/>
            </a:pPr>
            <a:r>
              <a:rPr lang="en-US" sz="675" b="1" dirty="0">
                <a:solidFill>
                  <a:srgbClr val="DC2626"/>
                </a:solidFill>
                <a:latin typeface="Carlito" pitchFamily="34" charset="0"/>
                <a:ea typeface="Carlito" pitchFamily="34" charset="-122"/>
                <a:cs typeface="Carlito" pitchFamily="34" charset="-120"/>
              </a:rPr>
              <a:t>HÖG</a:t>
            </a:r>
            <a:pPr algn="l" indent="0" marL="0">
              <a:lnSpc>
                <a:spcPts val="1114"/>
              </a:lnSpc>
              <a:buNone/>
            </a:pPr>
            <a:r>
              <a:rPr lang="en-US" sz="675" dirty="0">
                <a:solidFill>
                  <a:srgbClr val="1A1F2E"/>
                </a:solidFill>
                <a:latin typeface="Carlito" pitchFamily="34" charset="0"/>
                <a:ea typeface="Carlito" pitchFamily="34" charset="-122"/>
                <a:cs typeface="Carlito" pitchFamily="34" charset="-120"/>
              </a:rPr>
              <a:t> kapital förbränning (var 19 dålig) → utdelningen finansieras med kassa, inte med vinst. </a:t>
            </a:r>
            <a:pPr algn="l" indent="0" marL="0">
              <a:lnSpc>
                <a:spcPts val="1114"/>
              </a:lnSpc>
              <a:buNone/>
            </a:pPr>
            <a:r>
              <a:rPr lang="en-US" sz="675" b="1" dirty="0">
                <a:solidFill>
                  <a:srgbClr val="DC2626"/>
                </a:solidFill>
                <a:latin typeface="Carlito" pitchFamily="34" charset="0"/>
                <a:ea typeface="Carlito" pitchFamily="34" charset="-122"/>
                <a:cs typeface="Carlito" pitchFamily="34" charset="-120"/>
              </a:rPr>
              <a:t>OHÅLLBART.</a:t>
            </a:r>
            <a:pPr algn="l" indent="0" marL="0">
              <a:lnSpc>
                <a:spcPts val="1114"/>
              </a:lnSpc>
              <a:buNone/>
            </a:pPr>
            <a:r>
              <a:rPr lang="en-US" sz="675" dirty="0">
                <a:solidFill>
                  <a:srgbClr val="1A1F2E"/>
                </a:solidFill>
                <a:latin typeface="Carlito" pitchFamily="34" charset="0"/>
                <a:ea typeface="Carlito" pitchFamily="34" charset="-122"/>
                <a:cs typeface="Carlito" pitchFamily="34" charset="-120"/>
              </a:rPr>
              <a:t> Detta är en röd flagga.</a:t>
            </a:r>
            <a:endParaRPr lang="en-US" sz="675" dirty="0"/>
          </a:p>
        </p:txBody>
      </p:sp>
      <p:sp>
        <p:nvSpPr>
          <p:cNvPr id="38" name="Shape 34"/>
          <p:cNvSpPr/>
          <p:nvPr/>
        </p:nvSpPr>
        <p:spPr>
          <a:xfrm>
            <a:off x="457200" y="4850606"/>
            <a:ext cx="8229600" cy="0"/>
          </a:xfrm>
          <a:prstGeom prst="line">
            <a:avLst/>
          </a:prstGeom>
          <a:noFill/>
          <a:ln w="7144">
            <a:solidFill>
              <a:srgbClr val="E2E5EA"/>
            </a:solidFill>
            <a:prstDash val="solid"/>
          </a:ln>
        </p:spPr>
      </p:sp>
      <p:sp>
        <p:nvSpPr>
          <p:cNvPr id="39" name="Text 35"/>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Bonus — Variablerna 18 &amp; 19</a:t>
            </a:r>
            <a:endParaRPr lang="en-US" sz="800" dirty="0"/>
          </a:p>
        </p:txBody>
      </p:sp>
      <p:sp>
        <p:nvSpPr>
          <p:cNvPr id="40" name="Text 36"/>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36 / 40</a:t>
            </a:r>
            <a:endParaRPr lang="en-US" sz="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40010"/>
            <a:ext cx="8343900" cy="0"/>
          </a:xfrm>
          <a:prstGeom prst="line">
            <a:avLst/>
          </a:prstGeom>
          <a:noFill/>
          <a:ln w="7144">
            <a:solidFill>
              <a:srgbClr val="E2E5EA"/>
            </a:solidFill>
            <a:prstDash val="solid"/>
          </a:ln>
        </p:spPr>
      </p:sp>
      <p:sp>
        <p:nvSpPr>
          <p:cNvPr id="3" name="Text 1"/>
          <p:cNvSpPr/>
          <p:nvPr/>
        </p:nvSpPr>
        <p:spPr>
          <a:xfrm>
            <a:off x="400050" y="214313"/>
            <a:ext cx="728573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BONUS</a:t>
            </a:r>
            <a:endParaRPr lang="en-US" sz="800" dirty="0"/>
          </a:p>
        </p:txBody>
      </p:sp>
      <p:sp>
        <p:nvSpPr>
          <p:cNvPr id="4" name="Text 2"/>
          <p:cNvSpPr/>
          <p:nvPr/>
        </p:nvSpPr>
        <p:spPr>
          <a:xfrm>
            <a:off x="7700070" y="231949"/>
            <a:ext cx="1043880"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19 DEL 1 · 37 / 40</a:t>
            </a:r>
            <a:endParaRPr lang="en-US" sz="619" dirty="0"/>
          </a:p>
        </p:txBody>
      </p:sp>
      <p:sp>
        <p:nvSpPr>
          <p:cNvPr id="5" name="Text 3"/>
          <p:cNvSpPr/>
          <p:nvPr/>
        </p:nvSpPr>
        <p:spPr>
          <a:xfrm>
            <a:off x="400050" y="572170"/>
            <a:ext cx="8636000" cy="176835"/>
          </a:xfrm>
          <a:prstGeom prst="rect">
            <a:avLst/>
          </a:prstGeom>
          <a:noFill/>
          <a:ln/>
        </p:spPr>
        <p:txBody>
          <a:bodyPr wrap="square" lIns="0" tIns="0" rIns="0" bIns="0" rtlCol="0" anchor="t">
            <a:normAutofit/>
          </a:bodyPr>
          <a:lstStyle/>
          <a:p>
            <a:pPr algn="l" indent="0" marL="0">
              <a:lnSpc>
                <a:spcPts val="1553"/>
              </a:lnSpc>
              <a:buNone/>
            </a:pPr>
            <a:r>
              <a:rPr lang="en-US" sz="1350" b="1" spc="-28" kern="0" dirty="0">
                <a:solidFill>
                  <a:srgbClr val="1A1F2E"/>
                </a:solidFill>
                <a:latin typeface="Carlito" pitchFamily="34" charset="0"/>
                <a:ea typeface="Carlito" pitchFamily="34" charset="-122"/>
                <a:cs typeface="Carlito" pitchFamily="34" charset="-120"/>
              </a:rPr>
              <a:t>Variabel 19: Kapital förbränning (del 1)</a:t>
            </a:r>
            <a:endParaRPr lang="en-US" sz="1350" dirty="0"/>
          </a:p>
        </p:txBody>
      </p:sp>
      <p:sp>
        <p:nvSpPr>
          <p:cNvPr id="6" name="Text 4"/>
          <p:cNvSpPr/>
          <p:nvPr/>
        </p:nvSpPr>
        <p:spPr>
          <a:xfrm>
            <a:off x="400050" y="776436"/>
            <a:ext cx="8343900" cy="168575"/>
          </a:xfrm>
          <a:prstGeom prst="rect">
            <a:avLst/>
          </a:prstGeom>
          <a:noFill/>
          <a:ln/>
        </p:spPr>
        <p:txBody>
          <a:bodyPr wrap="square" lIns="0" tIns="0" rIns="0" bIns="0" rtlCol="0" anchor="t">
            <a:normAutofit/>
          </a:bodyPr>
          <a:lstStyle/>
          <a:p>
            <a:pPr algn="l" indent="0" marL="0">
              <a:lnSpc>
                <a:spcPts val="1207"/>
              </a:lnSpc>
              <a:buNone/>
            </a:pPr>
            <a:r>
              <a:rPr lang="en-US" sz="800" spc="56" kern="0" dirty="0">
                <a:solidFill>
                  <a:srgbClr val="DC2626"/>
                </a:solidFill>
                <a:latin typeface="Carlito" pitchFamily="34" charset="0"/>
                <a:ea typeface="Carlito" pitchFamily="34" charset="-122"/>
                <a:cs typeface="Carlito" pitchFamily="34" charset="-120"/>
              </a:rPr>
              <a:t>⭐ DEN VIKTIGASTE VARIABELN — KLARAR BOLAGET SIG UTAN NYEMISSION?</a:t>
            </a:r>
            <a:endParaRPr lang="en-US" sz="800" dirty="0"/>
          </a:p>
        </p:txBody>
      </p:sp>
      <p:sp>
        <p:nvSpPr>
          <p:cNvPr id="7" name="Text 5"/>
          <p:cNvSpPr/>
          <p:nvPr/>
        </p:nvSpPr>
        <p:spPr>
          <a:xfrm>
            <a:off x="400050" y="972443"/>
            <a:ext cx="8343900" cy="604651"/>
          </a:xfrm>
          <a:prstGeom prst="roundRect">
            <a:avLst>
              <a:gd name="adj" fmla="val 9452"/>
            </a:avLst>
          </a:prstGeom>
          <a:solidFill>
            <a:srgbClr val="DC2626">
              <a:alpha val="12000"/>
            </a:srgbClr>
          </a:solidFill>
          <a:ln/>
        </p:spPr>
        <p:txBody>
          <a:bodyPr wrap="square" rtlCol="0" anchor="ctr"/>
          <a:lstStyle/>
          <a:p>
            <a:pPr indent="0" marL="0">
              <a:buNone/>
            </a:pPr>
            <a:endParaRPr lang="en-US" dirty="0"/>
          </a:p>
        </p:txBody>
      </p:sp>
      <p:sp>
        <p:nvSpPr>
          <p:cNvPr id="8" name="Shape 6"/>
          <p:cNvSpPr/>
          <p:nvPr/>
        </p:nvSpPr>
        <p:spPr>
          <a:xfrm>
            <a:off x="400050" y="976015"/>
            <a:ext cx="8343900" cy="0"/>
          </a:xfrm>
          <a:prstGeom prst="line">
            <a:avLst/>
          </a:prstGeom>
          <a:noFill/>
          <a:ln w="7144">
            <a:solidFill>
              <a:srgbClr val="DC2626"/>
            </a:solidFill>
            <a:prstDash val="solid"/>
          </a:ln>
        </p:spPr>
      </p:sp>
      <p:sp>
        <p:nvSpPr>
          <p:cNvPr id="9" name="Shape 7"/>
          <p:cNvSpPr/>
          <p:nvPr/>
        </p:nvSpPr>
        <p:spPr>
          <a:xfrm>
            <a:off x="8740378" y="972443"/>
            <a:ext cx="0" cy="604651"/>
          </a:xfrm>
          <a:prstGeom prst="line">
            <a:avLst/>
          </a:prstGeom>
          <a:noFill/>
          <a:ln w="7144">
            <a:solidFill>
              <a:srgbClr val="DC2626"/>
            </a:solidFill>
            <a:prstDash val="solid"/>
          </a:ln>
        </p:spPr>
      </p:sp>
      <p:sp>
        <p:nvSpPr>
          <p:cNvPr id="10" name="Shape 8"/>
          <p:cNvSpPr/>
          <p:nvPr/>
        </p:nvSpPr>
        <p:spPr>
          <a:xfrm>
            <a:off x="400050" y="1573523"/>
            <a:ext cx="8343900" cy="0"/>
          </a:xfrm>
          <a:prstGeom prst="line">
            <a:avLst/>
          </a:prstGeom>
          <a:noFill/>
          <a:ln w="7144">
            <a:solidFill>
              <a:srgbClr val="DC2626"/>
            </a:solidFill>
            <a:prstDash val="solid"/>
          </a:ln>
        </p:spPr>
      </p:sp>
      <p:sp>
        <p:nvSpPr>
          <p:cNvPr id="11" name="Shape 9"/>
          <p:cNvSpPr/>
          <p:nvPr/>
        </p:nvSpPr>
        <p:spPr>
          <a:xfrm>
            <a:off x="417909" y="972443"/>
            <a:ext cx="0" cy="604651"/>
          </a:xfrm>
          <a:prstGeom prst="line">
            <a:avLst/>
          </a:prstGeom>
          <a:noFill/>
          <a:ln w="35719">
            <a:solidFill>
              <a:srgbClr val="DC2626"/>
            </a:solidFill>
            <a:prstDash val="solid"/>
          </a:ln>
        </p:spPr>
      </p:sp>
      <p:sp>
        <p:nvSpPr>
          <p:cNvPr id="12" name="Text 10"/>
          <p:cNvSpPr/>
          <p:nvPr/>
        </p:nvSpPr>
        <p:spPr>
          <a:xfrm>
            <a:off x="535781" y="1036737"/>
            <a:ext cx="8210740" cy="189671"/>
          </a:xfrm>
          <a:prstGeom prst="rect">
            <a:avLst/>
          </a:prstGeom>
          <a:noFill/>
          <a:ln/>
        </p:spPr>
        <p:txBody>
          <a:bodyPr wrap="none" lIns="0" tIns="0" rIns="0" bIns="0" rtlCol="0" anchor="t">
            <a:normAutofit/>
          </a:bodyPr>
          <a:lstStyle/>
          <a:p>
            <a:pPr algn="l" indent="0" marL="0">
              <a:lnSpc>
                <a:spcPts val="1207"/>
              </a:lnSpc>
              <a:buNone/>
            </a:pPr>
            <a:r>
              <a:rPr lang="en-US" sz="800" b="1" spc="45" kern="0" dirty="0">
                <a:solidFill>
                  <a:srgbClr val="DC2626"/>
                </a:solidFill>
                <a:latin typeface="Liberation Sans Narrow" pitchFamily="34" charset="0"/>
                <a:ea typeface="Liberation Sans Narrow" pitchFamily="34" charset="-122"/>
                <a:cs typeface="Liberation Sans Narrow" pitchFamily="34" charset="-120"/>
              </a:rPr>
              <a:t>VARIABEL 19 — DEN VIKTIGASTE</a:t>
            </a:r>
            <a:endParaRPr lang="en-US" sz="800" dirty="0"/>
          </a:p>
        </p:txBody>
      </p:sp>
      <p:sp>
        <p:nvSpPr>
          <p:cNvPr id="13" name="Text 11"/>
          <p:cNvSpPr/>
          <p:nvPr/>
        </p:nvSpPr>
        <p:spPr>
          <a:xfrm>
            <a:off x="535781" y="1253840"/>
            <a:ext cx="8101013" cy="258961"/>
          </a:xfrm>
          <a:prstGeom prst="rect">
            <a:avLst/>
          </a:prstGeom>
          <a:noFill/>
          <a:ln/>
        </p:spPr>
        <p:txBody>
          <a:bodyPr wrap="square" lIns="0" tIns="0" rIns="0" bIns="0" rtlCol="0" anchor="t"/>
          <a:lstStyle/>
          <a:p>
            <a:pPr algn="l" indent="0" marL="0">
              <a:lnSpc>
                <a:spcPts val="1020"/>
              </a:lnSpc>
              <a:buNone/>
            </a:pPr>
            <a:r>
              <a:rPr lang="en-US" sz="800" i="1" dirty="0">
                <a:solidFill>
                  <a:srgbClr val="B8942E"/>
                </a:solidFill>
                <a:latin typeface="Carlito" pitchFamily="34" charset="0"/>
                <a:ea typeface="Carlito" pitchFamily="34" charset="-122"/>
                <a:cs typeface="Carlito" pitchFamily="34" charset="-120"/>
              </a:rPr>
              <a:t>PDF: "dessa är de gamla variabler förutom variable 18 och 19."</a:t>
            </a:r>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 Variabel 19 = kapital förbränning &amp; emission-risk. Den enskilt viktigaste indikatorn för small-cap och SaaS-investerare. </a:t>
            </a:r>
            <a:pPr algn="l" indent="0" marL="0">
              <a:lnSpc>
                <a:spcPts val="1020"/>
              </a:lnSpc>
              <a:buNone/>
            </a:pPr>
            <a:r>
              <a:rPr lang="en-US" sz="800" b="1" dirty="0">
                <a:solidFill>
                  <a:srgbClr val="1A1F2E"/>
                </a:solidFill>
                <a:latin typeface="Carlito" pitchFamily="34" charset="0"/>
                <a:ea typeface="Carlito" pitchFamily="34" charset="-122"/>
                <a:cs typeface="Carlito" pitchFamily="34" charset="-120"/>
              </a:rPr>
              <a:t>Tre emissioner om 20% = du förlorar hälften av din andel.</a:t>
            </a:r>
            <a:endParaRPr lang="en-US" sz="800" dirty="0"/>
          </a:p>
        </p:txBody>
      </p:sp>
      <p:pic>
        <p:nvPicPr>
          <p:cNvPr id="14" name="Image 0" descr="preencoded.png">    </p:cNvPr>
          <p:cNvPicPr>
            <a:picLocks noChangeAspect="1"/>
          </p:cNvPicPr>
          <p:nvPr/>
        </p:nvPicPr>
        <p:blipFill>
          <a:blip r:embed="rId1"/>
          <a:stretch>
            <a:fillRect/>
          </a:stretch>
        </p:blipFill>
        <p:spPr>
          <a:xfrm>
            <a:off x="400050" y="1634244"/>
            <a:ext cx="8343900" cy="402729"/>
          </a:xfrm>
          <a:prstGeom prst="rect">
            <a:avLst/>
          </a:prstGeom>
        </p:spPr>
      </p:pic>
      <p:sp>
        <p:nvSpPr>
          <p:cNvPr id="15" name="Shape 12"/>
          <p:cNvSpPr/>
          <p:nvPr/>
        </p:nvSpPr>
        <p:spPr>
          <a:xfrm>
            <a:off x="400050" y="1637816"/>
            <a:ext cx="8343900" cy="0"/>
          </a:xfrm>
          <a:prstGeom prst="line">
            <a:avLst/>
          </a:prstGeom>
          <a:noFill/>
          <a:ln w="7144">
            <a:solidFill>
              <a:srgbClr val="B8942E"/>
            </a:solidFill>
            <a:prstDash val="solid"/>
          </a:ln>
        </p:spPr>
      </p:sp>
      <p:sp>
        <p:nvSpPr>
          <p:cNvPr id="16" name="Shape 13"/>
          <p:cNvSpPr/>
          <p:nvPr/>
        </p:nvSpPr>
        <p:spPr>
          <a:xfrm>
            <a:off x="8740378" y="1634244"/>
            <a:ext cx="0" cy="402729"/>
          </a:xfrm>
          <a:prstGeom prst="line">
            <a:avLst/>
          </a:prstGeom>
          <a:noFill/>
          <a:ln w="7144">
            <a:solidFill>
              <a:srgbClr val="B8942E"/>
            </a:solidFill>
            <a:prstDash val="solid"/>
          </a:ln>
        </p:spPr>
      </p:sp>
      <p:sp>
        <p:nvSpPr>
          <p:cNvPr id="17" name="Shape 14"/>
          <p:cNvSpPr/>
          <p:nvPr/>
        </p:nvSpPr>
        <p:spPr>
          <a:xfrm>
            <a:off x="400050" y="2033401"/>
            <a:ext cx="8343900" cy="0"/>
          </a:xfrm>
          <a:prstGeom prst="line">
            <a:avLst/>
          </a:prstGeom>
          <a:noFill/>
          <a:ln w="7144">
            <a:solidFill>
              <a:srgbClr val="B8942E"/>
            </a:solidFill>
            <a:prstDash val="solid"/>
          </a:ln>
        </p:spPr>
      </p:sp>
      <p:sp>
        <p:nvSpPr>
          <p:cNvPr id="18" name="Shape 15"/>
          <p:cNvSpPr/>
          <p:nvPr/>
        </p:nvSpPr>
        <p:spPr>
          <a:xfrm>
            <a:off x="414338" y="1634244"/>
            <a:ext cx="0" cy="402729"/>
          </a:xfrm>
          <a:prstGeom prst="line">
            <a:avLst/>
          </a:prstGeom>
          <a:noFill/>
          <a:ln w="28575">
            <a:solidFill>
              <a:srgbClr val="B8942E"/>
            </a:solidFill>
            <a:prstDash val="solid"/>
          </a:ln>
        </p:spPr>
      </p:sp>
      <p:sp>
        <p:nvSpPr>
          <p:cNvPr id="19" name="Text 16"/>
          <p:cNvSpPr/>
          <p:nvPr/>
        </p:nvSpPr>
        <p:spPr>
          <a:xfrm>
            <a:off x="528638" y="1705682"/>
            <a:ext cx="2683594" cy="259854"/>
          </a:xfrm>
          <a:prstGeom prst="rect">
            <a:avLst/>
          </a:prstGeom>
          <a:noFill/>
          <a:ln/>
        </p:spPr>
        <p:txBody>
          <a:bodyPr wrap="square" lIns="0" tIns="0" rIns="0" bIns="0" rtlCol="0" anchor="t"/>
          <a:lstStyle/>
          <a:p>
            <a:pPr algn="l" indent="0" marL="0">
              <a:lnSpc>
                <a:spcPts val="1024"/>
              </a:lnSpc>
              <a:buNone/>
            </a:pPr>
            <a:r>
              <a:rPr lang="en-US" sz="800" b="1" dirty="0">
                <a:solidFill>
                  <a:srgbClr val="B8942E"/>
                </a:solidFill>
                <a:latin typeface="Courier New" pitchFamily="34" charset="0"/>
                <a:ea typeface="Courier New" pitchFamily="34" charset="-122"/>
                <a:cs typeface="Courier New" pitchFamily="34" charset="-120"/>
              </a:rPr>
              <a:t>Net burn = |FCF|</a:t>
            </a:r>
            <a:endParaRPr lang="en-US" sz="800" dirty="0"/>
          </a:p>
          <a:p>
            <a:pPr algn="l" indent="0" marL="0">
              <a:lnSpc>
                <a:spcPts val="1024"/>
              </a:lnSpc>
              <a:buNone/>
            </a:pPr>
            <a:r>
              <a:rPr lang="en-US" sz="800" b="1" i="1" dirty="0">
                <a:solidFill>
                  <a:srgbClr val="3D4556"/>
                </a:solidFill>
                <a:latin typeface="Carlito" pitchFamily="34" charset="0"/>
                <a:ea typeface="Carlito" pitchFamily="34" charset="-122"/>
                <a:cs typeface="Carlito" pitchFamily="34" charset="-120"/>
              </a:rPr>
              <a:t>(månatlig fri kassaflödesförlust)</a:t>
            </a:r>
            <a:endParaRPr lang="en-US" sz="800" dirty="0"/>
          </a:p>
        </p:txBody>
      </p:sp>
      <p:sp>
        <p:nvSpPr>
          <p:cNvPr id="20" name="Text 17"/>
          <p:cNvSpPr/>
          <p:nvPr/>
        </p:nvSpPr>
        <p:spPr>
          <a:xfrm>
            <a:off x="3269382" y="1705682"/>
            <a:ext cx="2683706" cy="259854"/>
          </a:xfrm>
          <a:prstGeom prst="rect">
            <a:avLst/>
          </a:prstGeom>
          <a:noFill/>
          <a:ln/>
        </p:spPr>
        <p:txBody>
          <a:bodyPr wrap="square" lIns="0" tIns="0" rIns="0" bIns="0" rtlCol="0" anchor="t"/>
          <a:lstStyle/>
          <a:p>
            <a:pPr algn="l" indent="0" marL="0">
              <a:lnSpc>
                <a:spcPts val="1024"/>
              </a:lnSpc>
              <a:buNone/>
            </a:pPr>
            <a:r>
              <a:rPr lang="en-US" sz="800" b="1" dirty="0">
                <a:solidFill>
                  <a:srgbClr val="B8942E"/>
                </a:solidFill>
                <a:latin typeface="Courier New" pitchFamily="34" charset="0"/>
                <a:ea typeface="Courier New" pitchFamily="34" charset="-122"/>
                <a:cs typeface="Courier New" pitchFamily="34" charset="-120"/>
              </a:rPr>
              <a:t>Löptid = Kassa / Net burn</a:t>
            </a:r>
            <a:endParaRPr lang="en-US" sz="800" dirty="0"/>
          </a:p>
          <a:p>
            <a:pPr algn="l" indent="0" marL="0">
              <a:lnSpc>
                <a:spcPts val="1024"/>
              </a:lnSpc>
              <a:buNone/>
            </a:pPr>
            <a:r>
              <a:rPr lang="en-US" sz="800" b="1" i="1" dirty="0">
                <a:solidFill>
                  <a:srgbClr val="3D4556"/>
                </a:solidFill>
                <a:latin typeface="Carlito" pitchFamily="34" charset="0"/>
                <a:ea typeface="Carlito" pitchFamily="34" charset="-122"/>
                <a:cs typeface="Carlito" pitchFamily="34" charset="-120"/>
              </a:rPr>
              <a:t>(månader)</a:t>
            </a:r>
            <a:endParaRPr lang="en-US" sz="800" dirty="0"/>
          </a:p>
        </p:txBody>
      </p:sp>
      <p:sp>
        <p:nvSpPr>
          <p:cNvPr id="21" name="Text 18"/>
          <p:cNvSpPr/>
          <p:nvPr/>
        </p:nvSpPr>
        <p:spPr>
          <a:xfrm>
            <a:off x="6010238" y="1705682"/>
            <a:ext cx="2626556" cy="259854"/>
          </a:xfrm>
          <a:prstGeom prst="rect">
            <a:avLst/>
          </a:prstGeom>
          <a:noFill/>
          <a:ln/>
        </p:spPr>
        <p:txBody>
          <a:bodyPr wrap="square" lIns="0" tIns="0" rIns="0" bIns="0" rtlCol="0" anchor="t"/>
          <a:lstStyle/>
          <a:p>
            <a:pPr algn="l" indent="0" marL="0">
              <a:lnSpc>
                <a:spcPts val="1024"/>
              </a:lnSpc>
              <a:buNone/>
            </a:pPr>
            <a:r>
              <a:rPr lang="en-US" sz="800" b="1" dirty="0">
                <a:solidFill>
                  <a:srgbClr val="B8942E"/>
                </a:solidFill>
                <a:latin typeface="Courier New" pitchFamily="34" charset="0"/>
                <a:ea typeface="Courier New" pitchFamily="34" charset="-122"/>
                <a:cs typeface="Courier New" pitchFamily="34" charset="-120"/>
              </a:rPr>
              <a:t>Break-even ARR = Fast kostnad / Bruttomarginal</a:t>
            </a:r>
            <a:endParaRPr lang="en-US" sz="800" dirty="0"/>
          </a:p>
          <a:p>
            <a:pPr algn="l" indent="0" marL="0">
              <a:lnSpc>
                <a:spcPts val="1024"/>
              </a:lnSpc>
              <a:buNone/>
            </a:pPr>
            <a:r>
              <a:rPr lang="en-US" sz="800" b="1" i="1" dirty="0">
                <a:solidFill>
                  <a:srgbClr val="3D4556"/>
                </a:solidFill>
                <a:latin typeface="Carlito" pitchFamily="34" charset="0"/>
                <a:ea typeface="Carlito" pitchFamily="34" charset="-122"/>
                <a:cs typeface="Carlito" pitchFamily="34" charset="-120"/>
              </a:rPr>
              <a:t>(ARR som täcker fasta kostnader)</a:t>
            </a:r>
            <a:endParaRPr lang="en-US" sz="800" dirty="0"/>
          </a:p>
        </p:txBody>
      </p:sp>
      <p:sp>
        <p:nvSpPr>
          <p:cNvPr id="22" name="Text 19"/>
          <p:cNvSpPr/>
          <p:nvPr/>
        </p:nvSpPr>
        <p:spPr>
          <a:xfrm>
            <a:off x="400050" y="2136986"/>
            <a:ext cx="4129088" cy="1914860"/>
          </a:xfrm>
          <a:prstGeom prst="rect">
            <a:avLst/>
          </a:prstGeom>
          <a:solidFill>
            <a:srgbClr val="2563EB">
              <a:alpha val="6000"/>
            </a:srgbClr>
          </a:solidFill>
          <a:ln/>
        </p:spPr>
        <p:txBody>
          <a:bodyPr wrap="square" rtlCol="0" anchor="ctr"/>
          <a:lstStyle/>
          <a:p>
            <a:pPr indent="0" marL="0">
              <a:buNone/>
            </a:pPr>
            <a:endParaRPr lang="en-US" dirty="0"/>
          </a:p>
        </p:txBody>
      </p:sp>
      <p:sp>
        <p:nvSpPr>
          <p:cNvPr id="23" name="Shape 20"/>
          <p:cNvSpPr/>
          <p:nvPr/>
        </p:nvSpPr>
        <p:spPr>
          <a:xfrm>
            <a:off x="410766" y="2136986"/>
            <a:ext cx="0" cy="1914860"/>
          </a:xfrm>
          <a:prstGeom prst="line">
            <a:avLst/>
          </a:prstGeom>
          <a:noFill/>
          <a:ln w="21431">
            <a:solidFill>
              <a:srgbClr val="2563EB"/>
            </a:solidFill>
            <a:prstDash val="solid"/>
          </a:ln>
        </p:spPr>
      </p:sp>
      <p:sp>
        <p:nvSpPr>
          <p:cNvPr id="24" name="Text 21"/>
          <p:cNvSpPr/>
          <p:nvPr/>
        </p:nvSpPr>
        <p:spPr>
          <a:xfrm>
            <a:off x="507206" y="2194136"/>
            <a:ext cx="4045934" cy="142567"/>
          </a:xfrm>
          <a:prstGeom prst="rect">
            <a:avLst/>
          </a:prstGeom>
          <a:noFill/>
          <a:ln/>
        </p:spPr>
        <p:txBody>
          <a:bodyPr wrap="squar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PIZZERIA-ANALOGIN — DEN VIKTIGASTE</a:t>
            </a:r>
            <a:endParaRPr lang="en-US" sz="800" dirty="0"/>
          </a:p>
        </p:txBody>
      </p:sp>
      <p:sp>
        <p:nvSpPr>
          <p:cNvPr id="25" name="Text 22"/>
          <p:cNvSpPr/>
          <p:nvPr/>
        </p:nvSpPr>
        <p:spPr>
          <a:xfrm>
            <a:off x="507206" y="2364135"/>
            <a:ext cx="3936206" cy="339578"/>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 öppnar 3 nya filialer. Förlorar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50 000/mån</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totalt (filialerna inte lönsamma än). Kassa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1 000 000</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a:t>
            </a:r>
            <a:pPr algn="l" indent="0" marL="0">
              <a:lnSpc>
                <a:spcPts val="1305"/>
              </a:lnSpc>
              <a:buNone/>
            </a:pPr>
            <a:r>
              <a:rPr lang="en-US" sz="816" i="1" dirty="0">
                <a:solidFill>
                  <a:srgbClr val="3D4556"/>
                </a:solidFill>
                <a:latin typeface="Liberation Sans Narrow" pitchFamily="34" charset="0"/>
                <a:ea typeface="Liberation Sans Narrow" pitchFamily="34" charset="-122"/>
                <a:cs typeface="Liberation Sans Narrow" pitchFamily="34" charset="-120"/>
              </a:rPr>
              <a:t>Löptid = 20 månader.</a:t>
            </a:r>
            <a:endParaRPr lang="en-US" sz="816" dirty="0"/>
          </a:p>
        </p:txBody>
      </p:sp>
      <p:sp>
        <p:nvSpPr>
          <p:cNvPr id="26" name="Text 23"/>
          <p:cNvSpPr/>
          <p:nvPr/>
        </p:nvSpPr>
        <p:spPr>
          <a:xfrm>
            <a:off x="507206" y="2731145"/>
            <a:ext cx="3936206" cy="339578"/>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filialerna blir lönsamma inom 20 mån = pizzerian </a:t>
            </a:r>
            <a:pPr algn="l" indent="0" marL="0">
              <a:lnSpc>
                <a:spcPts val="1305"/>
              </a:lnSpc>
              <a:buNone/>
            </a:pPr>
            <a:r>
              <a:rPr lang="en-US" sz="816" b="1" dirty="0">
                <a:solidFill>
                  <a:srgbClr val="059669"/>
                </a:solidFill>
                <a:latin typeface="Carlito" pitchFamily="34" charset="0"/>
                <a:ea typeface="Carlito" pitchFamily="34" charset="-122"/>
                <a:cs typeface="Carlito" pitchFamily="34" charset="-120"/>
              </a:rPr>
              <a:t>klarar sig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ej = pizzerian måste låna mer (nyemission) eller gå i konkurs.</a:t>
            </a:r>
            <a:endParaRPr lang="en-US" sz="816" dirty="0"/>
          </a:p>
        </p:txBody>
      </p:sp>
      <p:sp>
        <p:nvSpPr>
          <p:cNvPr id="27" name="Text 24"/>
          <p:cNvSpPr/>
          <p:nvPr/>
        </p:nvSpPr>
        <p:spPr>
          <a:xfrm>
            <a:off x="507206" y="3098155"/>
            <a:ext cx="3936206" cy="178897"/>
          </a:xfrm>
          <a:prstGeom prst="rect">
            <a:avLst/>
          </a:prstGeom>
          <a:noFill/>
          <a:ln/>
        </p:spPr>
        <p:txBody>
          <a:bodyPr wrap="square" lIns="0" tIns="0" rIns="0" bIns="0" rtlCol="0" anchor="t"/>
          <a:lstStyle/>
          <a:p>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Variabel 19 = löptidsberäkning.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Detta är den mest konkreta överlevnadsindikatorn.</a:t>
            </a:r>
            <a:endParaRPr lang="en-US" sz="816" dirty="0"/>
          </a:p>
        </p:txBody>
      </p:sp>
      <p:sp>
        <p:nvSpPr>
          <p:cNvPr id="28" name="Shape 25"/>
          <p:cNvSpPr/>
          <p:nvPr/>
        </p:nvSpPr>
        <p:spPr>
          <a:xfrm>
            <a:off x="4614863" y="2438809"/>
            <a:ext cx="4129088" cy="0"/>
          </a:xfrm>
          <a:prstGeom prst="line">
            <a:avLst/>
          </a:prstGeom>
          <a:noFill/>
          <a:ln w="7144">
            <a:solidFill>
              <a:srgbClr val="E2E5EA"/>
            </a:solidFill>
            <a:prstDash val="solid"/>
          </a:ln>
        </p:spPr>
      </p:sp>
      <p:sp>
        <p:nvSpPr>
          <p:cNvPr id="29" name="Text 26"/>
          <p:cNvSpPr/>
          <p:nvPr/>
        </p:nvSpPr>
        <p:spPr>
          <a:xfrm>
            <a:off x="4614863" y="2236998"/>
            <a:ext cx="4529138" cy="206526"/>
          </a:xfrm>
          <a:prstGeom prst="rect">
            <a:avLst/>
          </a:prstGeom>
          <a:noFill/>
          <a:ln/>
        </p:spPr>
        <p:txBody>
          <a:bodyPr wrap="none" lIns="0" tIns="0" rIns="0" bIns="21431" rtlCol="0" anchor="t">
            <a:normAutofit/>
          </a:bodyPr>
          <a:lstStyle/>
          <a:p>
            <a:pPr algn="l" indent="0" marL="0">
              <a:lnSpc>
                <a:spcPts val="1392"/>
              </a:lnSpc>
              <a:buNone/>
            </a:pPr>
            <a:r>
              <a:rPr lang="en-US" sz="844" b="1" spc="45" kern="0" dirty="0">
                <a:solidFill>
                  <a:srgbClr val="DC2626"/>
                </a:solidFill>
                <a:latin typeface="Liberation Sans Narrow" pitchFamily="34" charset="0"/>
                <a:ea typeface="Liberation Sans Narrow" pitchFamily="34" charset="-122"/>
                <a:cs typeface="Liberation Sans Narrow" pitchFamily="34" charset="-120"/>
              </a:rPr>
              <a:t>⭐ POÄNGSKALA — VARIABEL 19</a:t>
            </a:r>
            <a:endParaRPr lang="en-US" sz="844"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614863" y="2470956"/>
          <a:ext cx="4129088" cy="914400"/>
        </p:xfrm>
        <a:graphic>
          <a:graphicData uri="http://schemas.openxmlformats.org/drawingml/2006/table">
            <a:tbl>
              <a:tblPr/>
              <a:tblGrid>
                <a:gridCol w="371029"/>
                <a:gridCol w="1479984"/>
                <a:gridCol w="2278075"/>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Löptid</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Emission-risk</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36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059669"/>
                          </a:solidFill>
                          <a:latin typeface="Carlito" pitchFamily="34" charset="0"/>
                          <a:ea typeface="Carlito" pitchFamily="34" charset="-122"/>
                          <a:cs typeface="Carlito" pitchFamily="34" charset="-120"/>
                        </a:rPr>
                        <a:t>Mycket låg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18–36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Låg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12–18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9770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6–12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Hög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DC2626"/>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2626">
                        <a:alpha val="10000"/>
                      </a:srgbClr>
                    </a:solidFill>
                  </a:tcPr>
                </a:tc>
                <a:tc>
                  <a:txBody>
                    <a:bodyPr/>
                    <a:lstStyle/>
                    <a:p>
                      <a:pPr algn="l" indent="0" marL="0">
                        <a:buNone/>
                      </a:pPr>
                      <a:r>
                        <a:rPr lang="en-US" sz="800" b="1" dirty="0">
                          <a:solidFill>
                            <a:srgbClr val="DC2626"/>
                          </a:solidFill>
                          <a:latin typeface="Carlito" pitchFamily="34" charset="0"/>
                          <a:ea typeface="Carlito" pitchFamily="34" charset="-122"/>
                          <a:cs typeface="Carlito" pitchFamily="34" charset="-120"/>
                        </a:rPr>
                        <a:t>&lt; 6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2626">
                        <a:alpha val="10000"/>
                      </a:srgbClr>
                    </a:solidFill>
                  </a:tcPr>
                </a:tc>
                <a:tc>
                  <a:txBody>
                    <a:bodyPr/>
                    <a:lstStyle/>
                    <a:p>
                      <a:pPr algn="l" indent="0" marL="0">
                        <a:buNone/>
                      </a:pPr>
                      <a:r>
                        <a:rPr lang="en-US" sz="800" b="1" dirty="0">
                          <a:solidFill>
                            <a:srgbClr val="DC2626"/>
                          </a:solidFill>
                          <a:latin typeface="Carlito" pitchFamily="34" charset="0"/>
                          <a:ea typeface="Carlito" pitchFamily="34" charset="-122"/>
                          <a:cs typeface="Carlito" pitchFamily="34" charset="-120"/>
                        </a:rPr>
                        <a:t>Mycket hög (akut)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2626">
                        <a:alpha val="10000"/>
                      </a:srgbClr>
                    </a:solidFill>
                  </a:tcPr>
                </a:tc>
              </a:tr>
            </a:tbl>
          </a:graphicData>
        </a:graphic>
      </p:graphicFrame>
      <p:sp>
        <p:nvSpPr>
          <p:cNvPr id="31" name="Text 27"/>
          <p:cNvSpPr/>
          <p:nvPr/>
        </p:nvSpPr>
        <p:spPr>
          <a:xfrm>
            <a:off x="407194" y="4144714"/>
            <a:ext cx="8329613" cy="642491"/>
          </a:xfrm>
          <a:prstGeom prst="roundRect">
            <a:avLst>
              <a:gd name="adj" fmla="val 8895"/>
            </a:avLst>
          </a:prstGeom>
          <a:solidFill>
            <a:srgbClr val="DC2626">
              <a:alpha val="15000"/>
            </a:srgbClr>
          </a:solidFill>
          <a:ln w="14288">
            <a:solidFill>
              <a:srgbClr val="DC2626"/>
            </a:solidFill>
            <a:prstDash val="solid"/>
          </a:ln>
        </p:spPr>
        <p:txBody>
          <a:bodyPr wrap="square" rtlCol="0" anchor="ctr"/>
          <a:lstStyle/>
          <a:p>
            <a:pPr indent="0" marL="0">
              <a:buNone/>
            </a:pPr>
            <a:endParaRPr lang="en-US" dirty="0"/>
          </a:p>
        </p:txBody>
      </p:sp>
      <p:sp>
        <p:nvSpPr>
          <p:cNvPr id="32" name="Text 28"/>
          <p:cNvSpPr/>
          <p:nvPr/>
        </p:nvSpPr>
        <p:spPr>
          <a:xfrm>
            <a:off x="514350" y="4216152"/>
            <a:ext cx="8115300" cy="213223"/>
          </a:xfrm>
          <a:prstGeom prst="rect">
            <a:avLst/>
          </a:prstGeom>
          <a:noFill/>
          <a:ln/>
        </p:spPr>
        <p:txBody>
          <a:bodyPr wrap="none" lIns="0" tIns="0" rIns="0" bIns="0" rtlCol="0" anchor="t">
            <a:normAutofit/>
          </a:bodyPr>
          <a:lstStyle/>
          <a:p>
            <a:pPr algn="l" indent="0" marL="0">
              <a:lnSpc>
                <a:spcPts val="1207"/>
              </a:lnSpc>
              <a:buNone/>
            </a:pPr>
            <a:r>
              <a:rPr lang="en-US" sz="800" b="1" spc="45" kern="0" dirty="0">
                <a:solidFill>
                  <a:srgbClr val="DC2626"/>
                </a:solidFill>
                <a:latin typeface="Liberation Sans Narrow" pitchFamily="34" charset="0"/>
                <a:ea typeface="Liberation Sans Narrow" pitchFamily="34" charset="-122"/>
                <a:cs typeface="Liberation Sans Narrow" pitchFamily="34" charset="-120"/>
              </a:rPr>
              <a:t>UNDER 6 MÅNADER = AKUT</a:t>
            </a:r>
            <a:endParaRPr lang="en-US" sz="800" dirty="0"/>
          </a:p>
        </p:txBody>
      </p:sp>
      <p:sp>
        <p:nvSpPr>
          <p:cNvPr id="33" name="Text 29"/>
          <p:cNvSpPr/>
          <p:nvPr/>
        </p:nvSpPr>
        <p:spPr>
          <a:xfrm>
            <a:off x="514350" y="4456807"/>
            <a:ext cx="8115300" cy="258961"/>
          </a:xfrm>
          <a:prstGeom prst="rect">
            <a:avLst/>
          </a:prstGeom>
          <a:noFill/>
          <a:ln/>
        </p:spPr>
        <p:txBody>
          <a:bodyPr wrap="square" lIns="0" tIns="0" rIns="0" bIns="0" rtlCol="0" anchor="t"/>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Vid löptid under 6 månader måste bolaget nyemittera </a:t>
            </a:r>
            <a:pPr algn="l" indent="0" marL="0">
              <a:lnSpc>
                <a:spcPts val="1020"/>
              </a:lnSpc>
              <a:buNone/>
            </a:pPr>
            <a:r>
              <a:rPr lang="en-US" sz="800" b="1" dirty="0">
                <a:solidFill>
                  <a:srgbClr val="DC2626"/>
                </a:solidFill>
                <a:latin typeface="Carlito" pitchFamily="34" charset="0"/>
                <a:ea typeface="Carlito" pitchFamily="34" charset="-122"/>
                <a:cs typeface="Carlito" pitchFamily="34" charset="-120"/>
              </a:rPr>
              <a:t>OMEDLBART</a:t>
            </a:r>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 Annars: konkurs. Som nybörjare: </a:t>
            </a:r>
            <a:pPr algn="l" indent="0" marL="0">
              <a:lnSpc>
                <a:spcPts val="1020"/>
              </a:lnSpc>
              <a:buNone/>
            </a:pPr>
            <a:r>
              <a:rPr lang="en-US" sz="800" b="1" dirty="0">
                <a:solidFill>
                  <a:srgbClr val="DC2626"/>
                </a:solidFill>
                <a:latin typeface="Carlito" pitchFamily="34" charset="0"/>
                <a:ea typeface="Carlito" pitchFamily="34" charset="-122"/>
                <a:cs typeface="Carlito" pitchFamily="34" charset="-120"/>
              </a:rPr>
              <a:t>ALDRIG</a:t>
            </a:r>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 investera i bolag med löptid &lt; 6 mån — emission är 100% säker och utspädning förstör din investering.</a:t>
            </a:r>
            <a:endParaRPr lang="en-US" sz="800" dirty="0"/>
          </a:p>
        </p:txBody>
      </p:sp>
      <p:sp>
        <p:nvSpPr>
          <p:cNvPr id="34" name="Shape 30"/>
          <p:cNvSpPr/>
          <p:nvPr/>
        </p:nvSpPr>
        <p:spPr>
          <a:xfrm>
            <a:off x="457200" y="4850606"/>
            <a:ext cx="8229600" cy="0"/>
          </a:xfrm>
          <a:prstGeom prst="line">
            <a:avLst/>
          </a:prstGeom>
          <a:noFill/>
          <a:ln w="7144">
            <a:solidFill>
              <a:srgbClr val="E2E5EA"/>
            </a:solidFill>
            <a:prstDash val="solid"/>
          </a:ln>
        </p:spPr>
      </p:sp>
      <p:sp>
        <p:nvSpPr>
          <p:cNvPr id="35" name="Text 31"/>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Bonus — Variablerna 18 &amp; 19</a:t>
            </a:r>
            <a:endParaRPr lang="en-US" sz="800" dirty="0"/>
          </a:p>
        </p:txBody>
      </p:sp>
      <p:sp>
        <p:nvSpPr>
          <p:cNvPr id="36" name="Text 32"/>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37 / 40</a:t>
            </a:r>
            <a:endParaRPr lang="en-US" sz="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25723"/>
            <a:ext cx="8343900" cy="0"/>
          </a:xfrm>
          <a:prstGeom prst="line">
            <a:avLst/>
          </a:prstGeom>
          <a:noFill/>
          <a:ln w="7144">
            <a:solidFill>
              <a:srgbClr val="E2E5EA"/>
            </a:solidFill>
            <a:prstDash val="solid"/>
          </a:ln>
        </p:spPr>
      </p:sp>
      <p:sp>
        <p:nvSpPr>
          <p:cNvPr id="3" name="Text 1"/>
          <p:cNvSpPr/>
          <p:nvPr/>
        </p:nvSpPr>
        <p:spPr>
          <a:xfrm>
            <a:off x="400050" y="200025"/>
            <a:ext cx="728573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BONUS</a:t>
            </a:r>
            <a:endParaRPr lang="en-US" sz="800" dirty="0"/>
          </a:p>
        </p:txBody>
      </p:sp>
      <p:sp>
        <p:nvSpPr>
          <p:cNvPr id="4" name="Text 2"/>
          <p:cNvSpPr/>
          <p:nvPr/>
        </p:nvSpPr>
        <p:spPr>
          <a:xfrm>
            <a:off x="7700070" y="217661"/>
            <a:ext cx="1043880"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19 DEL 2 · 38 / 40</a:t>
            </a:r>
            <a:endParaRPr lang="en-US" sz="619" dirty="0"/>
          </a:p>
        </p:txBody>
      </p:sp>
      <p:sp>
        <p:nvSpPr>
          <p:cNvPr id="5" name="Text 3"/>
          <p:cNvSpPr/>
          <p:nvPr/>
        </p:nvSpPr>
        <p:spPr>
          <a:xfrm>
            <a:off x="400050" y="557882"/>
            <a:ext cx="8636000" cy="168575"/>
          </a:xfrm>
          <a:prstGeom prst="rect">
            <a:avLst/>
          </a:prstGeom>
          <a:noFill/>
          <a:ln/>
        </p:spPr>
        <p:txBody>
          <a:bodyPr wrap="square" lIns="0" tIns="0" rIns="0" bIns="0" rtlCol="0" anchor="t">
            <a:normAutofit/>
          </a:bodyPr>
          <a:lstStyle/>
          <a:p>
            <a:pPr algn="l" indent="0" marL="0">
              <a:lnSpc>
                <a:spcPts val="1488"/>
              </a:lnSpc>
              <a:buNone/>
            </a:pPr>
            <a:r>
              <a:rPr lang="en-US" sz="1294" b="1" spc="-28" kern="0" dirty="0">
                <a:solidFill>
                  <a:srgbClr val="1A1F2E"/>
                </a:solidFill>
                <a:latin typeface="Liberation Sans Narrow" pitchFamily="34" charset="0"/>
                <a:ea typeface="Liberation Sans Narrow" pitchFamily="34" charset="-122"/>
                <a:cs typeface="Liberation Sans Narrow" pitchFamily="34" charset="-120"/>
              </a:rPr>
              <a:t>Variabel 19: Break-even (del 2)</a:t>
            </a:r>
            <a:endParaRPr lang="en-US" sz="1294" dirty="0"/>
          </a:p>
        </p:txBody>
      </p:sp>
      <p:sp>
        <p:nvSpPr>
          <p:cNvPr id="6" name="Text 4"/>
          <p:cNvSpPr/>
          <p:nvPr/>
        </p:nvSpPr>
        <p:spPr>
          <a:xfrm>
            <a:off x="400050" y="753889"/>
            <a:ext cx="8343900" cy="162770"/>
          </a:xfrm>
          <a:prstGeom prst="rect">
            <a:avLst/>
          </a:prstGeom>
          <a:noFill/>
          <a:ln/>
        </p:spPr>
        <p:txBody>
          <a:bodyPr wrap="square" lIns="0" tIns="0" rIns="0" bIns="0" rtlCol="0" anchor="t">
            <a:normAutofit/>
          </a:bodyPr>
          <a:lstStyle/>
          <a:p>
            <a:pPr algn="l" indent="0" marL="0">
              <a:lnSpc>
                <a:spcPts val="1160"/>
              </a:lnSpc>
              <a:buNone/>
            </a:pPr>
            <a:r>
              <a:rPr lang="en-US" sz="800" spc="56" kern="0" dirty="0">
                <a:solidFill>
                  <a:srgbClr val="B8942E"/>
                </a:solidFill>
                <a:latin typeface="Carlito" pitchFamily="34" charset="0"/>
                <a:ea typeface="Carlito" pitchFamily="34" charset="-122"/>
                <a:cs typeface="Carlito" pitchFamily="34" charset="-120"/>
              </a:rPr>
              <a:t>NÄR TÄCKER FÖRSÄLJNINGEN KOSTNADERNA? — TIDSLINJEN TILL LÖNSAMHET</a:t>
            </a:r>
            <a:endParaRPr lang="en-US" sz="800" dirty="0"/>
          </a:p>
        </p:txBody>
      </p:sp>
      <p:pic>
        <p:nvPicPr>
          <p:cNvPr id="7" name="Image 0" descr="preencoded.png">    </p:cNvPr>
          <p:cNvPicPr>
            <a:picLocks noChangeAspect="1"/>
          </p:cNvPicPr>
          <p:nvPr/>
        </p:nvPicPr>
        <p:blipFill>
          <a:blip r:embed="rId1"/>
          <a:stretch>
            <a:fillRect/>
          </a:stretch>
        </p:blipFill>
        <p:spPr>
          <a:xfrm>
            <a:off x="400050" y="944091"/>
            <a:ext cx="8343900" cy="424272"/>
          </a:xfrm>
          <a:prstGeom prst="rect">
            <a:avLst/>
          </a:prstGeom>
        </p:spPr>
      </p:pic>
      <p:sp>
        <p:nvSpPr>
          <p:cNvPr id="8" name="Shape 5"/>
          <p:cNvSpPr/>
          <p:nvPr/>
        </p:nvSpPr>
        <p:spPr>
          <a:xfrm>
            <a:off x="400050" y="947663"/>
            <a:ext cx="8343900" cy="0"/>
          </a:xfrm>
          <a:prstGeom prst="line">
            <a:avLst/>
          </a:prstGeom>
          <a:noFill/>
          <a:ln w="7144">
            <a:solidFill>
              <a:srgbClr val="B8942E"/>
            </a:solidFill>
            <a:prstDash val="solid"/>
          </a:ln>
        </p:spPr>
      </p:sp>
      <p:sp>
        <p:nvSpPr>
          <p:cNvPr id="9" name="Shape 6"/>
          <p:cNvSpPr/>
          <p:nvPr/>
        </p:nvSpPr>
        <p:spPr>
          <a:xfrm>
            <a:off x="8740378" y="944091"/>
            <a:ext cx="0" cy="424272"/>
          </a:xfrm>
          <a:prstGeom prst="line">
            <a:avLst/>
          </a:prstGeom>
          <a:noFill/>
          <a:ln w="7144">
            <a:solidFill>
              <a:srgbClr val="B8942E"/>
            </a:solidFill>
            <a:prstDash val="solid"/>
          </a:ln>
        </p:spPr>
      </p:sp>
      <p:sp>
        <p:nvSpPr>
          <p:cNvPr id="10" name="Shape 7"/>
          <p:cNvSpPr/>
          <p:nvPr/>
        </p:nvSpPr>
        <p:spPr>
          <a:xfrm>
            <a:off x="400050" y="1364791"/>
            <a:ext cx="8343900" cy="0"/>
          </a:xfrm>
          <a:prstGeom prst="line">
            <a:avLst/>
          </a:prstGeom>
          <a:noFill/>
          <a:ln w="7144">
            <a:solidFill>
              <a:srgbClr val="B8942E"/>
            </a:solidFill>
            <a:prstDash val="solid"/>
          </a:ln>
        </p:spPr>
      </p:sp>
      <p:sp>
        <p:nvSpPr>
          <p:cNvPr id="11" name="Shape 8"/>
          <p:cNvSpPr/>
          <p:nvPr/>
        </p:nvSpPr>
        <p:spPr>
          <a:xfrm>
            <a:off x="414338" y="944091"/>
            <a:ext cx="0" cy="424272"/>
          </a:xfrm>
          <a:prstGeom prst="line">
            <a:avLst/>
          </a:prstGeom>
          <a:noFill/>
          <a:ln w="28575">
            <a:solidFill>
              <a:srgbClr val="B8942E"/>
            </a:solidFill>
            <a:prstDash val="solid"/>
          </a:ln>
        </p:spPr>
      </p:sp>
      <p:sp>
        <p:nvSpPr>
          <p:cNvPr id="12" name="Text 9"/>
          <p:cNvSpPr/>
          <p:nvPr/>
        </p:nvSpPr>
        <p:spPr>
          <a:xfrm>
            <a:off x="528638" y="1008385"/>
            <a:ext cx="8217884" cy="126828"/>
          </a:xfrm>
          <a:prstGeom prst="rect">
            <a:avLst/>
          </a:prstGeom>
          <a:noFill/>
          <a:ln/>
        </p:spPr>
        <p:txBody>
          <a:bodyPr wrap="square" lIns="0" tIns="0" rIns="0" bIns="0" rtlCol="0" anchor="t">
            <a:normAutofit/>
          </a:bodyPr>
          <a:lstStyle/>
          <a:p>
            <a:pPr algn="l" indent="0" marL="0">
              <a:lnSpc>
                <a:spcPts val="1103"/>
              </a:lnSpc>
              <a:buNone/>
            </a:pPr>
            <a:r>
              <a:rPr lang="en-US" sz="800" b="1" dirty="0">
                <a:solidFill>
                  <a:srgbClr val="B8942E"/>
                </a:solidFill>
                <a:latin typeface="Courier New" pitchFamily="34" charset="0"/>
                <a:ea typeface="Courier New" pitchFamily="34" charset="-122"/>
                <a:cs typeface="Courier New" pitchFamily="34" charset="-120"/>
              </a:rPr>
              <a:t>Break-even ARR = Fast kostnad / Bruttomarginal</a:t>
            </a:r>
            <a:endParaRPr lang="en-US" sz="800" dirty="0"/>
          </a:p>
        </p:txBody>
      </p:sp>
      <p:sp>
        <p:nvSpPr>
          <p:cNvPr id="13" name="Text 10"/>
          <p:cNvSpPr/>
          <p:nvPr/>
        </p:nvSpPr>
        <p:spPr>
          <a:xfrm>
            <a:off x="528638" y="1162645"/>
            <a:ext cx="8108156" cy="141424"/>
          </a:xfrm>
          <a:prstGeom prst="rect">
            <a:avLst/>
          </a:prstGeom>
          <a:noFill/>
          <a:ln/>
        </p:spPr>
        <p:txBody>
          <a:bodyPr wrap="square" lIns="0" tIns="0" rIns="0" bIns="0" rtlCol="0" anchor="t"/>
          <a:lstStyle/>
          <a:p>
            <a:pPr algn="l" indent="0" marL="0">
              <a:lnSpc>
                <a:spcPts val="1114"/>
              </a:lnSpc>
              <a:buNone/>
            </a:pPr>
            <a:r>
              <a:rPr lang="en-US" sz="800" i="1" dirty="0">
                <a:solidFill>
                  <a:srgbClr val="3D4556"/>
                </a:solidFill>
                <a:latin typeface="Carlito" pitchFamily="34" charset="0"/>
                <a:ea typeface="Carlito" pitchFamily="34" charset="-122"/>
                <a:cs typeface="Carlito" pitchFamily="34" charset="-120"/>
              </a:rPr>
              <a:t>(Enkelt: hur mycket måste bolaget sälja för att gå runt?)</a:t>
            </a:r>
            <a:endParaRPr lang="en-US" sz="800" dirty="0"/>
          </a:p>
        </p:txBody>
      </p:sp>
      <p:sp>
        <p:nvSpPr>
          <p:cNvPr id="14" name="Text 11"/>
          <p:cNvSpPr/>
          <p:nvPr/>
        </p:nvSpPr>
        <p:spPr>
          <a:xfrm>
            <a:off x="400050" y="1439800"/>
            <a:ext cx="4129088" cy="2181076"/>
          </a:xfrm>
          <a:prstGeom prst="rect">
            <a:avLst/>
          </a:prstGeom>
          <a:solidFill>
            <a:srgbClr val="2563EB">
              <a:alpha val="6000"/>
            </a:srgbClr>
          </a:solidFill>
          <a:ln/>
        </p:spPr>
        <p:txBody>
          <a:bodyPr wrap="square" rtlCol="0" anchor="ctr"/>
          <a:lstStyle/>
          <a:p>
            <a:pPr indent="0" marL="0">
              <a:buNone/>
            </a:pPr>
            <a:endParaRPr lang="en-US" dirty="0"/>
          </a:p>
        </p:txBody>
      </p:sp>
      <p:sp>
        <p:nvSpPr>
          <p:cNvPr id="15" name="Shape 12"/>
          <p:cNvSpPr/>
          <p:nvPr/>
        </p:nvSpPr>
        <p:spPr>
          <a:xfrm>
            <a:off x="410766" y="1439800"/>
            <a:ext cx="0" cy="2181076"/>
          </a:xfrm>
          <a:prstGeom prst="line">
            <a:avLst/>
          </a:prstGeom>
          <a:noFill/>
          <a:ln w="21431">
            <a:solidFill>
              <a:srgbClr val="2563EB"/>
            </a:solidFill>
            <a:prstDash val="solid"/>
          </a:ln>
        </p:spPr>
      </p:sp>
      <p:sp>
        <p:nvSpPr>
          <p:cNvPr id="16" name="Text 13"/>
          <p:cNvSpPr/>
          <p:nvPr/>
        </p:nvSpPr>
        <p:spPr>
          <a:xfrm>
            <a:off x="507206" y="1496950"/>
            <a:ext cx="3936206"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7" name="Text 14"/>
          <p:cNvSpPr/>
          <p:nvPr/>
        </p:nvSpPr>
        <p:spPr>
          <a:xfrm>
            <a:off x="507206" y="1666949"/>
            <a:ext cx="3936206" cy="332434"/>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Hyra+löner =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60 000 SEK/mån</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Brutto per pizza =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70%</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Hur många pizzor måste säljas för att gå runt?</a:t>
            </a:r>
            <a:endParaRPr lang="en-US" sz="816" dirty="0"/>
          </a:p>
        </p:txBody>
      </p:sp>
      <p:sp>
        <p:nvSpPr>
          <p:cNvPr id="18" name="Text 15"/>
          <p:cNvSpPr/>
          <p:nvPr/>
        </p:nvSpPr>
        <p:spPr>
          <a:xfrm>
            <a:off x="507206" y="2026816"/>
            <a:ext cx="4045934" cy="166789"/>
          </a:xfrm>
          <a:prstGeom prst="rect">
            <a:avLst/>
          </a:prstGeom>
          <a:noFill/>
          <a:ln/>
        </p:spPr>
        <p:txBody>
          <a:bodyPr wrap="square" lIns="0" tIns="0" rIns="0" bIns="0" rtlCol="0" anchor="t">
            <a:normAutofit/>
          </a:bodyPr>
          <a:lstStyle/>
          <a:p>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60 000 / 0,70 = 85 714 SEK = 857 pizzor (à 100 SEK).</a:t>
            </a:r>
            <a:endParaRPr lang="en-US" sz="816" dirty="0"/>
          </a:p>
        </p:txBody>
      </p:sp>
      <p:sp>
        <p:nvSpPr>
          <p:cNvPr id="19" name="Text 16"/>
          <p:cNvSpPr/>
          <p:nvPr/>
        </p:nvSpPr>
        <p:spPr>
          <a:xfrm>
            <a:off x="507206" y="2221037"/>
            <a:ext cx="3936206" cy="166789"/>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Under 857 pizzor = förlust. Över 857 = vinst.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Break-even = 857 pizzor/månad.</a:t>
            </a:r>
            <a:endParaRPr lang="en-US" sz="816" dirty="0"/>
          </a:p>
        </p:txBody>
      </p:sp>
      <p:sp>
        <p:nvSpPr>
          <p:cNvPr id="20" name="Text 17"/>
          <p:cNvSpPr/>
          <p:nvPr/>
        </p:nvSpPr>
        <p:spPr>
          <a:xfrm>
            <a:off x="507206" y="2415257"/>
            <a:ext cx="3936206"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Liberation Sans Narrow" pitchFamily="34" charset="0"/>
                <a:ea typeface="Liberation Sans Narrow" pitchFamily="34" charset="-122"/>
                <a:cs typeface="Liberation Sans Narrow" pitchFamily="34" charset="-120"/>
              </a:rPr>
              <a:t>När pizzerian säljer 857 pizzor = </a:t>
            </a:r>
            <a:pPr algn="l" indent="0" marL="0">
              <a:lnSpc>
                <a:spcPts val="1305"/>
              </a:lnSpc>
              <a:buNone/>
            </a:pPr>
            <a:r>
              <a:rPr lang="en-US" sz="816" b="1" dirty="0">
                <a:solidFill>
                  <a:srgbClr val="059669"/>
                </a:solidFill>
                <a:latin typeface="Carlito" pitchFamily="34" charset="0"/>
                <a:ea typeface="Carlito" pitchFamily="34" charset="-122"/>
                <a:cs typeface="Carlito" pitchFamily="34" charset="-120"/>
              </a:rPr>
              <a:t>kapital förbränningen STANNAR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Varje extra pizza = direkt vinst.</a:t>
            </a:r>
            <a:endParaRPr lang="en-US" sz="816" dirty="0"/>
          </a:p>
        </p:txBody>
      </p:sp>
      <p:sp>
        <p:nvSpPr>
          <p:cNvPr id="21" name="Shape 18"/>
          <p:cNvSpPr/>
          <p:nvPr/>
        </p:nvSpPr>
        <p:spPr>
          <a:xfrm>
            <a:off x="4614863" y="1741624"/>
            <a:ext cx="4129088" cy="0"/>
          </a:xfrm>
          <a:prstGeom prst="line">
            <a:avLst/>
          </a:prstGeom>
          <a:noFill/>
          <a:ln w="7144">
            <a:solidFill>
              <a:srgbClr val="E2E5EA"/>
            </a:solidFill>
            <a:prstDash val="solid"/>
          </a:ln>
        </p:spPr>
      </p:sp>
      <p:sp>
        <p:nvSpPr>
          <p:cNvPr id="22" name="Text 19"/>
          <p:cNvSpPr/>
          <p:nvPr/>
        </p:nvSpPr>
        <p:spPr>
          <a:xfrm>
            <a:off x="4614863" y="1539813"/>
            <a:ext cx="4459415" cy="206526"/>
          </a:xfrm>
          <a:prstGeom prst="rect">
            <a:avLst/>
          </a:prstGeom>
          <a:noFill/>
          <a:ln/>
        </p:spPr>
        <p:txBody>
          <a:bodyPr wrap="square" lIns="0" tIns="0" rIns="0" bIns="21431"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SAFESTATE BREAK-EVEN-KALKYL</a:t>
            </a:r>
            <a:endParaRPr lang="en-US" sz="844"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614863" y="1773771"/>
          <a:ext cx="4129088" cy="914400"/>
        </p:xfrm>
        <a:graphic>
          <a:graphicData uri="http://schemas.openxmlformats.org/drawingml/2006/table">
            <a:tbl>
              <a:tblPr/>
              <a:tblGrid>
                <a:gridCol w="1591159"/>
                <a:gridCol w="1041090"/>
                <a:gridCol w="1496839"/>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Parameter</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Värde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Fasta kostnader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r" indent="0" marL="0">
                        <a:buNone/>
                      </a:pPr>
                      <a:r>
                        <a:rPr lang="en-US" sz="800" b="1" dirty="0">
                          <a:solidFill>
                            <a:srgbClr val="B8942E"/>
                          </a:solidFill>
                          <a:latin typeface="Courier New" pitchFamily="34" charset="0"/>
                          <a:ea typeface="Courier New" pitchFamily="34" charset="-122"/>
                          <a:cs typeface="Courier New" pitchFamily="34" charset="-120"/>
                        </a:rPr>
                        <a:t>58 MSEK/år</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Sales+R&amp;D+G&amp;A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Bruttomarginal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r" indent="0" marL="0">
                        <a:buNone/>
                      </a:pPr>
                      <a:r>
                        <a:rPr lang="en-US" sz="800" b="1" dirty="0">
                          <a:solidFill>
                            <a:srgbClr val="B8942E"/>
                          </a:solidFill>
                          <a:latin typeface="Courier New" pitchFamily="34" charset="0"/>
                          <a:ea typeface="Courier New" pitchFamily="34" charset="-122"/>
                          <a:cs typeface="Courier New" pitchFamily="34" charset="-120"/>
                        </a:rPr>
                        <a:t>71%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Efter råvaror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Break-even ARR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r" indent="0" marL="0">
                        <a:buNone/>
                      </a:pPr>
                      <a:r>
                        <a:rPr lang="en-US" sz="800" b="1" dirty="0">
                          <a:solidFill>
                            <a:srgbClr val="B8942E"/>
                          </a:solidFill>
                          <a:latin typeface="Courier New" pitchFamily="34" charset="0"/>
                          <a:ea typeface="Courier New" pitchFamily="34" charset="-122"/>
                          <a:cs typeface="Courier New" pitchFamily="34" charset="-120"/>
                        </a:rPr>
                        <a:t>82 MSEK</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58 / 0,71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Nuvarande ARR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r" indent="0" marL="0">
                        <a:buNone/>
                      </a:pPr>
                      <a:r>
                        <a:rPr lang="en-US" sz="800" b="1" dirty="0">
                          <a:solidFill>
                            <a:srgbClr val="B8942E"/>
                          </a:solidFill>
                          <a:latin typeface="Courier New" pitchFamily="34" charset="0"/>
                          <a:ea typeface="Courier New" pitchFamily="34" charset="-122"/>
                          <a:cs typeface="Courier New" pitchFamily="34" charset="-120"/>
                        </a:rPr>
                        <a:t>73 MSEK</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Q4 2025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ARR-brist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r" indent="0" marL="0">
                        <a:buNone/>
                      </a:pPr>
                      <a:r>
                        <a:rPr lang="en-US" sz="800" b="1" dirty="0">
                          <a:solidFill>
                            <a:srgbClr val="DC2626"/>
                          </a:solidFill>
                          <a:latin typeface="Courier New" pitchFamily="34" charset="0"/>
                          <a:ea typeface="Courier New" pitchFamily="34" charset="-122"/>
                          <a:cs typeface="Courier New" pitchFamily="34" charset="-120"/>
                        </a:rPr>
                        <a:t>9 MSEK</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 kvar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Tid till break-even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59669">
                        <a:alpha val="10000"/>
                      </a:srgbClr>
                    </a:solidFill>
                  </a:tcPr>
                </a:tc>
                <a:tc>
                  <a:txBody>
                    <a:bodyPr/>
                    <a:lstStyle/>
                    <a:p>
                      <a:pPr algn="r" indent="0" marL="0">
                        <a:buNone/>
                      </a:pPr>
                      <a:r>
                        <a:rPr lang="en-US" sz="800" b="1" dirty="0">
                          <a:solidFill>
                            <a:srgbClr val="059669"/>
                          </a:solidFill>
                          <a:latin typeface="Courier New" pitchFamily="34" charset="0"/>
                          <a:ea typeface="Courier New" pitchFamily="34" charset="-122"/>
                          <a:cs typeface="Courier New" pitchFamily="34" charset="-120"/>
                        </a:rPr>
                        <a:t>4 mån</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59669">
                        <a:alpha val="10000"/>
                      </a:srgbClr>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Q3 2027 (+28%)</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59669">
                        <a:alpha val="10000"/>
                      </a:srgbClr>
                    </a:solidFill>
                  </a:tcPr>
                </a:tc>
              </a:tr>
            </a:tbl>
          </a:graphicData>
        </a:graphic>
      </p:graphicFrame>
      <p:sp>
        <p:nvSpPr>
          <p:cNvPr id="24" name="Text 20"/>
          <p:cNvSpPr/>
          <p:nvPr/>
        </p:nvSpPr>
        <p:spPr>
          <a:xfrm>
            <a:off x="400050" y="3685170"/>
            <a:ext cx="8343900" cy="732792"/>
          </a:xfrm>
          <a:prstGeom prst="roundRect">
            <a:avLst>
              <a:gd name="adj" fmla="val 7799"/>
            </a:avLst>
          </a:prstGeom>
          <a:solidFill>
            <a:srgbClr val="DC2626">
              <a:alpha val="12000"/>
            </a:srgbClr>
          </a:solidFill>
          <a:ln/>
        </p:spPr>
        <p:txBody>
          <a:bodyPr wrap="square" rtlCol="0" anchor="ctr"/>
          <a:lstStyle/>
          <a:p>
            <a:pPr indent="0" marL="0">
              <a:buNone/>
            </a:pPr>
            <a:endParaRPr lang="en-US" dirty="0"/>
          </a:p>
        </p:txBody>
      </p:sp>
      <p:sp>
        <p:nvSpPr>
          <p:cNvPr id="25" name="Shape 21"/>
          <p:cNvSpPr/>
          <p:nvPr/>
        </p:nvSpPr>
        <p:spPr>
          <a:xfrm>
            <a:off x="400050" y="3688742"/>
            <a:ext cx="8343900" cy="0"/>
          </a:xfrm>
          <a:prstGeom prst="line">
            <a:avLst/>
          </a:prstGeom>
          <a:noFill/>
          <a:ln w="7144">
            <a:solidFill>
              <a:srgbClr val="DC2626"/>
            </a:solidFill>
            <a:prstDash val="solid"/>
          </a:ln>
        </p:spPr>
      </p:sp>
      <p:sp>
        <p:nvSpPr>
          <p:cNvPr id="26" name="Shape 22"/>
          <p:cNvSpPr/>
          <p:nvPr/>
        </p:nvSpPr>
        <p:spPr>
          <a:xfrm>
            <a:off x="8740378" y="3685170"/>
            <a:ext cx="0" cy="732792"/>
          </a:xfrm>
          <a:prstGeom prst="line">
            <a:avLst/>
          </a:prstGeom>
          <a:noFill/>
          <a:ln w="7144">
            <a:solidFill>
              <a:srgbClr val="DC2626"/>
            </a:solidFill>
            <a:prstDash val="solid"/>
          </a:ln>
        </p:spPr>
      </p:sp>
      <p:sp>
        <p:nvSpPr>
          <p:cNvPr id="27" name="Shape 23"/>
          <p:cNvSpPr/>
          <p:nvPr/>
        </p:nvSpPr>
        <p:spPr>
          <a:xfrm>
            <a:off x="400050" y="4414391"/>
            <a:ext cx="8343900" cy="0"/>
          </a:xfrm>
          <a:prstGeom prst="line">
            <a:avLst/>
          </a:prstGeom>
          <a:noFill/>
          <a:ln w="7144">
            <a:solidFill>
              <a:srgbClr val="DC2626"/>
            </a:solidFill>
            <a:prstDash val="solid"/>
          </a:ln>
        </p:spPr>
      </p:sp>
      <p:sp>
        <p:nvSpPr>
          <p:cNvPr id="28" name="Shape 24"/>
          <p:cNvSpPr/>
          <p:nvPr/>
        </p:nvSpPr>
        <p:spPr>
          <a:xfrm>
            <a:off x="417909" y="3685170"/>
            <a:ext cx="0" cy="732792"/>
          </a:xfrm>
          <a:prstGeom prst="line">
            <a:avLst/>
          </a:prstGeom>
          <a:noFill/>
          <a:ln w="35719">
            <a:solidFill>
              <a:srgbClr val="DC2626"/>
            </a:solidFill>
            <a:prstDash val="solid"/>
          </a:ln>
        </p:spPr>
      </p:sp>
      <p:sp>
        <p:nvSpPr>
          <p:cNvPr id="29" name="Text 25"/>
          <p:cNvSpPr/>
          <p:nvPr/>
        </p:nvSpPr>
        <p:spPr>
          <a:xfrm>
            <a:off x="521494" y="3742320"/>
            <a:ext cx="8239315" cy="142567"/>
          </a:xfrm>
          <a:prstGeom prst="rect">
            <a:avLst/>
          </a:prstGeom>
          <a:noFill/>
          <a:ln/>
        </p:spPr>
        <p:txBody>
          <a:bodyPr wrap="square" lIns="0" tIns="0" rIns="0" bIns="0" rtlCol="0" anchor="t">
            <a:normAutofit/>
          </a:bodyPr>
          <a:lstStyle/>
          <a:p>
            <a:pPr algn="l" indent="0" marL="0">
              <a:lnSpc>
                <a:spcPts val="1114"/>
              </a:lnSpc>
              <a:buNone/>
            </a:pPr>
            <a:r>
              <a:rPr lang="en-US" sz="800" b="1" spc="39" kern="0" dirty="0">
                <a:solidFill>
                  <a:srgbClr val="DC2626"/>
                </a:solidFill>
                <a:latin typeface="Liberation Sans Narrow" pitchFamily="34" charset="0"/>
                <a:ea typeface="Liberation Sans Narrow" pitchFamily="34" charset="-122"/>
                <a:cs typeface="Liberation Sans Narrow" pitchFamily="34" charset="-120"/>
              </a:rPr>
              <a:t>⭐ BREAK-EVEN = VARIABEL 19 LÖSER SIG</a:t>
            </a:r>
            <a:endParaRPr lang="en-US" sz="800" dirty="0"/>
          </a:p>
        </p:txBody>
      </p:sp>
      <p:sp>
        <p:nvSpPr>
          <p:cNvPr id="30" name="Text 26"/>
          <p:cNvSpPr/>
          <p:nvPr/>
        </p:nvSpPr>
        <p:spPr>
          <a:xfrm>
            <a:off x="521494" y="3912319"/>
            <a:ext cx="2671763" cy="283518"/>
          </a:xfrm>
          <a:prstGeom prst="roundRect">
            <a:avLst>
              <a:gd name="adj" fmla="val 13438"/>
            </a:avLst>
          </a:prstGeom>
          <a:solidFill>
            <a:srgbClr val="FFFFFF">
              <a:alpha val="60000"/>
            </a:srgbClr>
          </a:solidFill>
          <a:ln/>
        </p:spPr>
        <p:txBody>
          <a:bodyPr wrap="square" rtlCol="0" anchor="ctr"/>
          <a:lstStyle/>
          <a:p>
            <a:pPr indent="0" marL="0">
              <a:buNone/>
            </a:pPr>
            <a:endParaRPr lang="en-US" dirty="0"/>
          </a:p>
        </p:txBody>
      </p:sp>
      <p:sp>
        <p:nvSpPr>
          <p:cNvPr id="31" name="Text 27"/>
          <p:cNvSpPr/>
          <p:nvPr/>
        </p:nvSpPr>
        <p:spPr>
          <a:xfrm>
            <a:off x="578644" y="4068366"/>
            <a:ext cx="1926022" cy="119703"/>
          </a:xfrm>
          <a:prstGeom prst="rect">
            <a:avLst/>
          </a:prstGeom>
          <a:noFill/>
          <a:ln/>
        </p:spPr>
        <p:txBody>
          <a:bodyPr wrap="square" lIns="57150" tIns="28575" rIns="57150" bIns="28575" rtlCol="0" anchor="t"/>
          <a:lstStyle/>
          <a:p>
            <a:pPr algn="l" indent="0" marL="0">
              <a:lnSpc>
                <a:spcPts val="835"/>
              </a:lnSpc>
              <a:buNone/>
            </a:pPr>
            <a:r>
              <a:rPr lang="en-US" sz="619" dirty="0">
                <a:solidFill>
                  <a:srgbClr val="1A1F2E"/>
                </a:solidFill>
                <a:latin typeface="Carlito" pitchFamily="34" charset="0"/>
                <a:ea typeface="Carlito" pitchFamily="34" charset="-122"/>
                <a:cs typeface="Carlito" pitchFamily="34" charset="-120"/>
              </a:rPr>
              <a:t>EBITDA negativt → kapital förbränning → emission-risk</a:t>
            </a:r>
            <a:endParaRPr lang="en-US" sz="619" dirty="0"/>
          </a:p>
        </p:txBody>
      </p:sp>
      <p:sp>
        <p:nvSpPr>
          <p:cNvPr id="32" name="Text 28"/>
          <p:cNvSpPr/>
          <p:nvPr/>
        </p:nvSpPr>
        <p:spPr>
          <a:xfrm>
            <a:off x="578644" y="3940894"/>
            <a:ext cx="2557463" cy="148070"/>
          </a:xfrm>
          <a:prstGeom prst="rect">
            <a:avLst/>
          </a:prstGeom>
          <a:noFill/>
          <a:ln/>
        </p:spPr>
        <p:txBody>
          <a:bodyPr wrap="none" lIns="0" tIns="0" rIns="0" bIns="0" rtlCol="0" anchor="t"/>
          <a:lstStyle/>
          <a:p>
            <a:pPr algn="l" indent="0" marL="0">
              <a:lnSpc>
                <a:spcPts val="835"/>
              </a:lnSpc>
              <a:buNone/>
            </a:pPr>
            <a:r>
              <a:rPr lang="en-US" sz="800" b="1" dirty="0">
                <a:solidFill>
                  <a:srgbClr val="DC2626"/>
                </a:solidFill>
                <a:latin typeface="Carlito" pitchFamily="34" charset="0"/>
                <a:ea typeface="Carlito" pitchFamily="34" charset="-122"/>
                <a:cs typeface="Carlito" pitchFamily="34" charset="-120"/>
              </a:rPr>
              <a:t>Före break-even:</a:t>
            </a:r>
            <a:endParaRPr lang="en-US" sz="800" dirty="0"/>
          </a:p>
        </p:txBody>
      </p:sp>
      <p:sp>
        <p:nvSpPr>
          <p:cNvPr id="33" name="Text 29"/>
          <p:cNvSpPr/>
          <p:nvPr/>
        </p:nvSpPr>
        <p:spPr>
          <a:xfrm>
            <a:off x="3250406" y="3912319"/>
            <a:ext cx="2671763" cy="283518"/>
          </a:xfrm>
          <a:prstGeom prst="roundRect">
            <a:avLst>
              <a:gd name="adj" fmla="val 13438"/>
            </a:avLst>
          </a:prstGeom>
          <a:solidFill>
            <a:srgbClr val="FFFFFF">
              <a:alpha val="60000"/>
            </a:srgbClr>
          </a:solidFill>
          <a:ln/>
        </p:spPr>
        <p:txBody>
          <a:bodyPr wrap="square" rtlCol="0" anchor="ctr"/>
          <a:lstStyle/>
          <a:p>
            <a:pPr indent="0" marL="0">
              <a:buNone/>
            </a:pPr>
            <a:endParaRPr lang="en-US" dirty="0"/>
          </a:p>
        </p:txBody>
      </p:sp>
      <p:sp>
        <p:nvSpPr>
          <p:cNvPr id="34" name="Text 30"/>
          <p:cNvSpPr/>
          <p:nvPr/>
        </p:nvSpPr>
        <p:spPr>
          <a:xfrm>
            <a:off x="3307556" y="4068366"/>
            <a:ext cx="1921669" cy="119703"/>
          </a:xfrm>
          <a:prstGeom prst="rect">
            <a:avLst/>
          </a:prstGeom>
          <a:noFill/>
          <a:ln/>
        </p:spPr>
        <p:txBody>
          <a:bodyPr wrap="square" lIns="57150" tIns="28575" rIns="57150" bIns="28575" rtlCol="0" anchor="t"/>
          <a:lstStyle/>
          <a:p>
            <a:pPr algn="l" indent="0" marL="0">
              <a:lnSpc>
                <a:spcPts val="835"/>
              </a:lnSpc>
              <a:buNone/>
            </a:pPr>
            <a:r>
              <a:rPr lang="en-US" sz="619" dirty="0">
                <a:solidFill>
                  <a:srgbClr val="1A1F2E"/>
                </a:solidFill>
                <a:latin typeface="Carlito" pitchFamily="34" charset="0"/>
                <a:ea typeface="Carlito" pitchFamily="34" charset="-122"/>
                <a:cs typeface="Carlito" pitchFamily="34" charset="-120"/>
              </a:rPr>
              <a:t>EBITDA = 0 → bränning = 0 → emission-risk försvinner</a:t>
            </a:r>
            <a:endParaRPr lang="en-US" sz="619" dirty="0"/>
          </a:p>
        </p:txBody>
      </p:sp>
      <p:sp>
        <p:nvSpPr>
          <p:cNvPr id="35" name="Text 31"/>
          <p:cNvSpPr/>
          <p:nvPr/>
        </p:nvSpPr>
        <p:spPr>
          <a:xfrm>
            <a:off x="3307556" y="3940894"/>
            <a:ext cx="2557463" cy="148070"/>
          </a:xfrm>
          <a:prstGeom prst="rect">
            <a:avLst/>
          </a:prstGeom>
          <a:noFill/>
          <a:ln/>
        </p:spPr>
        <p:txBody>
          <a:bodyPr wrap="none" lIns="0" tIns="0" rIns="0" bIns="0" rtlCol="0" anchor="t"/>
          <a:lstStyle/>
          <a:p>
            <a:pPr algn="l" indent="0" marL="0">
              <a:lnSpc>
                <a:spcPts val="835"/>
              </a:lnSpc>
              <a:buNone/>
            </a:pPr>
            <a:r>
              <a:rPr lang="en-US" sz="800" b="1" dirty="0">
                <a:solidFill>
                  <a:srgbClr val="B8942E"/>
                </a:solidFill>
                <a:latin typeface="Carlito" pitchFamily="34" charset="0"/>
                <a:ea typeface="Carlito" pitchFamily="34" charset="-122"/>
                <a:cs typeface="Carlito" pitchFamily="34" charset="-120"/>
              </a:rPr>
              <a:t>VID break-even:</a:t>
            </a:r>
            <a:endParaRPr lang="en-US" sz="800" dirty="0"/>
          </a:p>
        </p:txBody>
      </p:sp>
      <p:sp>
        <p:nvSpPr>
          <p:cNvPr id="36" name="Text 32"/>
          <p:cNvSpPr/>
          <p:nvPr/>
        </p:nvSpPr>
        <p:spPr>
          <a:xfrm>
            <a:off x="5979319" y="3912319"/>
            <a:ext cx="2671763" cy="283518"/>
          </a:xfrm>
          <a:prstGeom prst="roundRect">
            <a:avLst>
              <a:gd name="adj" fmla="val 13438"/>
            </a:avLst>
          </a:prstGeom>
          <a:solidFill>
            <a:srgbClr val="FFFFFF">
              <a:alpha val="60000"/>
            </a:srgbClr>
          </a:solidFill>
          <a:ln/>
        </p:spPr>
        <p:txBody>
          <a:bodyPr wrap="square" rtlCol="0" anchor="ctr"/>
          <a:lstStyle/>
          <a:p>
            <a:pPr indent="0" marL="0">
              <a:buNone/>
            </a:pPr>
            <a:endParaRPr lang="en-US" dirty="0"/>
          </a:p>
        </p:txBody>
      </p:sp>
      <p:sp>
        <p:nvSpPr>
          <p:cNvPr id="37" name="Text 33"/>
          <p:cNvSpPr/>
          <p:nvPr/>
        </p:nvSpPr>
        <p:spPr>
          <a:xfrm>
            <a:off x="6036469" y="4068366"/>
            <a:ext cx="1950021" cy="119703"/>
          </a:xfrm>
          <a:prstGeom prst="rect">
            <a:avLst/>
          </a:prstGeom>
          <a:noFill/>
          <a:ln/>
        </p:spPr>
        <p:txBody>
          <a:bodyPr wrap="square" lIns="57150" tIns="28575" rIns="57150" bIns="28575" rtlCol="0" anchor="t"/>
          <a:lstStyle/>
          <a:p>
            <a:pPr algn="l" indent="0" marL="0">
              <a:lnSpc>
                <a:spcPts val="835"/>
              </a:lnSpc>
              <a:buNone/>
            </a:pPr>
            <a:r>
              <a:rPr lang="en-US" sz="619" dirty="0">
                <a:solidFill>
                  <a:srgbClr val="1A1F2E"/>
                </a:solidFill>
                <a:latin typeface="Carlito" pitchFamily="34" charset="0"/>
                <a:ea typeface="Carlito" pitchFamily="34" charset="-122"/>
                <a:cs typeface="Carlito" pitchFamily="34" charset="-120"/>
              </a:rPr>
              <a:t>EBITDA positivt → genererar kassa → emission-risk = 0</a:t>
            </a:r>
            <a:endParaRPr lang="en-US" sz="619" dirty="0"/>
          </a:p>
        </p:txBody>
      </p:sp>
      <p:sp>
        <p:nvSpPr>
          <p:cNvPr id="38" name="Text 34"/>
          <p:cNvSpPr/>
          <p:nvPr/>
        </p:nvSpPr>
        <p:spPr>
          <a:xfrm>
            <a:off x="6036469" y="3940894"/>
            <a:ext cx="2557462" cy="148070"/>
          </a:xfrm>
          <a:prstGeom prst="rect">
            <a:avLst/>
          </a:prstGeom>
          <a:noFill/>
          <a:ln/>
        </p:spPr>
        <p:txBody>
          <a:bodyPr wrap="none" lIns="0" tIns="0" rIns="0" bIns="0" rtlCol="0" anchor="t"/>
          <a:lstStyle/>
          <a:p>
            <a:pPr algn="l" indent="0" marL="0">
              <a:lnSpc>
                <a:spcPts val="835"/>
              </a:lnSpc>
              <a:buNone/>
            </a:pPr>
            <a:r>
              <a:rPr lang="en-US" sz="800" b="1" dirty="0">
                <a:solidFill>
                  <a:srgbClr val="059669"/>
                </a:solidFill>
                <a:latin typeface="Carlito" pitchFamily="34" charset="0"/>
                <a:ea typeface="Carlito" pitchFamily="34" charset="-122"/>
                <a:cs typeface="Carlito" pitchFamily="34" charset="-120"/>
              </a:rPr>
              <a:t>Efter break-even:</a:t>
            </a:r>
            <a:endParaRPr lang="en-US" sz="800" dirty="0"/>
          </a:p>
        </p:txBody>
      </p:sp>
      <p:sp>
        <p:nvSpPr>
          <p:cNvPr id="39" name="Text 35"/>
          <p:cNvSpPr/>
          <p:nvPr/>
        </p:nvSpPr>
        <p:spPr>
          <a:xfrm>
            <a:off x="521494" y="4224412"/>
            <a:ext cx="8129588" cy="136401"/>
          </a:xfrm>
          <a:prstGeom prst="rect">
            <a:avLst/>
          </a:prstGeom>
          <a:noFill/>
          <a:ln/>
        </p:spPr>
        <p:txBody>
          <a:bodyPr wrap="square" lIns="0" tIns="0" rIns="0" bIns="0" rtlCol="0" anchor="t"/>
          <a:lstStyle/>
          <a:p>
            <a:pPr algn="l" indent="0" marL="0">
              <a:lnSpc>
                <a:spcPts val="906"/>
              </a:lnSpc>
              <a:buNone/>
            </a:pPr>
            <a:r>
              <a:rPr lang="en-US" sz="647" b="1" dirty="0">
                <a:solidFill>
                  <a:srgbClr val="1A1F2E"/>
                </a:solidFill>
                <a:latin typeface="Carlito" pitchFamily="34" charset="0"/>
                <a:ea typeface="Carlito" pitchFamily="34" charset="-122"/>
                <a:cs typeface="Carlito" pitchFamily="34" charset="-120"/>
              </a:rPr>
              <a:t>Safestate:</a:t>
            </a:r>
            <a:pPr algn="l" indent="0" marL="0">
              <a:lnSpc>
                <a:spcPts val="906"/>
              </a:lnSpc>
              <a:buNone/>
            </a:pPr>
            <a:r>
              <a:rPr lang="en-US" sz="647" dirty="0">
                <a:solidFill>
                  <a:srgbClr val="1A1F2E"/>
                </a:solidFill>
                <a:latin typeface="Carlito" pitchFamily="34" charset="0"/>
                <a:ea typeface="Carlito" pitchFamily="34" charset="-122"/>
                <a:cs typeface="Carlito" pitchFamily="34" charset="-120"/>
              </a:rPr>
              <a:t> break-even Q3 2027. Löptid 22 mån (räcker till mars 2027). </a:t>
            </a:r>
            <a:pPr algn="l" indent="0" marL="0">
              <a:lnSpc>
                <a:spcPts val="906"/>
              </a:lnSpc>
              <a:buNone/>
            </a:pPr>
            <a:r>
              <a:rPr lang="en-US" sz="647" b="1" dirty="0">
                <a:solidFill>
                  <a:srgbClr val="1A1F2E"/>
                </a:solidFill>
                <a:latin typeface="Liberation Sans Narrow" pitchFamily="34" charset="0"/>
                <a:ea typeface="Liberation Sans Narrow" pitchFamily="34" charset="-122"/>
                <a:cs typeface="Liberation Sans Narrow" pitchFamily="34" charset="-120"/>
              </a:rPr>
              <a:t>MARGINAL: 22 − 4 = 18 mån marginal.</a:t>
            </a:r>
            <a:pPr algn="l" indent="0" marL="0">
              <a:lnSpc>
                <a:spcPts val="906"/>
              </a:lnSpc>
              <a:buNone/>
            </a:pPr>
            <a:r>
              <a:rPr lang="en-US" sz="647" dirty="0">
                <a:solidFill>
                  <a:srgbClr val="1A1F2E"/>
                </a:solidFill>
                <a:latin typeface="Carlito" pitchFamily="34" charset="0"/>
                <a:ea typeface="Carlito" pitchFamily="34" charset="-122"/>
                <a:cs typeface="Carlito" pitchFamily="34" charset="-120"/>
              </a:rPr>
              <a:t> Teoretiskt: emission ej behövs. Men: working capital + CapEx = emission sannolikt Q4 2027.</a:t>
            </a:r>
            <a:endParaRPr lang="en-US" sz="647" dirty="0"/>
          </a:p>
        </p:txBody>
      </p:sp>
      <p:sp>
        <p:nvSpPr>
          <p:cNvPr id="40" name="Text 36"/>
          <p:cNvSpPr/>
          <p:nvPr/>
        </p:nvSpPr>
        <p:spPr>
          <a:xfrm>
            <a:off x="403622" y="4457254"/>
            <a:ext cx="8336756" cy="881807"/>
          </a:xfrm>
          <a:prstGeom prst="roundRect">
            <a:avLst>
              <a:gd name="adj" fmla="val 6481"/>
            </a:avLst>
          </a:prstGeom>
          <a:solidFill>
            <a:srgbClr val="B8942E">
              <a:alpha val="6000"/>
            </a:srgbClr>
          </a:solidFill>
          <a:ln w="7144">
            <a:solidFill>
              <a:srgbClr val="8B7335"/>
            </a:solidFill>
            <a:prstDash val="dash"/>
          </a:ln>
        </p:spPr>
        <p:txBody>
          <a:bodyPr wrap="square" rtlCol="0" anchor="ctr"/>
          <a:lstStyle/>
          <a:p>
            <a:pPr indent="0" marL="0">
              <a:buNone/>
            </a:pPr>
            <a:endParaRPr lang="en-US" dirty="0"/>
          </a:p>
        </p:txBody>
      </p:sp>
      <p:sp>
        <p:nvSpPr>
          <p:cNvPr id="41" name="Text 37"/>
          <p:cNvSpPr/>
          <p:nvPr/>
        </p:nvSpPr>
        <p:spPr>
          <a:xfrm>
            <a:off x="492919" y="4510832"/>
            <a:ext cx="8267890" cy="129507"/>
          </a:xfrm>
          <a:prstGeom prst="rect">
            <a:avLst/>
          </a:prstGeom>
          <a:noFill/>
          <a:ln/>
        </p:spPr>
        <p:txBody>
          <a:bodyPr wrap="square" lIns="0" tIns="0" rIns="0" bIns="0" rtlCol="0" anchor="t">
            <a:normAutofit/>
          </a:bodyPr>
          <a:lstStyle/>
          <a:p>
            <a:pPr algn="l" indent="0" marL="0">
              <a:lnSpc>
                <a:spcPts val="1067"/>
              </a:lnSpc>
              <a:buNone/>
            </a:pPr>
            <a:r>
              <a:rPr lang="en-US" sz="800" b="1" spc="34" kern="0" dirty="0">
                <a:solidFill>
                  <a:srgbClr val="B8942E"/>
                </a:solidFill>
                <a:latin typeface="Carlito" pitchFamily="34" charset="0"/>
                <a:ea typeface="Carlito" pitchFamily="34" charset="-122"/>
                <a:cs typeface="Carlito" pitchFamily="34" charset="-120"/>
              </a:rPr>
              <a:t>◆ DIN UPPGIFT — GARANTERA UTAN NYEMISSION</a:t>
            </a:r>
            <a:endParaRPr lang="en-US" sz="800" dirty="0"/>
          </a:p>
        </p:txBody>
      </p:sp>
      <p:sp>
        <p:nvSpPr>
          <p:cNvPr id="42" name="Text 38"/>
          <p:cNvSpPr/>
          <p:nvPr/>
        </p:nvSpPr>
        <p:spPr>
          <a:xfrm>
            <a:off x="492919" y="4667771"/>
            <a:ext cx="8158163" cy="475729"/>
          </a:xfrm>
          <a:prstGeom prst="rect">
            <a:avLst/>
          </a:prstGeom>
          <a:noFill/>
          <a:ln/>
        </p:spPr>
        <p:txBody>
          <a:bodyPr wrap="square" lIns="78581" tIns="0" rIns="0" bIns="0" rtlCol="0" anchor="t"/>
          <a:lstStyle/>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Beräkna </a:t>
            </a:r>
            <a:pPr algn="l" indent="0" marL="0">
              <a:lnSpc>
                <a:spcPts val="906"/>
              </a:lnSpc>
              <a:spcAft>
                <a:spcPts val="56"/>
              </a:spcAft>
              <a:buNone/>
            </a:pPr>
            <a:r>
              <a:rPr lang="en-US" sz="800" b="1" dirty="0">
                <a:solidFill>
                  <a:srgbClr val="3D4556"/>
                </a:solidFill>
                <a:latin typeface="Carlito" pitchFamily="34" charset="0"/>
                <a:ea typeface="Carlito" pitchFamily="34" charset="-122"/>
                <a:cs typeface="Carlito" pitchFamily="34" charset="-120"/>
              </a:rPr>
              <a:t>löptid</a:t>
            </a:r>
            <a:pPr algn="l" indent="0" marL="0">
              <a:lnSpc>
                <a:spcPts val="906"/>
              </a:lnSpc>
              <a:spcAft>
                <a:spcPts val="56"/>
              </a:spcAft>
              <a:buNone/>
            </a:pPr>
            <a:r>
              <a:rPr lang="en-US" sz="800" dirty="0">
                <a:solidFill>
                  <a:srgbClr val="3D4556"/>
                </a:solidFill>
                <a:latin typeface="Carlito" pitchFamily="34" charset="0"/>
                <a:ea typeface="Carlito" pitchFamily="34" charset="-122"/>
                <a:cs typeface="Carlito" pitchFamily="34" charset="-120"/>
              </a:rPr>
              <a:t> = kassa / Net burn</a:t>
            </a:r>
            <a:endParaRPr lang="en-US" sz="800" dirty="0"/>
          </a:p>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Beräkna </a:t>
            </a:r>
            <a:pPr algn="l" indent="0" marL="0">
              <a:lnSpc>
                <a:spcPts val="906"/>
              </a:lnSpc>
              <a:spcAft>
                <a:spcPts val="56"/>
              </a:spcAft>
              <a:buNone/>
            </a:pPr>
            <a:r>
              <a:rPr lang="en-US" sz="800" b="1" dirty="0">
                <a:solidFill>
                  <a:srgbClr val="3D4556"/>
                </a:solidFill>
                <a:latin typeface="Carlito" pitchFamily="34" charset="0"/>
                <a:ea typeface="Carlito" pitchFamily="34" charset="-122"/>
                <a:cs typeface="Carlito" pitchFamily="34" charset="-120"/>
              </a:rPr>
              <a:t>break-even ARR</a:t>
            </a:r>
            <a:pPr algn="l" indent="0" marL="0">
              <a:lnSpc>
                <a:spcPts val="906"/>
              </a:lnSpc>
              <a:spcAft>
                <a:spcPts val="56"/>
              </a:spcAft>
              <a:buNone/>
            </a:pPr>
            <a:r>
              <a:rPr lang="en-US" sz="800" dirty="0">
                <a:solidFill>
                  <a:srgbClr val="3D4556"/>
                </a:solidFill>
                <a:latin typeface="Carlito" pitchFamily="34" charset="0"/>
                <a:ea typeface="Carlito" pitchFamily="34" charset="-122"/>
                <a:cs typeface="Carlito" pitchFamily="34" charset="-120"/>
              </a:rPr>
              <a:t> = fasta / brutto</a:t>
            </a:r>
            <a:endParaRPr lang="en-US" sz="800" dirty="0"/>
          </a:p>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Beräkna </a:t>
            </a:r>
            <a:pPr algn="l" indent="0" marL="0">
              <a:lnSpc>
                <a:spcPts val="906"/>
              </a:lnSpc>
              <a:spcAft>
                <a:spcPts val="56"/>
              </a:spcAft>
              <a:buNone/>
            </a:pPr>
            <a:r>
              <a:rPr lang="en-US" sz="800" b="1" dirty="0">
                <a:solidFill>
                  <a:srgbClr val="3D4556"/>
                </a:solidFill>
                <a:latin typeface="Carlito" pitchFamily="34" charset="0"/>
                <a:ea typeface="Carlito" pitchFamily="34" charset="-122"/>
                <a:cs typeface="Carlito" pitchFamily="34" charset="-120"/>
              </a:rPr>
              <a:t>tid till break-even</a:t>
            </a:r>
            <a:pPr algn="l" indent="0" marL="0">
              <a:lnSpc>
                <a:spcPts val="906"/>
              </a:lnSpc>
              <a:spcAft>
                <a:spcPts val="56"/>
              </a:spcAft>
              <a:buNone/>
            </a:pPr>
            <a:r>
              <a:rPr lang="en-US" sz="800" dirty="0">
                <a:solidFill>
                  <a:srgbClr val="3D4556"/>
                </a:solidFill>
                <a:latin typeface="Carlito" pitchFamily="34" charset="0"/>
                <a:ea typeface="Carlito" pitchFamily="34" charset="-122"/>
                <a:cs typeface="Carlito" pitchFamily="34" charset="-120"/>
              </a:rPr>
              <a:t> = ARR-brist / ARR-tillväxt</a:t>
            </a:r>
            <a:endParaRPr lang="en-US" sz="800" dirty="0"/>
          </a:p>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Jämför: </a:t>
            </a:r>
            <a:pPr algn="l" indent="0" marL="0">
              <a:lnSpc>
                <a:spcPts val="906"/>
              </a:lnSpc>
              <a:spcAft>
                <a:spcPts val="56"/>
              </a:spcAft>
              <a:buNone/>
            </a:pPr>
            <a:r>
              <a:rPr lang="en-US" sz="800" b="1" dirty="0">
                <a:solidFill>
                  <a:srgbClr val="3D4556"/>
                </a:solidFill>
                <a:latin typeface="Liberation Sans Narrow" pitchFamily="34" charset="0"/>
                <a:ea typeface="Liberation Sans Narrow" pitchFamily="34" charset="-122"/>
                <a:cs typeface="Liberation Sans Narrow" pitchFamily="34" charset="-120"/>
              </a:rPr>
              <a:t>till break-even + 6 mån marginal</a:t>
            </a:r>
            <a:pPr algn="l" indent="0" marL="0">
              <a:lnSpc>
                <a:spcPts val="906"/>
              </a:lnSpc>
              <a:spcAft>
                <a:spcPts val="56"/>
              </a:spcAft>
              <a:buNone/>
            </a:pPr>
            <a:r>
              <a:rPr lang="en-US" sz="800" dirty="0">
                <a:solidFill>
                  <a:srgbClr val="3D4556"/>
                </a:solidFill>
                <a:latin typeface="Carlito" pitchFamily="34" charset="0"/>
                <a:ea typeface="Carlito" pitchFamily="34" charset="-122"/>
                <a:cs typeface="Carlito" pitchFamily="34" charset="-120"/>
              </a:rPr>
              <a:t> = LÅG risk</a:t>
            </a:r>
            <a:endParaRPr lang="en-US" sz="800" dirty="0"/>
          </a:p>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Om löptid &lt; tid till break-even = </a:t>
            </a:r>
            <a:pPr algn="l" indent="0" marL="0">
              <a:lnSpc>
                <a:spcPts val="906"/>
              </a:lnSpc>
              <a:spcAft>
                <a:spcPts val="56"/>
              </a:spcAft>
              <a:buNone/>
            </a:pPr>
            <a:r>
              <a:rPr lang="en-US" sz="800" b="1" dirty="0">
                <a:solidFill>
                  <a:srgbClr val="DC2626"/>
                </a:solidFill>
                <a:latin typeface="Carlito" pitchFamily="34" charset="0"/>
                <a:ea typeface="Carlito" pitchFamily="34" charset="-122"/>
                <a:cs typeface="Carlito" pitchFamily="34" charset="-120"/>
              </a:rPr>
              <a:t>emission sannolik → UNDVIK</a:t>
            </a:r>
            <a:endParaRPr lang="en-US" sz="800" dirty="0"/>
          </a:p>
        </p:txBody>
      </p:sp>
      <p:sp>
        <p:nvSpPr>
          <p:cNvPr id="43" name="Shape 39"/>
          <p:cNvSpPr/>
          <p:nvPr/>
        </p:nvSpPr>
        <p:spPr>
          <a:xfrm>
            <a:off x="457200" y="4850606"/>
            <a:ext cx="8229600" cy="0"/>
          </a:xfrm>
          <a:prstGeom prst="line">
            <a:avLst/>
          </a:prstGeom>
          <a:noFill/>
          <a:ln w="7144">
            <a:solidFill>
              <a:srgbClr val="E2E5EA"/>
            </a:solidFill>
            <a:prstDash val="solid"/>
          </a:ln>
        </p:spPr>
      </p:sp>
      <p:sp>
        <p:nvSpPr>
          <p:cNvPr id="44" name="Text 40"/>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Bonus — Variablerna 18 &amp; 19</a:t>
            </a:r>
            <a:endParaRPr lang="en-US" sz="800" dirty="0"/>
          </a:p>
        </p:txBody>
      </p:sp>
      <p:sp>
        <p:nvSpPr>
          <p:cNvPr id="45" name="Text 41"/>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38 / 40</a:t>
            </a:r>
            <a:endParaRPr lang="en-US" sz="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40010"/>
            <a:ext cx="8343900" cy="0"/>
          </a:xfrm>
          <a:prstGeom prst="line">
            <a:avLst/>
          </a:prstGeom>
          <a:noFill/>
          <a:ln w="7144">
            <a:solidFill>
              <a:srgbClr val="E2E5EA"/>
            </a:solidFill>
            <a:prstDash val="solid"/>
          </a:ln>
        </p:spPr>
      </p:sp>
      <p:sp>
        <p:nvSpPr>
          <p:cNvPr id="3" name="Text 1"/>
          <p:cNvSpPr/>
          <p:nvPr/>
        </p:nvSpPr>
        <p:spPr>
          <a:xfrm>
            <a:off x="400050" y="214313"/>
            <a:ext cx="728573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BONUS</a:t>
            </a:r>
            <a:endParaRPr lang="en-US" sz="800" dirty="0"/>
          </a:p>
        </p:txBody>
      </p:sp>
      <p:sp>
        <p:nvSpPr>
          <p:cNvPr id="4" name="Text 2"/>
          <p:cNvSpPr/>
          <p:nvPr/>
        </p:nvSpPr>
        <p:spPr>
          <a:xfrm>
            <a:off x="7700070" y="231949"/>
            <a:ext cx="1043880"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19 DEL 3 · 39 / 40</a:t>
            </a:r>
            <a:endParaRPr lang="en-US" sz="619" dirty="0"/>
          </a:p>
        </p:txBody>
      </p:sp>
      <p:sp>
        <p:nvSpPr>
          <p:cNvPr id="5" name="Text 3"/>
          <p:cNvSpPr/>
          <p:nvPr/>
        </p:nvSpPr>
        <p:spPr>
          <a:xfrm>
            <a:off x="400050" y="572170"/>
            <a:ext cx="8636000" cy="176835"/>
          </a:xfrm>
          <a:prstGeom prst="rect">
            <a:avLst/>
          </a:prstGeom>
          <a:noFill/>
          <a:ln/>
        </p:spPr>
        <p:txBody>
          <a:bodyPr wrap="square" lIns="0" tIns="0" rIns="0" bIns="0" rtlCol="0" anchor="t">
            <a:normAutofit/>
          </a:bodyPr>
          <a:lstStyle/>
          <a:p>
            <a:pPr algn="l" indent="0" marL="0">
              <a:lnSpc>
                <a:spcPts val="1553"/>
              </a:lnSpc>
              <a:buNone/>
            </a:pPr>
            <a:r>
              <a:rPr lang="en-US" sz="1350" b="1" spc="-28" kern="0" dirty="0">
                <a:solidFill>
                  <a:srgbClr val="1A1F2E"/>
                </a:solidFill>
                <a:latin typeface="Carlito" pitchFamily="34" charset="0"/>
                <a:ea typeface="Carlito" pitchFamily="34" charset="-122"/>
                <a:cs typeface="Carlito" pitchFamily="34" charset="-120"/>
              </a:rPr>
              <a:t>Variabel 19: Checklista &amp; garanti (del 3)</a:t>
            </a:r>
            <a:endParaRPr lang="en-US" sz="1350" dirty="0"/>
          </a:p>
        </p:txBody>
      </p:sp>
      <p:sp>
        <p:nvSpPr>
          <p:cNvPr id="6" name="Text 4"/>
          <p:cNvSpPr/>
          <p:nvPr/>
        </p:nvSpPr>
        <p:spPr>
          <a:xfrm>
            <a:off x="400050" y="776436"/>
            <a:ext cx="8343900" cy="168575"/>
          </a:xfrm>
          <a:prstGeom prst="rect">
            <a:avLst/>
          </a:prstGeom>
          <a:noFill/>
          <a:ln/>
        </p:spPr>
        <p:txBody>
          <a:bodyPr wrap="square" lIns="0" tIns="0" rIns="0" bIns="0" rtlCol="0" anchor="t">
            <a:normAutofit/>
          </a:bodyPr>
          <a:lstStyle/>
          <a:p>
            <a:pPr algn="l" indent="0" marL="0">
              <a:lnSpc>
                <a:spcPts val="1207"/>
              </a:lnSpc>
              <a:buNone/>
            </a:pPr>
            <a:r>
              <a:rPr lang="en-US" sz="800" spc="56" kern="0" dirty="0">
                <a:solidFill>
                  <a:srgbClr val="B8942E"/>
                </a:solidFill>
                <a:latin typeface="Carlito" pitchFamily="34" charset="0"/>
                <a:ea typeface="Carlito" pitchFamily="34" charset="-122"/>
                <a:cs typeface="Carlito" pitchFamily="34" charset="-120"/>
              </a:rPr>
              <a:t>SÅ GARANTERAR DU ATT BOLAGET KAN KLARA SIG UTAN NYEMISSION</a:t>
            </a:r>
            <a:endParaRPr lang="en-US" sz="800" dirty="0"/>
          </a:p>
        </p:txBody>
      </p:sp>
      <p:sp>
        <p:nvSpPr>
          <p:cNvPr id="7" name="Text 5"/>
          <p:cNvSpPr/>
          <p:nvPr/>
        </p:nvSpPr>
        <p:spPr>
          <a:xfrm>
            <a:off x="400050" y="972443"/>
            <a:ext cx="8343900" cy="397148"/>
          </a:xfrm>
          <a:prstGeom prst="roundRect">
            <a:avLst>
              <a:gd name="adj" fmla="val 14390"/>
            </a:avLst>
          </a:prstGeom>
          <a:solidFill>
            <a:srgbClr val="DC2626">
              <a:alpha val="12000"/>
            </a:srgbClr>
          </a:solidFill>
          <a:ln/>
        </p:spPr>
        <p:txBody>
          <a:bodyPr wrap="square" rtlCol="0" anchor="ctr"/>
          <a:lstStyle/>
          <a:p>
            <a:pPr indent="0" marL="0">
              <a:buNone/>
            </a:pPr>
            <a:endParaRPr lang="en-US" dirty="0"/>
          </a:p>
        </p:txBody>
      </p:sp>
      <p:sp>
        <p:nvSpPr>
          <p:cNvPr id="8" name="Shape 6"/>
          <p:cNvSpPr/>
          <p:nvPr/>
        </p:nvSpPr>
        <p:spPr>
          <a:xfrm>
            <a:off x="400050" y="976015"/>
            <a:ext cx="8343900" cy="0"/>
          </a:xfrm>
          <a:prstGeom prst="line">
            <a:avLst/>
          </a:prstGeom>
          <a:noFill/>
          <a:ln w="7144">
            <a:solidFill>
              <a:srgbClr val="DC2626"/>
            </a:solidFill>
            <a:prstDash val="solid"/>
          </a:ln>
        </p:spPr>
      </p:sp>
      <p:sp>
        <p:nvSpPr>
          <p:cNvPr id="9" name="Shape 7"/>
          <p:cNvSpPr/>
          <p:nvPr/>
        </p:nvSpPr>
        <p:spPr>
          <a:xfrm>
            <a:off x="8740378" y="972443"/>
            <a:ext cx="0" cy="397148"/>
          </a:xfrm>
          <a:prstGeom prst="line">
            <a:avLst/>
          </a:prstGeom>
          <a:noFill/>
          <a:ln w="7144">
            <a:solidFill>
              <a:srgbClr val="DC2626"/>
            </a:solidFill>
            <a:prstDash val="solid"/>
          </a:ln>
        </p:spPr>
      </p:sp>
      <p:sp>
        <p:nvSpPr>
          <p:cNvPr id="10" name="Shape 8"/>
          <p:cNvSpPr/>
          <p:nvPr/>
        </p:nvSpPr>
        <p:spPr>
          <a:xfrm>
            <a:off x="400050" y="1366019"/>
            <a:ext cx="8343900" cy="0"/>
          </a:xfrm>
          <a:prstGeom prst="line">
            <a:avLst/>
          </a:prstGeom>
          <a:noFill/>
          <a:ln w="7144">
            <a:solidFill>
              <a:srgbClr val="DC2626"/>
            </a:solidFill>
            <a:prstDash val="solid"/>
          </a:ln>
        </p:spPr>
      </p:sp>
      <p:sp>
        <p:nvSpPr>
          <p:cNvPr id="11" name="Shape 9"/>
          <p:cNvSpPr/>
          <p:nvPr/>
        </p:nvSpPr>
        <p:spPr>
          <a:xfrm>
            <a:off x="417909" y="972443"/>
            <a:ext cx="0" cy="397148"/>
          </a:xfrm>
          <a:prstGeom prst="line">
            <a:avLst/>
          </a:prstGeom>
          <a:noFill/>
          <a:ln w="35719">
            <a:solidFill>
              <a:srgbClr val="DC2626"/>
            </a:solidFill>
            <a:prstDash val="solid"/>
          </a:ln>
        </p:spPr>
      </p:sp>
      <p:sp>
        <p:nvSpPr>
          <p:cNvPr id="12" name="Text 10"/>
          <p:cNvSpPr/>
          <p:nvPr/>
        </p:nvSpPr>
        <p:spPr>
          <a:xfrm>
            <a:off x="521494" y="1029593"/>
            <a:ext cx="8129588" cy="135423"/>
          </a:xfrm>
          <a:prstGeom prst="rect">
            <a:avLst/>
          </a:prstGeom>
          <a:noFill/>
          <a:ln/>
        </p:spPr>
        <p:txBody>
          <a:bodyPr wrap="none" lIns="0" tIns="0" rIns="0" bIns="0" rtlCol="0" anchor="t">
            <a:normAutofit/>
          </a:bodyPr>
          <a:lstStyle/>
          <a:p>
            <a:pPr algn="l" indent="0" marL="0">
              <a:lnSpc>
                <a:spcPts val="1114"/>
              </a:lnSpc>
              <a:buNone/>
            </a:pPr>
            <a:r>
              <a:rPr lang="en-US" sz="800" b="1" spc="39" kern="0" dirty="0">
                <a:solidFill>
                  <a:srgbClr val="DC2626"/>
                </a:solidFill>
                <a:latin typeface="Carlito" pitchFamily="34" charset="0"/>
                <a:ea typeface="Carlito" pitchFamily="34" charset="-122"/>
                <a:cs typeface="Carlito" pitchFamily="34" charset="-120"/>
              </a:rPr>
              <a:t>◆ DEN KRITISKA FRÅGAN</a:t>
            </a:r>
            <a:endParaRPr lang="en-US" sz="800" dirty="0"/>
          </a:p>
        </p:txBody>
      </p:sp>
      <p:sp>
        <p:nvSpPr>
          <p:cNvPr id="13" name="Text 11"/>
          <p:cNvSpPr/>
          <p:nvPr/>
        </p:nvSpPr>
        <p:spPr>
          <a:xfrm>
            <a:off x="521494" y="1192448"/>
            <a:ext cx="8129588" cy="119993"/>
          </a:xfrm>
          <a:prstGeom prst="rect">
            <a:avLst/>
          </a:prstGeom>
          <a:noFill/>
          <a:ln/>
        </p:spPr>
        <p:txBody>
          <a:bodyPr wrap="square" lIns="0" tIns="0" rIns="0" bIns="0" rtlCol="0" anchor="t"/>
          <a:lstStyle/>
          <a:p>
            <a:pPr algn="l" indent="0" marL="0">
              <a:lnSpc>
                <a:spcPts val="945"/>
              </a:lnSpc>
              <a:buNone/>
            </a:pPr>
            <a:r>
              <a:rPr lang="en-US" sz="675" i="1" dirty="0">
                <a:solidFill>
                  <a:srgbClr val="1A1F2E"/>
                </a:solidFill>
                <a:latin typeface="Carlito" pitchFamily="34" charset="0"/>
                <a:ea typeface="Carlito" pitchFamily="34" charset="-122"/>
                <a:cs typeface="Carlito" pitchFamily="34" charset="-120"/>
              </a:rPr>
              <a:t>"Kan bolagets försäljning snarast täcka deras kostnader utan att behöva göra nyemissioner?"</a:t>
            </a:r>
            <a:pPr algn="l" indent="0" marL="0">
              <a:lnSpc>
                <a:spcPts val="945"/>
              </a:lnSpc>
              <a:buNone/>
            </a:pPr>
            <a:r>
              <a:rPr lang="en-US" sz="675" dirty="0">
                <a:solidFill>
                  <a:srgbClr val="1A1F2E"/>
                </a:solidFill>
                <a:latin typeface="Carlito" pitchFamily="34" charset="0"/>
                <a:ea typeface="Carlito" pitchFamily="34" charset="-122"/>
                <a:cs typeface="Carlito" pitchFamily="34" charset="-120"/>
              </a:rPr>
              <a:t> Detta är den viktigaste frågan. </a:t>
            </a:r>
            <a:pPr algn="l" indent="0" marL="0">
              <a:lnSpc>
                <a:spcPts val="945"/>
              </a:lnSpc>
              <a:buNone/>
            </a:pPr>
            <a:r>
              <a:rPr lang="en-US" sz="675" b="1" dirty="0">
                <a:solidFill>
                  <a:srgbClr val="1A1F2E"/>
                </a:solidFill>
                <a:latin typeface="Carlito" pitchFamily="34" charset="0"/>
                <a:ea typeface="Carlito" pitchFamily="34" charset="-122"/>
                <a:cs typeface="Carlito" pitchFamily="34" charset="-120"/>
              </a:rPr>
              <a:t>Nyemission = utspädning = din andel minskar.</a:t>
            </a:r>
            <a:endParaRPr lang="en-US" sz="675" dirty="0"/>
          </a:p>
        </p:txBody>
      </p:sp>
      <p:sp>
        <p:nvSpPr>
          <p:cNvPr id="14" name="Shape 12"/>
          <p:cNvSpPr/>
          <p:nvPr/>
        </p:nvSpPr>
        <p:spPr>
          <a:xfrm>
            <a:off x="400050" y="1578880"/>
            <a:ext cx="8343900" cy="0"/>
          </a:xfrm>
          <a:prstGeom prst="line">
            <a:avLst/>
          </a:prstGeom>
          <a:noFill/>
          <a:ln w="7144">
            <a:solidFill>
              <a:srgbClr val="E2E5EA"/>
            </a:solidFill>
            <a:prstDash val="solid"/>
          </a:ln>
        </p:spPr>
      </p:sp>
      <p:sp>
        <p:nvSpPr>
          <p:cNvPr id="15" name="Text 13"/>
          <p:cNvSpPr/>
          <p:nvPr/>
        </p:nvSpPr>
        <p:spPr>
          <a:xfrm>
            <a:off x="400050" y="1412453"/>
            <a:ext cx="8636000" cy="171142"/>
          </a:xfrm>
          <a:prstGeom prst="rect">
            <a:avLst/>
          </a:prstGeom>
          <a:noFill/>
          <a:ln/>
        </p:spPr>
        <p:txBody>
          <a:bodyPr wrap="square" lIns="0" tIns="0" rIns="0" bIns="21431" rtlCol="0" anchor="t">
            <a:normAutofit/>
          </a:bodyPr>
          <a:lstStyle/>
          <a:p>
            <a:pPr algn="l" indent="0" marL="0">
              <a:lnSpc>
                <a:spcPts val="1114"/>
              </a:lnSpc>
              <a:buNone/>
            </a:pPr>
            <a:r>
              <a:rPr lang="en-US" sz="800" b="1" spc="45" kern="0" dirty="0">
                <a:solidFill>
                  <a:srgbClr val="B8942E"/>
                </a:solidFill>
                <a:latin typeface="Liberation Sans Narrow" pitchFamily="34" charset="0"/>
                <a:ea typeface="Liberation Sans Narrow" pitchFamily="34" charset="-122"/>
                <a:cs typeface="Liberation Sans Narrow" pitchFamily="34" charset="-120"/>
              </a:rPr>
              <a:t>5 KRITERIER FÖR "ZERO EMISSION-RISK"</a:t>
            </a:r>
            <a:endParaRPr lang="en-US" sz="800" dirty="0"/>
          </a:p>
        </p:txBody>
      </p:sp>
      <p:sp>
        <p:nvSpPr>
          <p:cNvPr id="16" name="Text 14"/>
          <p:cNvSpPr/>
          <p:nvPr/>
        </p:nvSpPr>
        <p:spPr>
          <a:xfrm>
            <a:off x="403622" y="1614599"/>
            <a:ext cx="1627324"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17" name="Text 15"/>
          <p:cNvSpPr/>
          <p:nvPr/>
        </p:nvSpPr>
        <p:spPr>
          <a:xfrm>
            <a:off x="457200"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18" name="Text 16"/>
          <p:cNvSpPr/>
          <p:nvPr/>
        </p:nvSpPr>
        <p:spPr>
          <a:xfrm>
            <a:off x="457200"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9" name="Text 17"/>
          <p:cNvSpPr/>
          <p:nvPr/>
        </p:nvSpPr>
        <p:spPr>
          <a:xfrm>
            <a:off x="614363" y="1668177"/>
            <a:ext cx="703680"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Liberation Sans Narrow" pitchFamily="34" charset="0"/>
                <a:ea typeface="Liberation Sans Narrow" pitchFamily="34" charset="-122"/>
                <a:cs typeface="Liberation Sans Narrow" pitchFamily="34" charset="-120"/>
              </a:rPr>
              <a:t>Löptid &gt; 24 mån</a:t>
            </a:r>
            <a:endParaRPr lang="en-US" sz="619" dirty="0"/>
          </a:p>
        </p:txBody>
      </p:sp>
      <p:sp>
        <p:nvSpPr>
          <p:cNvPr id="20" name="Text 18"/>
          <p:cNvSpPr/>
          <p:nvPr/>
        </p:nvSpPr>
        <p:spPr>
          <a:xfrm>
            <a:off x="457200" y="1789621"/>
            <a:ext cx="788452" cy="98896"/>
          </a:xfrm>
          <a:prstGeom prst="rect">
            <a:avLst/>
          </a:prstGeom>
          <a:noFill/>
          <a:ln/>
        </p:spPr>
        <p:txBody>
          <a:bodyPr wrap="non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Kassa räcker länge</a:t>
            </a:r>
            <a:endParaRPr lang="en-US" sz="619" dirty="0"/>
          </a:p>
        </p:txBody>
      </p:sp>
      <p:sp>
        <p:nvSpPr>
          <p:cNvPr id="21" name="Text 19"/>
          <p:cNvSpPr/>
          <p:nvPr/>
        </p:nvSpPr>
        <p:spPr>
          <a:xfrm>
            <a:off x="2080952" y="1614599"/>
            <a:ext cx="1627324"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22" name="Text 20"/>
          <p:cNvSpPr/>
          <p:nvPr/>
        </p:nvSpPr>
        <p:spPr>
          <a:xfrm>
            <a:off x="2134530"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23" name="Text 21"/>
          <p:cNvSpPr/>
          <p:nvPr/>
        </p:nvSpPr>
        <p:spPr>
          <a:xfrm>
            <a:off x="2134530"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24" name="Text 22"/>
          <p:cNvSpPr/>
          <p:nvPr/>
        </p:nvSpPr>
        <p:spPr>
          <a:xfrm>
            <a:off x="2291693" y="1668177"/>
            <a:ext cx="1018609"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Liberation Sans Narrow" pitchFamily="34" charset="0"/>
                <a:ea typeface="Liberation Sans Narrow" pitchFamily="34" charset="-122"/>
                <a:cs typeface="Liberation Sans Narrow" pitchFamily="34" charset="-120"/>
              </a:rPr>
              <a:t>Break-even inom 12 mån</a:t>
            </a:r>
            <a:endParaRPr lang="en-US" sz="619" dirty="0"/>
          </a:p>
        </p:txBody>
      </p:sp>
      <p:sp>
        <p:nvSpPr>
          <p:cNvPr id="25" name="Text 23"/>
          <p:cNvSpPr/>
          <p:nvPr/>
        </p:nvSpPr>
        <p:spPr>
          <a:xfrm>
            <a:off x="2122418" y="1789621"/>
            <a:ext cx="490206" cy="98896"/>
          </a:xfrm>
          <a:prstGeom prst="rect">
            <a:avLst/>
          </a:prstGeom>
          <a:noFill/>
          <a:ln/>
        </p:spPr>
        <p:txBody>
          <a:bodyPr wrap="non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Snabbt mål</a:t>
            </a:r>
            <a:endParaRPr lang="en-US" sz="619" dirty="0"/>
          </a:p>
        </p:txBody>
      </p:sp>
      <p:sp>
        <p:nvSpPr>
          <p:cNvPr id="26" name="Text 24"/>
          <p:cNvSpPr/>
          <p:nvPr/>
        </p:nvSpPr>
        <p:spPr>
          <a:xfrm>
            <a:off x="3758282" y="1614599"/>
            <a:ext cx="1627324"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27" name="Text 25"/>
          <p:cNvSpPr/>
          <p:nvPr/>
        </p:nvSpPr>
        <p:spPr>
          <a:xfrm>
            <a:off x="3811860"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28" name="Text 26"/>
          <p:cNvSpPr/>
          <p:nvPr/>
        </p:nvSpPr>
        <p:spPr>
          <a:xfrm>
            <a:off x="3811860"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9" name="Text 27"/>
          <p:cNvSpPr/>
          <p:nvPr/>
        </p:nvSpPr>
        <p:spPr>
          <a:xfrm>
            <a:off x="3969023" y="1668177"/>
            <a:ext cx="912648"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Carlito" pitchFamily="34" charset="0"/>
                <a:ea typeface="Carlito" pitchFamily="34" charset="-122"/>
                <a:cs typeface="Carlito" pitchFamily="34" charset="-120"/>
              </a:rPr>
              <a:t>Trend stabil/förbättras</a:t>
            </a:r>
            <a:endParaRPr lang="en-US" sz="619" dirty="0"/>
          </a:p>
        </p:txBody>
      </p:sp>
      <p:sp>
        <p:nvSpPr>
          <p:cNvPr id="30" name="Text 28"/>
          <p:cNvSpPr/>
          <p:nvPr/>
        </p:nvSpPr>
        <p:spPr>
          <a:xfrm>
            <a:off x="3811860" y="1789621"/>
            <a:ext cx="716632" cy="98896"/>
          </a:xfrm>
          <a:prstGeom prst="rect">
            <a:avLst/>
          </a:prstGeom>
          <a:noFill/>
          <a:ln/>
        </p:spPr>
        <p:txBody>
          <a:bodyPr wrap="non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Bränning minskar</a:t>
            </a:r>
            <a:endParaRPr lang="en-US" sz="619" dirty="0"/>
          </a:p>
        </p:txBody>
      </p:sp>
      <p:sp>
        <p:nvSpPr>
          <p:cNvPr id="31" name="Text 29"/>
          <p:cNvSpPr/>
          <p:nvPr/>
        </p:nvSpPr>
        <p:spPr>
          <a:xfrm>
            <a:off x="5435612" y="1614599"/>
            <a:ext cx="1627324"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32" name="Text 30"/>
          <p:cNvSpPr/>
          <p:nvPr/>
        </p:nvSpPr>
        <p:spPr>
          <a:xfrm>
            <a:off x="5489191"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33" name="Text 31"/>
          <p:cNvSpPr/>
          <p:nvPr/>
        </p:nvSpPr>
        <p:spPr>
          <a:xfrm>
            <a:off x="5489191"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34" name="Text 32"/>
          <p:cNvSpPr/>
          <p:nvPr/>
        </p:nvSpPr>
        <p:spPr>
          <a:xfrm>
            <a:off x="5646353" y="1668177"/>
            <a:ext cx="943834"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Carlito" pitchFamily="34" charset="0"/>
                <a:ea typeface="Carlito" pitchFamily="34" charset="-122"/>
                <a:cs typeface="Carlito" pitchFamily="34" charset="-120"/>
              </a:rPr>
              <a:t>ARR-tillväxt &gt; Net burn</a:t>
            </a:r>
            <a:endParaRPr lang="en-US" sz="619" dirty="0"/>
          </a:p>
        </p:txBody>
      </p:sp>
      <p:sp>
        <p:nvSpPr>
          <p:cNvPr id="35" name="Text 33"/>
          <p:cNvSpPr/>
          <p:nvPr/>
        </p:nvSpPr>
        <p:spPr>
          <a:xfrm>
            <a:off x="5489191" y="1789621"/>
            <a:ext cx="747374" cy="98896"/>
          </a:xfrm>
          <a:prstGeom prst="rect">
            <a:avLst/>
          </a:prstGeom>
          <a:noFill/>
          <a:ln/>
        </p:spPr>
        <p:txBody>
          <a:bodyPr wrap="non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Sales täcker costs</a:t>
            </a:r>
            <a:endParaRPr lang="en-US" sz="619" dirty="0"/>
          </a:p>
        </p:txBody>
      </p:sp>
      <p:sp>
        <p:nvSpPr>
          <p:cNvPr id="36" name="Text 34"/>
          <p:cNvSpPr/>
          <p:nvPr/>
        </p:nvSpPr>
        <p:spPr>
          <a:xfrm>
            <a:off x="7112943" y="1614599"/>
            <a:ext cx="1627436"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37" name="Text 35"/>
          <p:cNvSpPr/>
          <p:nvPr/>
        </p:nvSpPr>
        <p:spPr>
          <a:xfrm>
            <a:off x="7166521"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38" name="Text 36"/>
          <p:cNvSpPr/>
          <p:nvPr/>
        </p:nvSpPr>
        <p:spPr>
          <a:xfrm>
            <a:off x="7166521"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
        <p:nvSpPr>
          <p:cNvPr id="39" name="Text 37"/>
          <p:cNvSpPr/>
          <p:nvPr/>
        </p:nvSpPr>
        <p:spPr>
          <a:xfrm>
            <a:off x="7323683" y="1668177"/>
            <a:ext cx="885389"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Carlito" pitchFamily="34" charset="0"/>
                <a:ea typeface="Carlito" pitchFamily="34" charset="-122"/>
                <a:cs typeface="Carlito" pitchFamily="34" charset="-120"/>
              </a:rPr>
              <a:t>Backup-finansiering</a:t>
            </a:r>
            <a:endParaRPr lang="en-US" sz="619" dirty="0"/>
          </a:p>
        </p:txBody>
      </p:sp>
      <p:sp>
        <p:nvSpPr>
          <p:cNvPr id="40" name="Text 38"/>
          <p:cNvSpPr/>
          <p:nvPr/>
        </p:nvSpPr>
        <p:spPr>
          <a:xfrm>
            <a:off x="7166521" y="1789621"/>
            <a:ext cx="792811" cy="98896"/>
          </a:xfrm>
          <a:prstGeom prst="rect">
            <a:avLst/>
          </a:prstGeom>
          <a:noFill/>
          <a:ln/>
        </p:spPr>
        <p:txBody>
          <a:bodyPr wrap="squar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Kreditlinje/stor ägare</a:t>
            </a:r>
            <a:endParaRPr lang="en-US" sz="619"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00050" y="1974242"/>
          <a:ext cx="8343900" cy="914400"/>
        </p:xfrm>
        <a:graphic>
          <a:graphicData uri="http://schemas.openxmlformats.org/drawingml/2006/table">
            <a:tbl>
              <a:tblPr/>
              <a:tblGrid>
                <a:gridCol w="4699583"/>
                <a:gridCol w="3001380"/>
                <a:gridCol w="642938"/>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Kriterium</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Status</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 Löptid &gt; 24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22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D97706"/>
                          </a:solidFill>
                          <a:latin typeface="Courier New" pitchFamily="34" charset="0"/>
                          <a:ea typeface="Courier New" pitchFamily="34" charset="-122"/>
                          <a:cs typeface="Courier New" pitchFamily="34" charset="-120"/>
                        </a:rPr>
                        <a:t>GUL (nära)</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97706">
                        <a:alpha val="15000"/>
                      </a:srgbClr>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 Break-even inom 12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059669"/>
                          </a:solidFill>
                          <a:latin typeface="Courier New" pitchFamily="34" charset="0"/>
                          <a:ea typeface="Courier New" pitchFamily="34" charset="-122"/>
                          <a:cs typeface="Courier New" pitchFamily="34" charset="-120"/>
                        </a:rPr>
                        <a:t>GRÖN</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59669">
                        <a:alpha val="15000"/>
                      </a:srgbClr>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 Trend stabil/förbättras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Försämras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DC2626"/>
                          </a:solidFill>
                          <a:latin typeface="Courier New" pitchFamily="34" charset="0"/>
                          <a:ea typeface="Courier New" pitchFamily="34" charset="-122"/>
                          <a:cs typeface="Courier New" pitchFamily="34" charset="-120"/>
                        </a:rPr>
                        <a:t>RÖD</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2626">
                        <a:alpha val="15000"/>
                      </a:srgbClr>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 ARR-tillväxt &gt; Net burn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−0,3 MSEK/mån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D97706"/>
                          </a:solidFill>
                          <a:latin typeface="Courier New" pitchFamily="34" charset="0"/>
                          <a:ea typeface="Courier New" pitchFamily="34" charset="-122"/>
                          <a:cs typeface="Courier New" pitchFamily="34" charset="-120"/>
                        </a:rPr>
                        <a:t>GUL</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97706">
                        <a:alpha val="15000"/>
                      </a:srgbClr>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 Backup-finansiering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VD 8% ägare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D97706"/>
                          </a:solidFill>
                          <a:latin typeface="Courier New" pitchFamily="34" charset="0"/>
                          <a:ea typeface="Courier New" pitchFamily="34" charset="-122"/>
                          <a:cs typeface="Courier New" pitchFamily="34" charset="-120"/>
                        </a:rPr>
                        <a:t>GUL</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97706">
                        <a:alpha val="15000"/>
                      </a:srgbClr>
                    </a:solidFill>
                  </a:tcPr>
                </a:tc>
              </a:tr>
            </a:tbl>
          </a:graphicData>
        </a:graphic>
      </p:graphicFrame>
      <p:sp>
        <p:nvSpPr>
          <p:cNvPr id="42" name="Text 39"/>
          <p:cNvSpPr/>
          <p:nvPr/>
        </p:nvSpPr>
        <p:spPr>
          <a:xfrm>
            <a:off x="403622" y="3601566"/>
            <a:ext cx="8336756" cy="524396"/>
          </a:xfrm>
          <a:prstGeom prst="roundRect">
            <a:avLst>
              <a:gd name="adj" fmla="val 10898"/>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43" name="Text 40"/>
          <p:cNvSpPr/>
          <p:nvPr/>
        </p:nvSpPr>
        <p:spPr>
          <a:xfrm>
            <a:off x="492919" y="3655144"/>
            <a:ext cx="8158163" cy="141339"/>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SLUTSATS — SAFESTATE</a:t>
            </a:r>
            <a:endParaRPr lang="en-US" sz="800" dirty="0"/>
          </a:p>
        </p:txBody>
      </p:sp>
      <p:sp>
        <p:nvSpPr>
          <p:cNvPr id="44" name="Text 41"/>
          <p:cNvSpPr/>
          <p:nvPr/>
        </p:nvSpPr>
        <p:spPr>
          <a:xfrm>
            <a:off x="492919" y="3823915"/>
            <a:ext cx="8158163" cy="248469"/>
          </a:xfrm>
          <a:prstGeom prst="rect">
            <a:avLst/>
          </a:prstGeom>
          <a:noFill/>
          <a:ln/>
        </p:spPr>
        <p:txBody>
          <a:bodyPr wrap="square" lIns="0" tIns="0" rIns="0" bIns="0" rtlCol="0" anchor="t"/>
          <a:lstStyle/>
          <a:p>
            <a:pPr algn="l" indent="0" marL="0">
              <a:lnSpc>
                <a:spcPts val="979"/>
              </a:lnSpc>
              <a:buNone/>
            </a:pPr>
            <a:r>
              <a:rPr lang="en-US" sz="800" b="1" dirty="0">
                <a:solidFill>
                  <a:srgbClr val="1A1F2E"/>
                </a:solidFill>
                <a:latin typeface="Carlito" pitchFamily="34" charset="0"/>
                <a:ea typeface="Carlito" pitchFamily="34" charset="-122"/>
                <a:cs typeface="Carlito" pitchFamily="34" charset="-120"/>
              </a:rPr>
              <a:t>1 grön, 3 gula, 1 röd = MEDEL emission-risk.</a:t>
            </a:r>
            <a:pPr algn="l" indent="0" marL="0">
              <a:lnSpc>
                <a:spcPts val="979"/>
              </a:lnSpc>
              <a:buNone/>
            </a:pPr>
            <a:r>
              <a:rPr lang="en-US" sz="800" dirty="0">
                <a:solidFill>
                  <a:srgbClr val="3D4556"/>
                </a:solidFill>
                <a:latin typeface="Carlito" pitchFamily="34" charset="0"/>
                <a:ea typeface="Carlito" pitchFamily="34" charset="-122"/>
                <a:cs typeface="Carlito" pitchFamily="34" charset="-120"/>
              </a:rPr>
              <a:t> Ingen garanti 'utan nyemission'. Base-case: emission Q4 2027, </a:t>
            </a:r>
            <a:pPr algn="l" indent="0" marL="0">
              <a:lnSpc>
                <a:spcPts val="979"/>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10% utspädning</a:t>
            </a:r>
            <a:pPr algn="l" indent="0" marL="0">
              <a:lnSpc>
                <a:spcPts val="97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18 MSEK till 16 SEK/aktie. </a:t>
            </a:r>
            <a:pPr algn="l" indent="0" marL="0">
              <a:lnSpc>
                <a:spcPts val="979"/>
              </a:lnSpc>
              <a:buNone/>
            </a:pPr>
            <a:r>
              <a:rPr lang="en-US" sz="800" dirty="0">
                <a:solidFill>
                  <a:srgbClr val="8B7335"/>
                </a:solidFill>
                <a:latin typeface="Carlito" pitchFamily="34" charset="0"/>
                <a:ea typeface="Carlito" pitchFamily="34" charset="-122"/>
                <a:cs typeface="Carlito" pitchFamily="34" charset="-120"/>
              </a:rPr>
              <a:t>Vid break-even Q3 2027: kriterium 2, 3, 4 blir gröna → 4 av 5 gröna → garanti NÄRA. Då AKUMULERA med sizing 5%.</a:t>
            </a:r>
            <a:endParaRPr lang="en-US" sz="800" dirty="0"/>
          </a:p>
        </p:txBody>
      </p:sp>
      <p:sp>
        <p:nvSpPr>
          <p:cNvPr id="45" name="Text 42"/>
          <p:cNvSpPr/>
          <p:nvPr/>
        </p:nvSpPr>
        <p:spPr>
          <a:xfrm>
            <a:off x="407194" y="4172396"/>
            <a:ext cx="8329613" cy="684907"/>
          </a:xfrm>
          <a:prstGeom prst="roundRect">
            <a:avLst>
              <a:gd name="adj" fmla="val 8344"/>
            </a:avLst>
          </a:prstGeom>
          <a:solidFill>
            <a:srgbClr val="DC2626">
              <a:alpha val="15000"/>
            </a:srgbClr>
          </a:solidFill>
          <a:ln w="14288">
            <a:solidFill>
              <a:srgbClr val="DC2626"/>
            </a:solidFill>
            <a:prstDash val="solid"/>
          </a:ln>
        </p:spPr>
        <p:txBody>
          <a:bodyPr wrap="square" rtlCol="0" anchor="ctr"/>
          <a:lstStyle/>
          <a:p>
            <a:pPr indent="0" marL="0">
              <a:buNone/>
            </a:pPr>
            <a:endParaRPr lang="en-US" dirty="0"/>
          </a:p>
        </p:txBody>
      </p:sp>
      <p:sp>
        <p:nvSpPr>
          <p:cNvPr id="46" name="Text 43"/>
          <p:cNvSpPr/>
          <p:nvPr/>
        </p:nvSpPr>
        <p:spPr>
          <a:xfrm>
            <a:off x="500063" y="4236690"/>
            <a:ext cx="8143875" cy="189671"/>
          </a:xfrm>
          <a:prstGeom prst="rect">
            <a:avLst/>
          </a:prstGeom>
          <a:noFill/>
          <a:ln/>
        </p:spPr>
        <p:txBody>
          <a:bodyPr wrap="none" lIns="0" tIns="0" rIns="0" bIns="0" rtlCol="0" anchor="t">
            <a:normAutofit/>
          </a:bodyPr>
          <a:lstStyle/>
          <a:p>
            <a:pPr algn="l" indent="0" marL="0">
              <a:lnSpc>
                <a:spcPts val="1160"/>
              </a:lnSpc>
              <a:buNone/>
            </a:pPr>
            <a:r>
              <a:rPr lang="en-US" sz="800" b="1" spc="39" kern="0" dirty="0">
                <a:solidFill>
                  <a:srgbClr val="DC2626"/>
                </a:solidFill>
                <a:latin typeface="Liberation Sans Narrow" pitchFamily="34" charset="0"/>
                <a:ea typeface="Liberation Sans Narrow" pitchFamily="34" charset="-122"/>
                <a:cs typeface="Liberation Sans Narrow" pitchFamily="34" charset="-120"/>
              </a:rPr>
              <a:t>VARIABEL 19 = KO-DECISION</a:t>
            </a:r>
            <a:endParaRPr lang="en-US" sz="800" dirty="0"/>
          </a:p>
        </p:txBody>
      </p:sp>
      <p:sp>
        <p:nvSpPr>
          <p:cNvPr id="47" name="Text 44"/>
          <p:cNvSpPr/>
          <p:nvPr/>
        </p:nvSpPr>
        <p:spPr>
          <a:xfrm>
            <a:off x="500063" y="4453793"/>
            <a:ext cx="4043363" cy="186407"/>
          </a:xfrm>
          <a:prstGeom prst="roundRect">
            <a:avLst>
              <a:gd name="adj" fmla="val 20439"/>
            </a:avLst>
          </a:prstGeom>
          <a:solidFill>
            <a:srgbClr val="FFFFFF">
              <a:alpha val="60000"/>
            </a:srgbClr>
          </a:solidFill>
          <a:ln/>
        </p:spPr>
        <p:txBody>
          <a:bodyPr wrap="square" rtlCol="0" anchor="ctr"/>
          <a:lstStyle/>
          <a:p>
            <a:pPr indent="0" marL="0">
              <a:buNone/>
            </a:pPr>
            <a:endParaRPr lang="en-US" dirty="0"/>
          </a:p>
        </p:txBody>
      </p:sp>
      <p:sp>
        <p:nvSpPr>
          <p:cNvPr id="48" name="Text 45"/>
          <p:cNvSpPr/>
          <p:nvPr/>
        </p:nvSpPr>
        <p:spPr>
          <a:xfrm>
            <a:off x="500063" y="4453793"/>
            <a:ext cx="4043363" cy="248975"/>
          </a:xfrm>
          <a:prstGeom prst="rect">
            <a:avLst/>
          </a:prstGeom>
          <a:noFill/>
          <a:ln/>
        </p:spPr>
        <p:txBody>
          <a:bodyPr wrap="square" lIns="64294" tIns="35719" rIns="64294" bIns="35719" rtlCol="0" anchor="t"/>
          <a:lstStyle/>
          <a:p>
            <a:pPr algn="l" indent="0" marL="0">
              <a:lnSpc>
                <a:spcPts val="906"/>
              </a:lnSpc>
              <a:buNone/>
            </a:pPr>
            <a:r>
              <a:rPr lang="en-US" sz="647" b="1" dirty="0">
                <a:solidFill>
                  <a:srgbClr val="DC2626"/>
                </a:solidFill>
                <a:latin typeface="Liberation Sans Narrow" pitchFamily="34" charset="0"/>
                <a:ea typeface="Liberation Sans Narrow" pitchFamily="34" charset="-122"/>
                <a:cs typeface="Liberation Sans Narrow" pitchFamily="34" charset="-120"/>
              </a:rPr>
              <a:t>OM 18 indikatorer säger AKUMULERA</a:t>
            </a:r>
            <a:pPr algn="l" indent="0" marL="0">
              <a:lnSpc>
                <a:spcPts val="906"/>
              </a:lnSpc>
              <a:buNone/>
            </a:pPr>
            <a:r>
              <a:rPr lang="en-US" sz="647" dirty="0">
                <a:solidFill>
                  <a:srgbClr val="1A1F2E"/>
                </a:solidFill>
                <a:latin typeface="Carlito" pitchFamily="34" charset="0"/>
                <a:ea typeface="Carlito" pitchFamily="34" charset="-122"/>
                <a:cs typeface="Carlito" pitchFamily="34" charset="-120"/>
              </a:rPr>
              <a:t> (poäng 4–5) men var 19 = 1 (kritisk) → </a:t>
            </a:r>
            <a:pPr algn="l" indent="0" marL="0">
              <a:lnSpc>
                <a:spcPts val="906"/>
              </a:lnSpc>
              <a:buNone/>
            </a:pPr>
            <a:r>
              <a:rPr lang="en-US" sz="647" b="1" dirty="0">
                <a:solidFill>
                  <a:srgbClr val="DC2626"/>
                </a:solidFill>
                <a:latin typeface="Carlito" pitchFamily="34" charset="0"/>
                <a:ea typeface="Carlito" pitchFamily="34" charset="-122"/>
                <a:cs typeface="Carlito" pitchFamily="34" charset="-120"/>
              </a:rPr>
              <a:t>UNDVIK</a:t>
            </a:r>
            <a:endParaRPr lang="en-US" sz="647" dirty="0"/>
          </a:p>
        </p:txBody>
      </p:sp>
      <p:sp>
        <p:nvSpPr>
          <p:cNvPr id="49" name="Text 46"/>
          <p:cNvSpPr/>
          <p:nvPr/>
        </p:nvSpPr>
        <p:spPr>
          <a:xfrm>
            <a:off x="4600575" y="4453793"/>
            <a:ext cx="4043363" cy="186407"/>
          </a:xfrm>
          <a:prstGeom prst="roundRect">
            <a:avLst>
              <a:gd name="adj" fmla="val 20439"/>
            </a:avLst>
          </a:prstGeom>
          <a:solidFill>
            <a:srgbClr val="FFFFFF">
              <a:alpha val="60000"/>
            </a:srgbClr>
          </a:solidFill>
          <a:ln/>
        </p:spPr>
        <p:txBody>
          <a:bodyPr wrap="square" rtlCol="0" anchor="ctr"/>
          <a:lstStyle/>
          <a:p>
            <a:pPr indent="0" marL="0">
              <a:buNone/>
            </a:pPr>
            <a:endParaRPr lang="en-US" dirty="0"/>
          </a:p>
        </p:txBody>
      </p:sp>
      <p:sp>
        <p:nvSpPr>
          <p:cNvPr id="50" name="Text 47"/>
          <p:cNvSpPr/>
          <p:nvPr/>
        </p:nvSpPr>
        <p:spPr>
          <a:xfrm>
            <a:off x="4600575" y="4453793"/>
            <a:ext cx="4043363" cy="248975"/>
          </a:xfrm>
          <a:prstGeom prst="rect">
            <a:avLst/>
          </a:prstGeom>
          <a:noFill/>
          <a:ln/>
        </p:spPr>
        <p:txBody>
          <a:bodyPr wrap="square" lIns="64294" tIns="35719" rIns="64294" bIns="35719" rtlCol="0" anchor="t"/>
          <a:lstStyle/>
          <a:p>
            <a:pPr algn="l" indent="0" marL="0">
              <a:lnSpc>
                <a:spcPts val="906"/>
              </a:lnSpc>
              <a:buNone/>
            </a:pPr>
            <a:r>
              <a:rPr lang="en-US" sz="647" b="1" dirty="0">
                <a:solidFill>
                  <a:srgbClr val="DC2626"/>
                </a:solidFill>
                <a:latin typeface="Liberation Sans Narrow" pitchFamily="34" charset="0"/>
                <a:ea typeface="Liberation Sans Narrow" pitchFamily="34" charset="-122"/>
                <a:cs typeface="Liberation Sans Narrow" pitchFamily="34" charset="-120"/>
              </a:rPr>
              <a:t>Variabel 19 kan bara SÄNKA</a:t>
            </a:r>
            <a:pPr algn="l" indent="0" marL="0">
              <a:lnSpc>
                <a:spcPts val="906"/>
              </a:lnSpc>
              <a:buNone/>
            </a:pPr>
            <a:r>
              <a:rPr lang="en-US" sz="647" dirty="0">
                <a:solidFill>
                  <a:srgbClr val="1A1F2E"/>
                </a:solidFill>
                <a:latin typeface="Carlito" pitchFamily="34" charset="0"/>
                <a:ea typeface="Carlito" pitchFamily="34" charset="-122"/>
                <a:cs typeface="Carlito" pitchFamily="34" charset="-120"/>
              </a:rPr>
              <a:t> rekommendation, aldrig HÖJA. Första filtret — spara tid.</a:t>
            </a:r>
            <a:endParaRPr lang="en-US" sz="647" dirty="0"/>
          </a:p>
        </p:txBody>
      </p:sp>
      <p:sp>
        <p:nvSpPr>
          <p:cNvPr id="51" name="Text 48"/>
          <p:cNvSpPr/>
          <p:nvPr/>
        </p:nvSpPr>
        <p:spPr>
          <a:xfrm>
            <a:off x="500063" y="4668775"/>
            <a:ext cx="8143875" cy="124234"/>
          </a:xfrm>
          <a:prstGeom prst="rect">
            <a:avLst/>
          </a:prstGeom>
          <a:noFill/>
          <a:ln/>
        </p:spPr>
        <p:txBody>
          <a:bodyPr wrap="square" lIns="0" tIns="0" rIns="0" bIns="0" rtlCol="0" anchor="t"/>
          <a:lstStyle/>
          <a:p>
            <a:pPr algn="l" indent="0" marL="0">
              <a:lnSpc>
                <a:spcPts val="979"/>
              </a:lnSpc>
              <a:buNone/>
            </a:pPr>
            <a:r>
              <a:rPr lang="en-US" sz="675" dirty="0">
                <a:solidFill>
                  <a:srgbClr val="1A1F2E"/>
                </a:solidFill>
                <a:latin typeface="Carlito" pitchFamily="34" charset="0"/>
                <a:ea typeface="Carlito" pitchFamily="34" charset="-122"/>
                <a:cs typeface="Carlito" pitchFamily="34" charset="-120"/>
              </a:rPr>
              <a:t>Som nybörjare: </a:t>
            </a:r>
            <a:pPr algn="l" indent="0" marL="0">
              <a:lnSpc>
                <a:spcPts val="979"/>
              </a:lnSpc>
              <a:buNone/>
            </a:pPr>
            <a:r>
              <a:rPr lang="en-US" sz="675" b="1" dirty="0">
                <a:solidFill>
                  <a:srgbClr val="1A1F2E"/>
                </a:solidFill>
                <a:latin typeface="Liberation Sans Narrow" pitchFamily="34" charset="0"/>
                <a:ea typeface="Liberation Sans Narrow" pitchFamily="34" charset="-122"/>
                <a:cs typeface="Liberation Sans Narrow" pitchFamily="34" charset="-120"/>
              </a:rPr>
              <a:t>ALLTID beräkna variabel 19 FÖRST.</a:t>
            </a:r>
            <a:pPr algn="l" indent="0" marL="0">
              <a:lnSpc>
                <a:spcPts val="979"/>
              </a:lnSpc>
              <a:buNone/>
            </a:pPr>
            <a:r>
              <a:rPr lang="en-US" sz="675" dirty="0">
                <a:solidFill>
                  <a:srgbClr val="1A1F2E"/>
                </a:solidFill>
                <a:latin typeface="Carlito" pitchFamily="34" charset="0"/>
                <a:ea typeface="Carlito" pitchFamily="34" charset="-122"/>
                <a:cs typeface="Carlito" pitchFamily="34" charset="-120"/>
              </a:rPr>
              <a:t> Om var 19 &lt; 3 → ingen anledning att fortsätta med 18 indikatorer. Spara tid. </a:t>
            </a:r>
            <a:pPr algn="l" indent="0" marL="0">
              <a:lnSpc>
                <a:spcPts val="979"/>
              </a:lnSpc>
              <a:buNone/>
            </a:pPr>
            <a:r>
              <a:rPr lang="en-US" sz="675" b="1" dirty="0">
                <a:solidFill>
                  <a:srgbClr val="1A1F2E"/>
                </a:solidFill>
                <a:latin typeface="Liberation Sans Narrow" pitchFamily="34" charset="0"/>
                <a:ea typeface="Liberation Sans Narrow" pitchFamily="34" charset="-122"/>
                <a:cs typeface="Liberation Sans Narrow" pitchFamily="34" charset="-120"/>
              </a:rPr>
              <a:t>Variabel 19 = första filtret.</a:t>
            </a:r>
            <a:endParaRPr lang="en-US" sz="675" dirty="0"/>
          </a:p>
        </p:txBody>
      </p:sp>
      <p:sp>
        <p:nvSpPr>
          <p:cNvPr id="52" name="Shape 49"/>
          <p:cNvSpPr/>
          <p:nvPr/>
        </p:nvSpPr>
        <p:spPr>
          <a:xfrm>
            <a:off x="457200" y="4850606"/>
            <a:ext cx="8229600" cy="0"/>
          </a:xfrm>
          <a:prstGeom prst="line">
            <a:avLst/>
          </a:prstGeom>
          <a:noFill/>
          <a:ln w="7144">
            <a:solidFill>
              <a:srgbClr val="E2E5EA"/>
            </a:solidFill>
            <a:prstDash val="solid"/>
          </a:ln>
        </p:spPr>
      </p:sp>
      <p:sp>
        <p:nvSpPr>
          <p:cNvPr id="53" name="Text 50"/>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Bonus — Variablerna 18 &amp; 19</a:t>
            </a:r>
            <a:endParaRPr lang="en-US" sz="800" dirty="0"/>
          </a:p>
        </p:txBody>
      </p:sp>
      <p:sp>
        <p:nvSpPr>
          <p:cNvPr id="54" name="Text 51"/>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39 / 40</a:t>
            </a:r>
            <a:endParaRPr lang="en-US" sz="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200025"/>
            <a:ext cx="8636000" cy="173598"/>
          </a:xfrm>
          <a:prstGeom prst="rect">
            <a:avLst/>
          </a:prstGeom>
          <a:noFill/>
          <a:ln/>
        </p:spPr>
        <p:txBody>
          <a:bodyPr wrap="square" lIns="0" tIns="0" rIns="0" bIns="0" rtlCol="0" anchor="t">
            <a:normAutofit/>
          </a:bodyPr>
          <a:lstStyle/>
          <a:p>
            <a:pPr algn="ctr" indent="0" marL="0">
              <a:lnSpc>
                <a:spcPts val="1021"/>
              </a:lnSpc>
              <a:buNone/>
            </a:pPr>
            <a:r>
              <a:rPr lang="en-US" sz="800" spc="225" kern="0" dirty="0">
                <a:solidFill>
                  <a:srgbClr val="B8942E"/>
                </a:solidFill>
                <a:latin typeface="Carlito" pitchFamily="34" charset="0"/>
                <a:ea typeface="Carlito" pitchFamily="34" charset="-122"/>
                <a:cs typeface="Carlito" pitchFamily="34" charset="-120"/>
              </a:rPr>
              <a:t>◆ ◆ ◆ AKM1 — 19 VARIABLER FÖR NYBÖRJARE ◆ ◆ ◆</a:t>
            </a:r>
            <a:endParaRPr lang="en-US" sz="800" dirty="0"/>
          </a:p>
        </p:txBody>
      </p:sp>
      <p:sp>
        <p:nvSpPr>
          <p:cNvPr id="5" name="Text 1"/>
          <p:cNvSpPr/>
          <p:nvPr/>
        </p:nvSpPr>
        <p:spPr>
          <a:xfrm>
            <a:off x="0" y="401055"/>
            <a:ext cx="8636000" cy="472631"/>
          </a:xfrm>
          <a:prstGeom prst="rect">
            <a:avLst/>
          </a:prstGeom>
          <a:noFill/>
          <a:ln/>
          <a:effectLst>
            <a:outerShdw sx="100000" sy="100000" kx="0" ky="0" algn="bl" rotWithShape="0" blurRad="285750" dist="50800" dir="16200000">
              <a:srgbClr val="D4A832">
                <a:alpha val="25000"/>
              </a:srgbClr>
            </a:outerShdw>
          </a:effectLst>
        </p:spPr>
        <p:txBody>
          <a:bodyPr wrap="none" lIns="0" tIns="0" rIns="0" bIns="0" rtlCol="0" anchor="t">
            <a:normAutofit/>
          </a:bodyPr>
          <a:lstStyle/>
          <a:p>
            <a:pPr algn="ctr" indent="0" marL="0">
              <a:lnSpc>
                <a:spcPts val="3600"/>
              </a:lnSpc>
              <a:buNone/>
            </a:pPr>
            <a:r>
              <a:rPr lang="en-US" sz="3600" b="1" spc="338" kern="0" dirty="0">
                <a:solidFill>
                  <a:srgbClr val="D4A832"/>
                </a:solidFill>
                <a:latin typeface="Liberation Sans Narrow" pitchFamily="34" charset="0"/>
                <a:ea typeface="Liberation Sans Narrow" pitchFamily="34" charset="-122"/>
                <a:cs typeface="Liberation Sans Narrow" pitchFamily="34" charset="-120"/>
              </a:rPr>
              <a:t>AK1A</a:t>
            </a:r>
            <a:endParaRPr lang="en-US" sz="3600" dirty="0"/>
          </a:p>
        </p:txBody>
      </p:sp>
      <p:sp>
        <p:nvSpPr>
          <p:cNvPr id="6" name="Text 2"/>
          <p:cNvSpPr/>
          <p:nvPr/>
        </p:nvSpPr>
        <p:spPr>
          <a:xfrm>
            <a:off x="428625" y="901117"/>
            <a:ext cx="8286750" cy="189671"/>
          </a:xfrm>
          <a:prstGeom prst="rect">
            <a:avLst/>
          </a:prstGeom>
          <a:noFill/>
          <a:ln/>
        </p:spPr>
        <p:txBody>
          <a:bodyPr wrap="square" lIns="0" tIns="0" rIns="0" bIns="0" rtlCol="0" anchor="t">
            <a:normAutofit/>
          </a:bodyPr>
          <a:lstStyle/>
          <a:p>
            <a:pPr algn="ctr" indent="0" marL="0">
              <a:lnSpc>
                <a:spcPts val="1485"/>
              </a:lnSpc>
              <a:buNone/>
            </a:pPr>
            <a:r>
              <a:rPr lang="en-US" sz="900" spc="17" kern="0" dirty="0">
                <a:solidFill>
                  <a:srgbClr val="FFFFFF"/>
                </a:solidFill>
                <a:latin typeface="Carlito" pitchFamily="34" charset="0"/>
                <a:ea typeface="Carlito" pitchFamily="34" charset="-122"/>
                <a:cs typeface="Carlito" pitchFamily="34" charset="-120"/>
              </a:rPr>
              <a:t>19 variabler · 6 kategorier · 2 bonus — </a:t>
            </a:r>
            <a:pPr algn="ctr" indent="0" marL="0">
              <a:lnSpc>
                <a:spcPts val="1485"/>
              </a:lnSpc>
              <a:buNone/>
            </a:pPr>
            <a:r>
              <a:rPr lang="en-US" sz="900" b="1" spc="17" kern="0" dirty="0">
                <a:solidFill>
                  <a:srgbClr val="D4A832"/>
                </a:solidFill>
                <a:latin typeface="Liberation Sans Narrow" pitchFamily="34" charset="0"/>
                <a:ea typeface="Liberation Sans Narrow" pitchFamily="34" charset="-122"/>
                <a:cs typeface="Liberation Sans Narrow" pitchFamily="34" charset="-120"/>
              </a:rPr>
              <a:t>Variabel 19</a:t>
            </a:r>
            <a:pPr algn="ctr" indent="0" marL="0">
              <a:lnSpc>
                <a:spcPts val="1485"/>
              </a:lnSpc>
              <a:buNone/>
            </a:pPr>
            <a:r>
              <a:rPr lang="en-US" sz="900" spc="17" kern="0" dirty="0">
                <a:solidFill>
                  <a:srgbClr val="FFFFFF"/>
                </a:solidFill>
                <a:latin typeface="Carlito" pitchFamily="34" charset="0"/>
                <a:ea typeface="Carlito" pitchFamily="34" charset="-122"/>
                <a:cs typeface="Carlito" pitchFamily="34" charset="-120"/>
              </a:rPr>
              <a:t> avgör om du ska investera</a:t>
            </a:r>
            <a:endParaRPr lang="en-US" sz="900" dirty="0"/>
          </a:p>
        </p:txBody>
      </p:sp>
      <p:sp>
        <p:nvSpPr>
          <p:cNvPr id="7" name="Text 3"/>
          <p:cNvSpPr/>
          <p:nvPr/>
        </p:nvSpPr>
        <p:spPr>
          <a:xfrm>
            <a:off x="1714500" y="1118220"/>
            <a:ext cx="5715000" cy="307181"/>
          </a:xfrm>
          <a:prstGeom prst="rect">
            <a:avLst/>
          </a:prstGeom>
          <a:noFill/>
          <a:ln/>
        </p:spPr>
        <p:txBody>
          <a:bodyPr wrap="square" lIns="0" tIns="0" rIns="0" bIns="0" rtlCol="0" anchor="t"/>
          <a:lstStyle/>
          <a:p>
            <a:pPr algn="ctr" indent="0" marL="0">
              <a:lnSpc>
                <a:spcPts val="945"/>
              </a:lnSpc>
              <a:buNone/>
            </a:pPr>
            <a:r>
              <a:rPr lang="en-US" sz="800" dirty="0">
                <a:solidFill>
                  <a:srgbClr val="B8C4D4"/>
                </a:solidFill>
                <a:latin typeface="Carlito" pitchFamily="34" charset="0"/>
                <a:ea typeface="Carlito" pitchFamily="34" charset="-122"/>
                <a:cs typeface="Carlito" pitchFamily="34" charset="-120"/>
              </a:rPr>
              <a:t>Du har nu lärt dig AKM1:s 19 variabler. Använd checklistan nedan för varje bolag du överväger. Kom ihåg: </a:t>
            </a:r>
            <a:pPr algn="ctr" indent="0" marL="0">
              <a:lnSpc>
                <a:spcPts val="945"/>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variabel 19 = överlevnadsfilter.</a:t>
            </a:r>
            <a:pPr algn="ctr" indent="0" marL="0">
              <a:lnSpc>
                <a:spcPts val="945"/>
              </a:lnSpc>
              <a:buNone/>
            </a:pPr>
            <a:r>
              <a:rPr lang="en-US" sz="800" dirty="0">
                <a:solidFill>
                  <a:srgbClr val="B8C4D4"/>
                </a:solidFill>
                <a:latin typeface="Carlito" pitchFamily="34" charset="0"/>
                <a:ea typeface="Carlito" pitchFamily="34" charset="-122"/>
                <a:cs typeface="Carlito" pitchFamily="34" charset="-120"/>
              </a:rPr>
              <a:t> Aldrig ignorera.</a:t>
            </a:r>
            <a:endParaRPr lang="en-US" sz="800" dirty="0"/>
          </a:p>
        </p:txBody>
      </p:sp>
      <p:sp>
        <p:nvSpPr>
          <p:cNvPr id="8" name="Text 4"/>
          <p:cNvSpPr/>
          <p:nvPr/>
        </p:nvSpPr>
        <p:spPr>
          <a:xfrm>
            <a:off x="432197" y="1476077"/>
            <a:ext cx="2010966" cy="399604"/>
          </a:xfrm>
          <a:prstGeom prst="roundRect">
            <a:avLst>
              <a:gd name="adj" fmla="val 14302"/>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9" name="Text 5"/>
          <p:cNvSpPr/>
          <p:nvPr/>
        </p:nvSpPr>
        <p:spPr>
          <a:xfrm>
            <a:off x="507206" y="1529655"/>
            <a:ext cx="1860947" cy="100039"/>
          </a:xfrm>
          <a:prstGeom prst="rect">
            <a:avLst/>
          </a:prstGeom>
          <a:noFill/>
          <a:ln/>
        </p:spPr>
        <p:txBody>
          <a:bodyPr wrap="none" lIns="0" tIns="0" rIns="0" bIns="0" rtlCol="0" anchor="t">
            <a:normAutofit/>
          </a:bodyPr>
          <a:lstStyle/>
          <a:p>
            <a:pPr algn="ctr" indent="0" marL="0">
              <a:lnSpc>
                <a:spcPts val="835"/>
              </a:lnSpc>
              <a:buNone/>
            </a:pPr>
            <a:r>
              <a:rPr lang="en-US" sz="800" spc="68" kern="0" dirty="0">
                <a:solidFill>
                  <a:srgbClr val="7A8498"/>
                </a:solidFill>
                <a:latin typeface="Carlito" pitchFamily="34" charset="0"/>
                <a:ea typeface="Carlito" pitchFamily="34" charset="-122"/>
                <a:cs typeface="Carlito" pitchFamily="34" charset="-120"/>
              </a:rPr>
              <a:t>NÄSTA STEG</a:t>
            </a:r>
            <a:endParaRPr lang="en-US" sz="800" dirty="0"/>
          </a:p>
        </p:txBody>
      </p:sp>
      <p:sp>
        <p:nvSpPr>
          <p:cNvPr id="10" name="Text 6"/>
          <p:cNvSpPr/>
          <p:nvPr/>
        </p:nvSpPr>
        <p:spPr>
          <a:xfrm>
            <a:off x="507206" y="1657127"/>
            <a:ext cx="1860947" cy="164976"/>
          </a:xfrm>
          <a:prstGeom prst="rect">
            <a:avLst/>
          </a:prstGeom>
          <a:noFill/>
          <a:ln/>
        </p:spPr>
        <p:txBody>
          <a:bodyPr wrap="none" lIns="0" tIns="0" rIns="0" bIns="0" rtlCol="0" anchor="t"/>
          <a:lstStyle/>
          <a:p>
            <a:pPr algn="ctr" indent="0" marL="0">
              <a:lnSpc>
                <a:spcPts val="1299"/>
              </a:lnSpc>
              <a:buNone/>
            </a:pPr>
            <a:r>
              <a:rPr lang="en-US" sz="800" b="1" dirty="0">
                <a:solidFill>
                  <a:srgbClr val="D4A832"/>
                </a:solidFill>
                <a:latin typeface="Liberation Sans Narrow" pitchFamily="34" charset="0"/>
                <a:ea typeface="Liberation Sans Narrow" pitchFamily="34" charset="-122"/>
                <a:cs typeface="Liberation Sans Narrow" pitchFamily="34" charset="-120"/>
              </a:rPr>
              <a:t>ak1nvestor.com</a:t>
            </a:r>
            <a:endParaRPr lang="en-US" sz="800" dirty="0"/>
          </a:p>
        </p:txBody>
      </p:sp>
      <p:sp>
        <p:nvSpPr>
          <p:cNvPr id="11" name="Text 7"/>
          <p:cNvSpPr/>
          <p:nvPr/>
        </p:nvSpPr>
        <p:spPr>
          <a:xfrm>
            <a:off x="2521744" y="1476077"/>
            <a:ext cx="2010966" cy="399604"/>
          </a:xfrm>
          <a:prstGeom prst="roundRect">
            <a:avLst>
              <a:gd name="adj" fmla="val 14302"/>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2" name="Text 8"/>
          <p:cNvSpPr/>
          <p:nvPr/>
        </p:nvSpPr>
        <p:spPr>
          <a:xfrm>
            <a:off x="2596753" y="1529655"/>
            <a:ext cx="1860947" cy="100039"/>
          </a:xfrm>
          <a:prstGeom prst="rect">
            <a:avLst/>
          </a:prstGeom>
          <a:noFill/>
          <a:ln/>
        </p:spPr>
        <p:txBody>
          <a:bodyPr wrap="none" lIns="0" tIns="0" rIns="0" bIns="0" rtlCol="0" anchor="t">
            <a:normAutofit/>
          </a:bodyPr>
          <a:lstStyle/>
          <a:p>
            <a:pPr algn="ctr" indent="0" marL="0">
              <a:lnSpc>
                <a:spcPts val="835"/>
              </a:lnSpc>
              <a:buNone/>
            </a:pPr>
            <a:r>
              <a:rPr lang="en-US" sz="800" spc="68" kern="0" dirty="0">
                <a:solidFill>
                  <a:srgbClr val="7A8498"/>
                </a:solidFill>
                <a:latin typeface="Carlito" pitchFamily="34" charset="0"/>
                <a:ea typeface="Carlito" pitchFamily="34" charset="-122"/>
                <a:cs typeface="Carlito" pitchFamily="34" charset="-120"/>
              </a:rPr>
              <a:t>GRUNDARE</a:t>
            </a:r>
            <a:endParaRPr lang="en-US" sz="800" dirty="0"/>
          </a:p>
        </p:txBody>
      </p:sp>
      <p:sp>
        <p:nvSpPr>
          <p:cNvPr id="13" name="Text 9"/>
          <p:cNvSpPr/>
          <p:nvPr/>
        </p:nvSpPr>
        <p:spPr>
          <a:xfrm>
            <a:off x="2596753" y="1657127"/>
            <a:ext cx="1860947" cy="164976"/>
          </a:xfrm>
          <a:prstGeom prst="rect">
            <a:avLst/>
          </a:prstGeom>
          <a:noFill/>
          <a:ln/>
        </p:spPr>
        <p:txBody>
          <a:bodyPr wrap="none" lIns="0" tIns="0" rIns="0" bIns="0" rtlCol="0" anchor="t"/>
          <a:lstStyle/>
          <a:p>
            <a:pPr algn="ctr" indent="0" marL="0">
              <a:lnSpc>
                <a:spcPts val="1299"/>
              </a:lnSpc>
              <a:buNone/>
            </a:pPr>
            <a:r>
              <a:rPr lang="en-US" sz="800" b="1" dirty="0">
                <a:solidFill>
                  <a:srgbClr val="D4A832"/>
                </a:solidFill>
                <a:latin typeface="Courier New" pitchFamily="34" charset="0"/>
                <a:ea typeface="Courier New" pitchFamily="34" charset="-122"/>
                <a:cs typeface="Courier New" pitchFamily="34" charset="-120"/>
              </a:rPr>
              <a:t>Sam Alkamesi</a:t>
            </a:r>
            <a:endParaRPr lang="en-US" sz="800" dirty="0"/>
          </a:p>
        </p:txBody>
      </p:sp>
      <p:sp>
        <p:nvSpPr>
          <p:cNvPr id="14" name="Text 10"/>
          <p:cNvSpPr/>
          <p:nvPr/>
        </p:nvSpPr>
        <p:spPr>
          <a:xfrm>
            <a:off x="4611291" y="1476077"/>
            <a:ext cx="2010966" cy="399604"/>
          </a:xfrm>
          <a:prstGeom prst="roundRect">
            <a:avLst>
              <a:gd name="adj" fmla="val 14302"/>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5" name="Text 11"/>
          <p:cNvSpPr/>
          <p:nvPr/>
        </p:nvSpPr>
        <p:spPr>
          <a:xfrm>
            <a:off x="4686300" y="1529655"/>
            <a:ext cx="1860947" cy="100039"/>
          </a:xfrm>
          <a:prstGeom prst="rect">
            <a:avLst/>
          </a:prstGeom>
          <a:noFill/>
          <a:ln/>
        </p:spPr>
        <p:txBody>
          <a:bodyPr wrap="none" lIns="0" tIns="0" rIns="0" bIns="0" rtlCol="0" anchor="t">
            <a:normAutofit/>
          </a:bodyPr>
          <a:lstStyle/>
          <a:p>
            <a:pPr algn="ctr" indent="0" marL="0">
              <a:lnSpc>
                <a:spcPts val="835"/>
              </a:lnSpc>
              <a:buNone/>
            </a:pPr>
            <a:r>
              <a:rPr lang="en-US" sz="800" spc="68" kern="0" dirty="0">
                <a:solidFill>
                  <a:srgbClr val="7A8498"/>
                </a:solidFill>
                <a:latin typeface="Carlito" pitchFamily="34" charset="0"/>
                <a:ea typeface="Carlito" pitchFamily="34" charset="-122"/>
                <a:cs typeface="Carlito" pitchFamily="34" charset="-120"/>
              </a:rPr>
              <a:t>VARIABLER</a:t>
            </a:r>
            <a:endParaRPr lang="en-US" sz="800" dirty="0"/>
          </a:p>
        </p:txBody>
      </p:sp>
      <p:sp>
        <p:nvSpPr>
          <p:cNvPr id="16" name="Text 12"/>
          <p:cNvSpPr/>
          <p:nvPr/>
        </p:nvSpPr>
        <p:spPr>
          <a:xfrm>
            <a:off x="4686300" y="1657127"/>
            <a:ext cx="1860947" cy="164976"/>
          </a:xfrm>
          <a:prstGeom prst="rect">
            <a:avLst/>
          </a:prstGeom>
          <a:noFill/>
          <a:ln/>
        </p:spPr>
        <p:txBody>
          <a:bodyPr wrap="none" lIns="0" tIns="0" rIns="0" bIns="0" rtlCol="0" anchor="t"/>
          <a:lstStyle/>
          <a:p>
            <a:pPr algn="ctr" indent="0" marL="0">
              <a:lnSpc>
                <a:spcPts val="1299"/>
              </a:lnSpc>
              <a:buNone/>
            </a:pPr>
            <a:r>
              <a:rPr lang="en-US" sz="800" b="1" dirty="0">
                <a:solidFill>
                  <a:srgbClr val="D4A832"/>
                </a:solidFill>
                <a:latin typeface="Liberation Sans Narrow" pitchFamily="34" charset="0"/>
                <a:ea typeface="Liberation Sans Narrow" pitchFamily="34" charset="-122"/>
                <a:cs typeface="Liberation Sans Narrow" pitchFamily="34" charset="-120"/>
              </a:rPr>
              <a:t>19 (18 + 2 bonus)</a:t>
            </a:r>
            <a:endParaRPr lang="en-US" sz="800" dirty="0"/>
          </a:p>
        </p:txBody>
      </p:sp>
      <p:sp>
        <p:nvSpPr>
          <p:cNvPr id="17" name="Text 13"/>
          <p:cNvSpPr/>
          <p:nvPr/>
        </p:nvSpPr>
        <p:spPr>
          <a:xfrm>
            <a:off x="6700838" y="1476077"/>
            <a:ext cx="2010966" cy="399604"/>
          </a:xfrm>
          <a:prstGeom prst="roundRect">
            <a:avLst>
              <a:gd name="adj" fmla="val 14302"/>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8" name="Text 14"/>
          <p:cNvSpPr/>
          <p:nvPr/>
        </p:nvSpPr>
        <p:spPr>
          <a:xfrm>
            <a:off x="6775847" y="1529655"/>
            <a:ext cx="1860947" cy="100039"/>
          </a:xfrm>
          <a:prstGeom prst="rect">
            <a:avLst/>
          </a:prstGeom>
          <a:noFill/>
          <a:ln/>
        </p:spPr>
        <p:txBody>
          <a:bodyPr wrap="none" lIns="0" tIns="0" rIns="0" bIns="0" rtlCol="0" anchor="t">
            <a:normAutofit/>
          </a:bodyPr>
          <a:lstStyle/>
          <a:p>
            <a:pPr algn="ctr" indent="0" marL="0">
              <a:lnSpc>
                <a:spcPts val="835"/>
              </a:lnSpc>
              <a:buNone/>
            </a:pPr>
            <a:r>
              <a:rPr lang="en-US" sz="800" spc="68" kern="0" dirty="0">
                <a:solidFill>
                  <a:srgbClr val="7A8498"/>
                </a:solidFill>
                <a:latin typeface="Carlito" pitchFamily="34" charset="0"/>
                <a:ea typeface="Carlito" pitchFamily="34" charset="-122"/>
                <a:cs typeface="Carlito" pitchFamily="34" charset="-120"/>
              </a:rPr>
              <a:t>FOKUS</a:t>
            </a:r>
            <a:endParaRPr lang="en-US" sz="800" dirty="0"/>
          </a:p>
        </p:txBody>
      </p:sp>
      <p:sp>
        <p:nvSpPr>
          <p:cNvPr id="19" name="Text 15"/>
          <p:cNvSpPr/>
          <p:nvPr/>
        </p:nvSpPr>
        <p:spPr>
          <a:xfrm>
            <a:off x="6775847" y="1657127"/>
            <a:ext cx="1860947" cy="164976"/>
          </a:xfrm>
          <a:prstGeom prst="rect">
            <a:avLst/>
          </a:prstGeom>
          <a:noFill/>
          <a:ln/>
        </p:spPr>
        <p:txBody>
          <a:bodyPr wrap="none" lIns="0" tIns="0" rIns="0" bIns="0" rtlCol="0" anchor="t"/>
          <a:lstStyle/>
          <a:p>
            <a:pPr algn="ctr" indent="0" marL="0">
              <a:lnSpc>
                <a:spcPts val="1299"/>
              </a:lnSpc>
              <a:buNone/>
            </a:pPr>
            <a:r>
              <a:rPr lang="en-US" sz="800" b="1" dirty="0">
                <a:solidFill>
                  <a:srgbClr val="FCA5A5"/>
                </a:solidFill>
                <a:latin typeface="Liberation Sans Narrow" pitchFamily="34" charset="0"/>
                <a:ea typeface="Liberation Sans Narrow" pitchFamily="34" charset="-122"/>
                <a:cs typeface="Liberation Sans Narrow" pitchFamily="34" charset="-120"/>
              </a:rPr>
              <a:t>Variabel 19 ⚠</a:t>
            </a:r>
            <a:endParaRPr lang="en-US" sz="800" dirty="0"/>
          </a:p>
        </p:txBody>
      </p:sp>
      <p:sp>
        <p:nvSpPr>
          <p:cNvPr id="20" name="Text 16"/>
          <p:cNvSpPr/>
          <p:nvPr/>
        </p:nvSpPr>
        <p:spPr>
          <a:xfrm>
            <a:off x="428625" y="1979265"/>
            <a:ext cx="4100513" cy="1692399"/>
          </a:xfrm>
          <a:prstGeom prst="roundRect">
            <a:avLst>
              <a:gd name="adj" fmla="val 3377"/>
            </a:avLst>
          </a:prstGeom>
          <a:solidFill>
            <a:srgbClr val="FFFFFF">
              <a:alpha val="4000"/>
            </a:srgbClr>
          </a:solidFill>
          <a:ln/>
        </p:spPr>
        <p:txBody>
          <a:bodyPr wrap="square" rtlCol="0" anchor="ctr"/>
          <a:lstStyle/>
          <a:p>
            <a:pPr indent="0" marL="0">
              <a:buNone/>
            </a:pPr>
            <a:endParaRPr lang="en-US" dirty="0"/>
          </a:p>
        </p:txBody>
      </p:sp>
      <p:sp>
        <p:nvSpPr>
          <p:cNvPr id="21" name="Shape 17"/>
          <p:cNvSpPr/>
          <p:nvPr/>
        </p:nvSpPr>
        <p:spPr>
          <a:xfrm>
            <a:off x="428625" y="1982837"/>
            <a:ext cx="4100513" cy="0"/>
          </a:xfrm>
          <a:prstGeom prst="line">
            <a:avLst/>
          </a:prstGeom>
          <a:noFill/>
          <a:ln w="7144">
            <a:solidFill>
              <a:srgbClr val="C9A84C"/>
            </a:solidFill>
            <a:prstDash val="solid"/>
          </a:ln>
        </p:spPr>
      </p:sp>
      <p:sp>
        <p:nvSpPr>
          <p:cNvPr id="22" name="Shape 18"/>
          <p:cNvSpPr/>
          <p:nvPr/>
        </p:nvSpPr>
        <p:spPr>
          <a:xfrm>
            <a:off x="4525566" y="1979265"/>
            <a:ext cx="0" cy="1692399"/>
          </a:xfrm>
          <a:prstGeom prst="line">
            <a:avLst/>
          </a:prstGeom>
          <a:noFill/>
          <a:ln w="7144">
            <a:solidFill>
              <a:srgbClr val="C9A84C"/>
            </a:solidFill>
            <a:prstDash val="solid"/>
          </a:ln>
        </p:spPr>
      </p:sp>
      <p:sp>
        <p:nvSpPr>
          <p:cNvPr id="23" name="Shape 19"/>
          <p:cNvSpPr/>
          <p:nvPr/>
        </p:nvSpPr>
        <p:spPr>
          <a:xfrm>
            <a:off x="428625" y="3668092"/>
            <a:ext cx="4100513" cy="0"/>
          </a:xfrm>
          <a:prstGeom prst="line">
            <a:avLst/>
          </a:prstGeom>
          <a:noFill/>
          <a:ln w="7144">
            <a:solidFill>
              <a:srgbClr val="C9A84C"/>
            </a:solidFill>
            <a:prstDash val="solid"/>
          </a:ln>
        </p:spPr>
      </p:sp>
      <p:sp>
        <p:nvSpPr>
          <p:cNvPr id="24" name="Shape 20"/>
          <p:cNvSpPr/>
          <p:nvPr/>
        </p:nvSpPr>
        <p:spPr>
          <a:xfrm>
            <a:off x="439341" y="1979265"/>
            <a:ext cx="0" cy="1692399"/>
          </a:xfrm>
          <a:prstGeom prst="line">
            <a:avLst/>
          </a:prstGeom>
          <a:noFill/>
          <a:ln w="21431">
            <a:solidFill>
              <a:srgbClr val="B8942E"/>
            </a:solidFill>
            <a:prstDash val="solid"/>
          </a:ln>
        </p:spPr>
      </p:sp>
      <p:sp>
        <p:nvSpPr>
          <p:cNvPr id="25" name="Text 21"/>
          <p:cNvSpPr/>
          <p:nvPr/>
        </p:nvSpPr>
        <p:spPr>
          <a:xfrm>
            <a:off x="535781" y="2043559"/>
            <a:ext cx="4010216" cy="137879"/>
          </a:xfrm>
          <a:prstGeom prst="rect">
            <a:avLst/>
          </a:prstGeom>
          <a:noFill/>
          <a:ln/>
        </p:spPr>
        <p:txBody>
          <a:bodyPr wrap="square" lIns="0" tIns="0" rIns="0" bIns="0" rtlCol="0" anchor="t">
            <a:normAutofit/>
          </a:bodyPr>
          <a:lstStyle/>
          <a:p>
            <a:pPr algn="l" indent="0" marL="0">
              <a:lnSpc>
                <a:spcPts val="1021"/>
              </a:lnSpc>
              <a:buNone/>
            </a:pPr>
            <a:r>
              <a:rPr lang="en-US" sz="800" b="1" spc="39" kern="0" dirty="0">
                <a:solidFill>
                  <a:srgbClr val="D4A832"/>
                </a:solidFill>
                <a:latin typeface="Liberation Sans Narrow" pitchFamily="34" charset="0"/>
                <a:ea typeface="Liberation Sans Narrow" pitchFamily="34" charset="-122"/>
                <a:cs typeface="Liberation Sans Narrow" pitchFamily="34" charset="-120"/>
              </a:rPr>
              <a:t>◆ DIN CHECKLISTA — 19 VARIABLER</a:t>
            </a:r>
            <a:endParaRPr lang="en-US" sz="800" dirty="0"/>
          </a:p>
        </p:txBody>
      </p:sp>
      <p:sp>
        <p:nvSpPr>
          <p:cNvPr id="26" name="Text 22"/>
          <p:cNvSpPr/>
          <p:nvPr/>
        </p:nvSpPr>
        <p:spPr>
          <a:xfrm>
            <a:off x="535781" y="2208870"/>
            <a:ext cx="3900488" cy="1482411"/>
          </a:xfrm>
          <a:prstGeom prst="rect">
            <a:avLst/>
          </a:prstGeom>
          <a:noFill/>
          <a:ln/>
        </p:spPr>
        <p:txBody>
          <a:bodyPr wrap="square" lIns="0" tIns="0" rIns="0" bIns="0" rtlCol="0" anchor="t"/>
          <a:lstStyle/>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VÄRDERING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P/S, P/B, EV/EBITDA</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TILLVÄXT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Intäktstillväxt, ARR-tillväxt, Bruttomarginal</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LÖNSAMHET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EBITDA-marginal, FCF/Intäkt, ROE</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STABILITET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Skuldsättningsgrad, Likviditet, Diversifiering</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MOAT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Patent/IP, Switching costs, Nätverkseffekter</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KATALYSATOR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Regulatorisk, Branschtrend, Event-driven</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BONUS 18:</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Utdelning</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BONUS 19: Kapital förbränning ⚠</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Var 19 = första filtret. Om &lt; 3 → UNDVIK direkt.</a:t>
            </a:r>
            <a:endParaRPr lang="en-US" sz="800" dirty="0"/>
          </a:p>
        </p:txBody>
      </p:sp>
      <p:sp>
        <p:nvSpPr>
          <p:cNvPr id="27" name="Text 23"/>
          <p:cNvSpPr/>
          <p:nvPr/>
        </p:nvSpPr>
        <p:spPr>
          <a:xfrm>
            <a:off x="4614863" y="1979265"/>
            <a:ext cx="4100513" cy="1692399"/>
          </a:xfrm>
          <a:prstGeom prst="roundRect">
            <a:avLst>
              <a:gd name="adj" fmla="val 3377"/>
            </a:avLst>
          </a:prstGeom>
          <a:solidFill>
            <a:srgbClr val="FFFFFF">
              <a:alpha val="4000"/>
            </a:srgbClr>
          </a:solidFill>
          <a:ln/>
        </p:spPr>
        <p:txBody>
          <a:bodyPr wrap="square" rtlCol="0" anchor="ctr"/>
          <a:lstStyle/>
          <a:p>
            <a:pPr indent="0" marL="0">
              <a:buNone/>
            </a:pPr>
            <a:endParaRPr lang="en-US" dirty="0"/>
          </a:p>
        </p:txBody>
      </p:sp>
      <p:sp>
        <p:nvSpPr>
          <p:cNvPr id="28" name="Shape 24"/>
          <p:cNvSpPr/>
          <p:nvPr/>
        </p:nvSpPr>
        <p:spPr>
          <a:xfrm>
            <a:off x="4614863" y="1982837"/>
            <a:ext cx="4100513" cy="0"/>
          </a:xfrm>
          <a:prstGeom prst="line">
            <a:avLst/>
          </a:prstGeom>
          <a:noFill/>
          <a:ln w="7144">
            <a:solidFill>
              <a:srgbClr val="C9A84C"/>
            </a:solidFill>
            <a:prstDash val="solid"/>
          </a:ln>
        </p:spPr>
      </p:sp>
      <p:sp>
        <p:nvSpPr>
          <p:cNvPr id="29" name="Shape 25"/>
          <p:cNvSpPr/>
          <p:nvPr/>
        </p:nvSpPr>
        <p:spPr>
          <a:xfrm>
            <a:off x="8711803" y="1979265"/>
            <a:ext cx="0" cy="1692399"/>
          </a:xfrm>
          <a:prstGeom prst="line">
            <a:avLst/>
          </a:prstGeom>
          <a:noFill/>
          <a:ln w="7144">
            <a:solidFill>
              <a:srgbClr val="C9A84C"/>
            </a:solidFill>
            <a:prstDash val="solid"/>
          </a:ln>
        </p:spPr>
      </p:sp>
      <p:sp>
        <p:nvSpPr>
          <p:cNvPr id="30" name="Shape 26"/>
          <p:cNvSpPr/>
          <p:nvPr/>
        </p:nvSpPr>
        <p:spPr>
          <a:xfrm>
            <a:off x="4614863" y="3668092"/>
            <a:ext cx="4100513" cy="0"/>
          </a:xfrm>
          <a:prstGeom prst="line">
            <a:avLst/>
          </a:prstGeom>
          <a:noFill/>
          <a:ln w="7144">
            <a:solidFill>
              <a:srgbClr val="C9A84C"/>
            </a:solidFill>
            <a:prstDash val="solid"/>
          </a:ln>
        </p:spPr>
      </p:sp>
      <p:sp>
        <p:nvSpPr>
          <p:cNvPr id="31" name="Shape 27"/>
          <p:cNvSpPr/>
          <p:nvPr/>
        </p:nvSpPr>
        <p:spPr>
          <a:xfrm>
            <a:off x="4625578" y="1979265"/>
            <a:ext cx="0" cy="1692399"/>
          </a:xfrm>
          <a:prstGeom prst="line">
            <a:avLst/>
          </a:prstGeom>
          <a:noFill/>
          <a:ln w="21431">
            <a:solidFill>
              <a:srgbClr val="B8942E"/>
            </a:solidFill>
            <a:prstDash val="solid"/>
          </a:ln>
        </p:spPr>
      </p:sp>
      <p:sp>
        <p:nvSpPr>
          <p:cNvPr id="32" name="Text 28"/>
          <p:cNvSpPr/>
          <p:nvPr/>
        </p:nvSpPr>
        <p:spPr>
          <a:xfrm>
            <a:off x="4722019" y="2043559"/>
            <a:ext cx="3900488" cy="137879"/>
          </a:xfrm>
          <a:prstGeom prst="rect">
            <a:avLst/>
          </a:prstGeom>
          <a:noFill/>
          <a:ln/>
        </p:spPr>
        <p:txBody>
          <a:bodyPr wrap="none" lIns="0" tIns="0" rIns="0" bIns="0" rtlCol="0" anchor="t">
            <a:normAutofit/>
          </a:bodyPr>
          <a:lstStyle/>
          <a:p>
            <a:pPr algn="l" indent="0" marL="0">
              <a:lnSpc>
                <a:spcPts val="1021"/>
              </a:lnSpc>
              <a:buNone/>
            </a:pPr>
            <a:r>
              <a:rPr lang="en-US" sz="800" b="1" spc="39" kern="0" dirty="0">
                <a:solidFill>
                  <a:srgbClr val="D4A832"/>
                </a:solidFill>
                <a:latin typeface="Carlito" pitchFamily="34" charset="0"/>
                <a:ea typeface="Carlito" pitchFamily="34" charset="-122"/>
                <a:cs typeface="Carlito" pitchFamily="34" charset="-120"/>
              </a:rPr>
              <a:t>◆ SAM ALKAMESIS DIREKTIV</a:t>
            </a:r>
            <a:endParaRPr lang="en-US" sz="800" dirty="0"/>
          </a:p>
        </p:txBody>
      </p:sp>
      <p:sp>
        <p:nvSpPr>
          <p:cNvPr id="33" name="Text 29"/>
          <p:cNvSpPr/>
          <p:nvPr/>
        </p:nvSpPr>
        <p:spPr>
          <a:xfrm>
            <a:off x="4722019" y="2208870"/>
            <a:ext cx="3900488" cy="365586"/>
          </a:xfrm>
          <a:prstGeom prst="rect">
            <a:avLst/>
          </a:prstGeom>
          <a:noFill/>
          <a:ln/>
        </p:spPr>
        <p:txBody>
          <a:bodyPr wrap="square" lIns="0" tIns="0" rIns="0" bIns="0" rtlCol="0" anchor="t">
            <a:normAutofit/>
          </a:bodyPr>
          <a:lstStyle/>
          <a:p>
            <a:pPr algn="l" indent="0" marL="0">
              <a:lnSpc>
                <a:spcPts val="938"/>
              </a:lnSpc>
              <a:buNone/>
            </a:pPr>
            <a:r>
              <a:rPr lang="en-US" sz="800" i="1" dirty="0">
                <a:solidFill>
                  <a:srgbClr val="B8C4D4"/>
                </a:solidFill>
                <a:latin typeface="Carlito" pitchFamily="34" charset="0"/>
                <a:ea typeface="Carlito" pitchFamily="34" charset="-122"/>
                <a:cs typeface="Carlito" pitchFamily="34" charset="-120"/>
              </a:rPr>
              <a:t>"Tre av fyra small-cap-förluster beror på emissioner, inte på dåliga bolag. </a:t>
            </a:r>
            <a:pPr algn="l" indent="0" marL="0">
              <a:lnSpc>
                <a:spcPts val="938"/>
              </a:lnSpc>
              <a:buNone/>
            </a:pPr>
            <a:r>
              <a:rPr lang="en-US" sz="800" b="1" i="1" dirty="0">
                <a:solidFill>
                  <a:srgbClr val="FFFFFF"/>
                </a:solidFill>
                <a:latin typeface="Liberation Sans Narrow" pitchFamily="34" charset="0"/>
                <a:ea typeface="Liberation Sans Narrow" pitchFamily="34" charset="-122"/>
                <a:cs typeface="Liberation Sans Narrow" pitchFamily="34" charset="-120"/>
              </a:rPr>
              <a:t>Variabel 19 = bensinmätaren.</a:t>
            </a:r>
            <a:pPr algn="l" indent="0" marL="0">
              <a:lnSpc>
                <a:spcPts val="938"/>
              </a:lnSpc>
              <a:buNone/>
            </a:pPr>
            <a:r>
              <a:rPr lang="en-US" sz="800" i="1" dirty="0">
                <a:solidFill>
                  <a:srgbClr val="B8C4D4"/>
                </a:solidFill>
                <a:latin typeface="Carlito" pitchFamily="34" charset="0"/>
                <a:ea typeface="Carlito" pitchFamily="34" charset="-122"/>
                <a:cs typeface="Carlito" pitchFamily="34" charset="-120"/>
              </a:rPr>
              <a:t> Du kan ha snabbaste bilen (18 indikatorer bra), men om bensinen tar slut (var 19 dålig) kommer du inte fram."</a:t>
            </a:r>
            <a:endParaRPr lang="en-US" sz="800" dirty="0"/>
          </a:p>
        </p:txBody>
      </p:sp>
      <p:sp>
        <p:nvSpPr>
          <p:cNvPr id="34" name="Text 30"/>
          <p:cNvSpPr/>
          <p:nvPr/>
        </p:nvSpPr>
        <p:spPr>
          <a:xfrm>
            <a:off x="4722019" y="2601888"/>
            <a:ext cx="3900488" cy="706952"/>
          </a:xfrm>
          <a:prstGeom prst="rect">
            <a:avLst/>
          </a:prstGeom>
          <a:noFill/>
          <a:ln/>
        </p:spPr>
        <p:txBody>
          <a:bodyPr wrap="square" lIns="0" tIns="0" rIns="0" bIns="0" rtlCol="0" anchor="t"/>
          <a:lstStyle/>
          <a:p>
            <a:pPr algn="l" marL="342900" indent="-342900">
              <a:lnSpc>
                <a:spcPts val="938"/>
              </a:lnSpc>
              <a:buSzPct val="100000"/>
              <a:buFont typeface="+mj-lt"/>
              <a:buAutoNum type="arabicPeriod" startAt="1"/>
            </a:pPr>
            <a:r>
              <a:rPr lang="en-US" sz="800" dirty="0">
                <a:solidFill>
                  <a:srgbClr val="B8C4D4"/>
                </a:solidFill>
                <a:latin typeface="Liberation Sans Narrow" pitchFamily="34" charset="0"/>
                <a:ea typeface="Liberation Sans Narrow" pitchFamily="34" charset="-122"/>
                <a:cs typeface="Liberation Sans Narrow" pitchFamily="34" charset="-120"/>
              </a:rPr>
              <a:t>Lär dig alla 19 variabler</a:t>
            </a:r>
            <a:endParaRPr lang="en-US" sz="800" dirty="0"/>
          </a:p>
          <a:p>
            <a:pPr algn="l" marL="342900" indent="-342900">
              <a:lnSpc>
                <a:spcPts val="938"/>
              </a:lnSpc>
              <a:buSzPct val="100000"/>
              <a:buFont typeface="+mj-lt"/>
              <a:buAutoNum type="arabicPeriod" startAt="1"/>
            </a:pPr>
            <a:r>
              <a:rPr lang="en-US" sz="800" b="1" dirty="0">
                <a:solidFill>
                  <a:srgbClr val="FFFFFF"/>
                </a:solidFill>
                <a:latin typeface="Liberation Sans Narrow" pitchFamily="34" charset="0"/>
                <a:ea typeface="Liberation Sans Narrow" pitchFamily="34" charset="-122"/>
                <a:cs typeface="Liberation Sans Narrow" pitchFamily="34" charset="-120"/>
              </a:rPr>
              <a:t>ALLTID beräkna var 19 först</a:t>
            </a:r>
            <a:endParaRPr lang="en-US" sz="800" dirty="0"/>
          </a:p>
          <a:p>
            <a:pPr algn="l" marL="342900" indent="-342900">
              <a:lnSpc>
                <a:spcPts val="938"/>
              </a:lnSpc>
              <a:buSzPct val="100000"/>
              <a:buFont typeface="+mj-lt"/>
              <a:buAutoNum type="arabicPeriod" startAt="1"/>
            </a:pPr>
            <a:r>
              <a:rPr lang="en-US" sz="800" dirty="0">
                <a:solidFill>
                  <a:srgbClr val="B8C4D4"/>
                </a:solidFill>
                <a:latin typeface="Liberation Sans Narrow" pitchFamily="34" charset="0"/>
                <a:ea typeface="Liberation Sans Narrow" pitchFamily="34" charset="-122"/>
                <a:cs typeface="Liberation Sans Narrow" pitchFamily="34" charset="-120"/>
              </a:rPr>
              <a:t>Om var 19 &lt; 3 → </a:t>
            </a:r>
            <a:pPr algn="l" indent="0" marL="0">
              <a:lnSpc>
                <a:spcPts val="938"/>
              </a:lnSpc>
              <a:buNone/>
            </a:pPr>
            <a:r>
              <a:rPr lang="en-US" sz="800" b="1" dirty="0">
                <a:solidFill>
                  <a:srgbClr val="FCA5A5"/>
                </a:solidFill>
                <a:latin typeface="Carlito" pitchFamily="34" charset="0"/>
                <a:ea typeface="Carlito" pitchFamily="34" charset="-122"/>
                <a:cs typeface="Carlito" pitchFamily="34" charset="-120"/>
              </a:rPr>
              <a:t>UNDVIK direkt</a:t>
            </a:r>
            <a:endParaRPr lang="en-US" sz="800" dirty="0"/>
          </a:p>
          <a:p>
            <a:pPr algn="l" marL="342900" indent="-342900">
              <a:lnSpc>
                <a:spcPts val="938"/>
              </a:lnSpc>
              <a:buSzPct val="100000"/>
              <a:buFont typeface="+mj-lt"/>
              <a:buAutoNum type="arabicPeriod" startAt="1"/>
            </a:pPr>
            <a:r>
              <a:rPr lang="en-US" sz="800" dirty="0">
                <a:solidFill>
                  <a:srgbClr val="B8C4D4"/>
                </a:solidFill>
                <a:latin typeface="Carlito" pitchFamily="34" charset="0"/>
                <a:ea typeface="Carlito" pitchFamily="34" charset="-122"/>
                <a:cs typeface="Carlito" pitchFamily="34" charset="-120"/>
              </a:rPr>
              <a:t>Om var 19 &gt; 3 → fortsätt med 18 indikatorer</a:t>
            </a:r>
            <a:endParaRPr lang="en-US" sz="800" dirty="0"/>
          </a:p>
          <a:p>
            <a:pPr algn="l" marL="342900" indent="-342900">
              <a:lnSpc>
                <a:spcPts val="938"/>
              </a:lnSpc>
              <a:buSzPct val="100000"/>
              <a:buFont typeface="+mj-lt"/>
              <a:buAutoNum type="arabicPeriod" startAt="1"/>
            </a:pPr>
            <a:r>
              <a:rPr lang="en-US" sz="800" dirty="0">
                <a:solidFill>
                  <a:srgbClr val="B8C4D4"/>
                </a:solidFill>
                <a:latin typeface="Carlito" pitchFamily="34" charset="0"/>
                <a:ea typeface="Carlito" pitchFamily="34" charset="-122"/>
                <a:cs typeface="Carlito" pitchFamily="34" charset="-120"/>
              </a:rPr>
              <a:t>Garanti utan nyemission = din viktigaste uppgift</a:t>
            </a:r>
            <a:endParaRPr lang="en-US" sz="800" dirty="0"/>
          </a:p>
        </p:txBody>
      </p:sp>
      <p:sp>
        <p:nvSpPr>
          <p:cNvPr id="35" name="Text 31"/>
          <p:cNvSpPr/>
          <p:nvPr/>
        </p:nvSpPr>
        <p:spPr>
          <a:xfrm>
            <a:off x="4722019" y="3304542"/>
            <a:ext cx="4010216" cy="120243"/>
          </a:xfrm>
          <a:prstGeom prst="rect">
            <a:avLst/>
          </a:prstGeom>
          <a:noFill/>
          <a:ln/>
        </p:spPr>
        <p:txBody>
          <a:bodyPr wrap="square" lIns="0" tIns="0" rIns="0" bIns="0" rtlCol="0" anchor="t">
            <a:normAutofit/>
          </a:bodyPr>
          <a:lstStyle/>
          <a:p>
            <a:pPr algn="l" indent="0" marL="0">
              <a:lnSpc>
                <a:spcPts val="938"/>
              </a:lnSpc>
              <a:buNone/>
            </a:pPr>
            <a:r>
              <a:rPr lang="en-US" sz="800" i="1" dirty="0">
                <a:solidFill>
                  <a:srgbClr val="B8C4D4"/>
                </a:solidFill>
                <a:latin typeface="Carlito" pitchFamily="34" charset="0"/>
                <a:ea typeface="Carlito" pitchFamily="34" charset="-122"/>
                <a:cs typeface="Carlito" pitchFamily="34" charset="-120"/>
              </a:rPr>
              <a:t>"Exakthet framför hastighet."</a:t>
            </a:r>
            <a:endParaRPr lang="en-US" sz="800" dirty="0"/>
          </a:p>
        </p:txBody>
      </p:sp>
      <p:sp>
        <p:nvSpPr>
          <p:cNvPr id="36" name="Text 32"/>
          <p:cNvSpPr/>
          <p:nvPr/>
        </p:nvSpPr>
        <p:spPr>
          <a:xfrm>
            <a:off x="4722019" y="3452217"/>
            <a:ext cx="3900488" cy="155153"/>
          </a:xfrm>
          <a:prstGeom prst="rect">
            <a:avLst/>
          </a:prstGeom>
          <a:noFill/>
          <a:ln/>
        </p:spPr>
        <p:txBody>
          <a:bodyPr wrap="square" lIns="0" tIns="0" rIns="0" bIns="0" rtlCol="0" anchor="t"/>
          <a:lstStyle/>
          <a:p>
            <a:pPr algn="r" indent="0" marL="0">
              <a:lnSpc>
                <a:spcPts val="1021"/>
              </a:lnSpc>
              <a:buNone/>
            </a:pPr>
            <a:r>
              <a:rPr lang="en-US" sz="800" dirty="0">
                <a:solidFill>
                  <a:srgbClr val="D4A832"/>
                </a:solidFill>
                <a:latin typeface="Liberation Sans Narrow" pitchFamily="34" charset="0"/>
                <a:ea typeface="Liberation Sans Narrow" pitchFamily="34" charset="-122"/>
                <a:cs typeface="Liberation Sans Narrow" pitchFamily="34" charset="-120"/>
              </a:rPr>
              <a:t>— Sam Alkamesi, AK1nvestor</a:t>
            </a:r>
            <a:endParaRPr lang="en-US" sz="800" dirty="0"/>
          </a:p>
        </p:txBody>
      </p:sp>
      <p:sp>
        <p:nvSpPr>
          <p:cNvPr id="37" name="Shape 33"/>
          <p:cNvSpPr/>
          <p:nvPr/>
        </p:nvSpPr>
        <p:spPr>
          <a:xfrm>
            <a:off x="1725216" y="3757389"/>
            <a:ext cx="0" cy="508992"/>
          </a:xfrm>
          <a:prstGeom prst="line">
            <a:avLst/>
          </a:prstGeom>
          <a:noFill/>
          <a:ln w="21431">
            <a:solidFill>
              <a:srgbClr val="B8942E"/>
            </a:solidFill>
            <a:prstDash val="solid"/>
          </a:ln>
        </p:spPr>
      </p:sp>
      <p:sp>
        <p:nvSpPr>
          <p:cNvPr id="38" name="Text 34"/>
          <p:cNvSpPr/>
          <p:nvPr/>
        </p:nvSpPr>
        <p:spPr>
          <a:xfrm>
            <a:off x="1850231" y="3814539"/>
            <a:ext cx="5293072" cy="291201"/>
          </a:xfrm>
          <a:prstGeom prst="rect">
            <a:avLst/>
          </a:prstGeom>
          <a:noFill/>
          <a:ln/>
        </p:spPr>
        <p:txBody>
          <a:bodyPr wrap="square" lIns="114300" tIns="42863" rIns="114300" bIns="42863" rtlCol="0" anchor="t"/>
          <a:lstStyle/>
          <a:p>
            <a:pPr algn="l" indent="0" marL="0">
              <a:lnSpc>
                <a:spcPts val="1097"/>
              </a:lnSpc>
              <a:buNone/>
            </a:pPr>
            <a:r>
              <a:rPr lang="en-US" sz="731" i="1" dirty="0">
                <a:solidFill>
                  <a:srgbClr val="B8C4D4"/>
                </a:solidFill>
                <a:latin typeface="Carlito" pitchFamily="34" charset="0"/>
                <a:ea typeface="Carlito" pitchFamily="34" charset="-122"/>
                <a:cs typeface="Carlito" pitchFamily="34" charset="-120"/>
              </a:rPr>
              <a:t>"Den som tillämpar vad jag berättar och praktiserar under kursens gång på ett seriöst sätt, lär kunna klara av att tjäna 20% per år utan större problem."</a:t>
            </a:r>
            <a:endParaRPr lang="en-US" sz="731" dirty="0"/>
          </a:p>
        </p:txBody>
      </p:sp>
      <p:sp>
        <p:nvSpPr>
          <p:cNvPr id="39" name="Text 35"/>
          <p:cNvSpPr/>
          <p:nvPr/>
        </p:nvSpPr>
        <p:spPr>
          <a:xfrm>
            <a:off x="1850231" y="4100289"/>
            <a:ext cx="5464969" cy="123230"/>
          </a:xfrm>
          <a:prstGeom prst="rect">
            <a:avLst/>
          </a:prstGeom>
          <a:noFill/>
          <a:ln/>
        </p:spPr>
        <p:txBody>
          <a:bodyPr wrap="square" lIns="0" tIns="0" rIns="0" bIns="0" rtlCol="0" anchor="t"/>
          <a:lstStyle/>
          <a:p>
            <a:pPr algn="r" indent="0" marL="0">
              <a:lnSpc>
                <a:spcPts val="970"/>
              </a:lnSpc>
              <a:buNone/>
            </a:pPr>
            <a:r>
              <a:rPr lang="en-US" sz="800" b="1" dirty="0">
                <a:solidFill>
                  <a:srgbClr val="D4A832"/>
                </a:solidFill>
                <a:latin typeface="Liberation Sans Narrow" pitchFamily="34" charset="0"/>
                <a:ea typeface="Liberation Sans Narrow" pitchFamily="34" charset="-122"/>
                <a:cs typeface="Liberation Sans Narrow" pitchFamily="34" charset="-120"/>
              </a:rPr>
              <a:t>— Sam Alkamesi, AK1nvestor</a:t>
            </a:r>
            <a:endParaRPr lang="en-US" sz="800" dirty="0"/>
          </a:p>
        </p:txBody>
      </p:sp>
      <p:sp>
        <p:nvSpPr>
          <p:cNvPr id="40" name="Shape 36"/>
          <p:cNvSpPr/>
          <p:nvPr/>
        </p:nvSpPr>
        <p:spPr>
          <a:xfrm>
            <a:off x="428625" y="4827947"/>
            <a:ext cx="8286750" cy="0"/>
          </a:xfrm>
          <a:prstGeom prst="line">
            <a:avLst/>
          </a:prstGeom>
          <a:noFill/>
          <a:ln w="7144">
            <a:solidFill>
              <a:srgbClr val="C9A84C"/>
            </a:solidFill>
            <a:prstDash val="solid"/>
          </a:ln>
        </p:spPr>
      </p:sp>
      <p:sp>
        <p:nvSpPr>
          <p:cNvPr id="41" name="Text 37"/>
          <p:cNvSpPr/>
          <p:nvPr/>
        </p:nvSpPr>
        <p:spPr>
          <a:xfrm>
            <a:off x="428625" y="4824375"/>
            <a:ext cx="8286750" cy="261867"/>
          </a:xfrm>
          <a:prstGeom prst="rect">
            <a:avLst/>
          </a:prstGeom>
          <a:noFill/>
          <a:ln/>
        </p:spPr>
        <p:txBody>
          <a:bodyPr wrap="square" lIns="0" tIns="42863" rIns="0" bIns="0" rtlCol="0" anchor="t"/>
          <a:lstStyle/>
          <a:p>
            <a:pPr algn="ctr" indent="0" marL="0">
              <a:lnSpc>
                <a:spcPts val="882"/>
              </a:lnSpc>
              <a:buNone/>
            </a:pPr>
            <a:r>
              <a:rPr lang="en-US" sz="800" spc="17" kern="0" dirty="0">
                <a:solidFill>
                  <a:srgbClr val="5A6270"/>
                </a:solidFill>
                <a:latin typeface="Carlito" pitchFamily="34" charset="0"/>
                <a:ea typeface="Carlito" pitchFamily="34" charset="-122"/>
                <a:cs typeface="Carlito" pitchFamily="34" charset="-120"/>
              </a:rPr>
              <a:t>11 juli 2026 · AK1nvestor Nybörjarguide · 19 variabler med fokus på kapital förbränning · Inte investeringsråd · Läs mer på ak1nvestor.com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2026-07-13T00:19:51Z</dcterms:created>
  <dcterms:modified xsi:type="dcterms:W3CDTF">2026-07-13T00:19:51Z</dcterms:modified>
</cp:coreProperties>
</file>